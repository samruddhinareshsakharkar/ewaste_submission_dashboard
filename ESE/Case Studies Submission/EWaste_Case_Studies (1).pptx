
<file path=[Content_Types].xml><?xml version="1.0" encoding="utf-8"?>
<Types xmlns="http://schemas.openxmlformats.org/package/2006/content-types">
  <Default Extension="gif" ContentType="image/gif"/>
  <Default Extension="jpeg" ContentType="image/jpeg"/>
  <Default Extension="jpg" ContentType="image/jpg"/>
  <Default Extension="m4v" ContentType="video/mp4"/>
  <Default Extension="mp4" ContentType="video/mp4"/>
  <Default Extension="png" ContentType="image/png"/>
  <Default Extension="rels" ContentType="application/vnd.openxmlformats-package.relationships+xml"/>
  <Default Extension="svg" ContentType="image/svg+xml"/>
  <Default Extension="vml" ContentType="application/vnd.openxmlformats-officedocument.vmlDrawing"/>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entation.xml" ContentType="application/vnd.openxmlformats-officedocument.presentationml.presentation.main+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ppt/slideLayouts/slideLayout1.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officeDocument" Target="ppt/presentation.xml"/><Relationship Id="rId2" Type="http://schemas.openxmlformats.org/package/2006/relationships/metadata/core-properties" Target="docProps/core.xml"/><Relationship Id="rId1"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customXml" Target="../customXml/item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20"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BACKGROUND: Japan has scarce natural resources and limited landfill space, so waste became a resource-security issue. The Home Appliance Recycling Law (2001) covered air conditioners, TVs, refrigerators/freezers and washing machines/dryers. The Small Home Appliance Recycling Law (2013) extended collection to phones, cameras and other small electronics.
EXECUTIVE SUMMARY: Japan built a legally backed, consumer-pays, retailer-collects and manufacturer-recycles system for e-waste. Combined with strong public participation, it gives high collection and material recovery. The Tokyo 2020 medals made entirely from recycled devices became the showcase of this culture. India can adapt the design, not copy it, because its informal sector is much larger.
STRATEGY: Consumers pay a recycling fee when disposing of large appliances; retailers must take them back. Manufacturers must recycle to legally set recovery-rate targets at approved plants. Manifest (tracking) system follows each appliance from household to recycler. Municipal collection boxes and retail drop-offs for small electronics. Tokyo 2020 'Medal Project': nationwide device collection to make all medals from recovered metal.
CONCLUSION: Japan shows that law, convenience and civic culture together drive recycling. India already has the legal frame (EPR); the gap is collection and enforcement, which Japan's retailer-linked model directly addresses.
Note: figures marked approx. are indicative; verify against latest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BACKGROUND: Take-back began voluntarily in the early 1990s (fridges, then IT equipment). The Ordinance on the Return, Taking Back and Disposal of Electrical and Electronic Equipment (ORDEE) made take-back legally mandatory in 1998. Industry bodies SENS eRecycling, SWICO and SLRS run the system.
EXECUTIVE SUMMARY: Switzerland was among the first countries in the world to run a national e-waste system. It combines an advance recycling fee paid at purchase, free return for consumers and industry-run take-back organisations. It consistently records some of the highest per-capita collection figures globally.
STRATEGY: Advance Recycling Fee (ARF) included in the price of new appliances. Free return of any old device to retailers, manufacturers or collection points. Non-profit producer organisations (SENS, SWICO, SLRS) fund and audit recycling. Certified recyclers with strict technical and environmental standards. Regular audits, plus consumer awareness campaigns.
CONCLUSION: Switzerland proves that a small visible fee plus easy return produces high collection. India's EPR framework can reach similar results only with convenient collection points and independent auditing.
Note: figures marked approx. are indicative; verify against latest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BACKGROUND: India's rules began with the 2011 Rules (in force 2012), then the 2016 Rules that introduced producer responsibility organisations and deposit-refund. Low formal recycling and complaints of weak monitoring led to the 2022 rewrite by MoEFCC.
EXECUTIVE SUMMARY: The E-Waste (Management) Rules, 2022, effective 1 April 2023, replaced the 2016 rules with a digital, certificate-based EPR regime. Producers must meet yearly recycling targets by buying EPR certificates from registered recyclers. The rules widen coverage from 21 to 106 product types.
STRATEGY: Online portal (CPCB) for registration of producers, manufacturers, refurbishers and recyclers. EPR certificates generated only after actual recycling, traded between producers and recyclers. Annual EPR targets rising from about 60% to 80% of the sales-based obligation. Floor prices for EPR certificates and environmental compensation for non-compliance. Schedule expanded to 106 items; refurbishers recognised.
CONCLUSION: The 2022 rules are a major step forward on design. Their success depends on enforcement quality, informal-sector integration and reliable collection infrastructure.
Note: figures marked approx. are indicative; verify against latest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BACKGROUND: EPR under the 2011/2016 rules relied on producer plans and PROs. Formal recyclers' authorised capacity was far higher than the quantity they actually processed, showing that collection, not capacity, is the bottleneck. The 2022 rules moved to tradable certificates.
EXECUTIVE SUMMARY: EPR makes producers responsible for the end-of-life of their products. India has used it since 2012, but reported collection remains well below what is generated. The debate is whether EPR reduces pollution or mainly produces certificates. Evidence suggests real progress in design, but weak verification and dominance of the informal sector limit outcomes.
STRATEGY: Producers register and file EPR plans and annual returns. Producers meet targets through recyclers via PROs or directly. EPR certificates and floor price add market incentive. Regulator checks through CPCB portal, audits and penalties.
CONCLUSION: EPR in India is neither a full success nor pure paper compliance: the framework is sound but implementation lags. Stronger verification and collection are the deciding factors.
Note: figures marked approx. are indicative; verify against latest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BACKGROUND: Karnataka's IT/ITeS industry, start-ups and large bulk consumers (offices, campuses) create heavy e-waste flows. The Karnataka State Pollution Control Board authorises collectors and recyclers. E-Parisara, set up in the mid-2000s near Bengaluru, was one of the early authorised recyclers.
EXECUTIVE SUMMARY: As India's IT hub, Bengaluru generates and processes large volumes of electronics waste and hosts several authorised recyclers. It is often called India's e-waste capital because of technology density. The city shows both the opportunity of formal recycling and the challenge of informal handling.
STRATEGY: Authorisation of dismantlers/recyclers by KSPCB. Bulk-consumer channel: IT firms send end-of-life equipment to authorised recyclers. BBMP dry-waste centres and periodic collection drives for households. Corporate CSR and buy-back schemes.
CONCLUSION: Bengaluru illustrates that technology cities carry the biggest responsibility. Household channels and informal integration are the missing links.
Note: figures marked approx. are indicative; verify against latest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BACKGROUND: Dense markets, corporate offices, ports and consumer electronics demand create a constant flow of used devices. Authorised recyclers operate in the Mumbai region and are regulated by the Maharashtra Pollution Control Board, while informal actors handle much collection and dismantling.
EXECUTIVE SUMMARY: Mumbai, the commercial capital, sits in Maharashtra, one of India's top e-waste generating states. Its ecosystem mixes authorised recyclers, municipal systems and a large informal network of traders and dismantlers. The city offers both scale and lessons about coexistence.
STRATEGY: Authorised collection and recycling under MPCB and E-Waste Rules. Bulk consumers (banks, IT, telecom) use authorised recyclers. MCGM (BMC) collection drives and awareness campaigns. Informal networks of kabadiwalas and repair/resale markets.
CONCLUSION: Mumbai's strength is its scale and existing markets. Turning informal networks into safe, registered collection channels would raise formal recovery quickly.
Note: figures marked approx. are indicative; verify against latest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BACKGROUND: Kerala has high consumption, dense settlements and limited landfill space. CKCL was set up in the late 2000s to create a systematic channel for inorganic waste. Haritha Karma Sena, a women-led workforce, does door-to-door collection.
EXECUTIVE SUMMARY: Clean Kerala Company Limited (CKCL) is a public-sector company under the Local Self-Government Department that manages non-biodegradable waste, including e-waste, by working with local bodies and Haritha Karma Sena (HKS) volunteers. It demonstrates a state-led, decentralised model of collection linked to authorised recyclers.
STRATEGY: Door-to-door collection by Haritha Karma Sena with user fees. Material Collection Facilities (MCFs) at local-body level for sorting. Periodic e-waste collection campaigns handled with authorised recyclers. State-led coordination through LSGD, Suchitwa Mission and CKCL.
CONCLUSION: Kerala shows that state-led decentralised systems can bring e-waste into formal channels. Funding through EPR would make the model sustainable.
Note: figures marked approx. are indicative; verify against latest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BACKGROUND: Founded around 2007-08 with the trade union KKPKP and the PMC, SWaCH gave waste pickers ID cards, fixed routes and user-fee income. It is widely cited as a global example of inclusive waste management.
EXECUTIVE SUMMARY: SWaCH (Solid Waste Collection and Handling) is a wholly owned cooperative of waste pickers in Pune working in partnership with the Pune Municipal Corporation. It integrates informal workers into formal door-to-door collection, and improves dry-waste and e-waste diversion from landfill.
STRATEGY: Waste pickers as cooperative members with ID cards and insurance. Household user fees plus municipal support. Door-to-door segregated collection and doorstep e-waste collection drives. Partnership with authorised recyclers for e-waste.
CONCLUSION: SWaCH proves that formalising, not replacing, waste pickers works. It is a ready template for the informal-sector integration India's e-waste rules need.
Note: figures marked approx. are indicative; verify against latest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BACKGROUND: Dharavi covers roughly two square kilometres and houses on the order of a million residents. Its recycling economy grew organically around Mumbai's waste; commonly cited estimates mention thousands of small units and an annual turnover of around one billion US dollars.
EXECUTIVE SUMMARY: Dharavi in Mumbai is one of Asia's largest informal recycling clusters. Thousands of small units sort, clean, shred and reprocess plastic, metals, paper and electronics, employing a very large workforce. It offers an example of the economic power of the informal sector, and the health and safety costs that come with it.
STRATEGY: Bottom-up value chain from collectors to sorters, shredders and manufacturers. Very high reuse of plastic and metals at low cost. Informal dismantling of electronics and metal recovery. Ongoing redevelopment plans affect the cluster.
CONCLUSION: Dharavi shows both the potential and risk of informal recycling. Regulated integration would preserve jobs while cutting harm.
Note: figures marked approx. are indicative; verify against latest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BACKGROUND: Dell started recycling programmes in the early 2000s and launched Dell Reconnect with Goodwill in 2004. Its 'Legacy of Good' plan sets circular goals for products, packaging and take-back.
EXECUTIVE SUMMARY: Dell uses take-back, closed-loop materials and design changes to keep resources in use. It reuses recycled plastics, gold and carbon fibre in new products and has set 2030 targets for recycled content and packaging. The case shows how producers can deliver EPR beyond compliance.
STRATEGY: Free take-back and mail-back programmes for used electronics. Closed-loop plastics from returned electronics used in new products (from about 2014). Recycled gold recovered from motherboards used in new devices (from about 2017). 2030 goals: recycle or reuse one product for each sold; 100% recycled/renewable packaging; 50%+ recycled/renewable content in products.
CONCLUSION: Dell demonstrates that circularity can be a business strategy. Indian producers can follow with stronger disclosure and design commitments.
Note: figures marked approx. are indicative; verify against latest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3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731520"/>
            <a:ext cx="640080" cy="640080"/>
          </a:xfrm>
          <a:prstGeom prst="rect">
            <a:avLst/>
          </a:prstGeom>
        </p:spPr>
      </p:pic>
      <p:sp>
        <p:nvSpPr>
          <p:cNvPr id="3" name="Text 0"/>
          <p:cNvSpPr txBox="1"/>
          <p:nvPr/>
        </p:nvSpPr>
        <p:spPr>
          <a:xfrm>
            <a:off x="640080" y="1463040"/>
            <a:ext cx="6400800" cy="173736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E-Waste Management</a:t>
            </a:r>
            <a:endParaRPr lang="en-US" sz="4400" dirty="0"/>
          </a:p>
          <a:p>
            <a:pPr indent="0" marL="0">
              <a:buNone/>
            </a:pPr>
            <a:r>
              <a:rPr lang="en-US" sz="4400" b="1" dirty="0">
                <a:solidFill>
                  <a:srgbClr val="FFFFFF"/>
                </a:solidFill>
                <a:latin typeface="Cambria" pitchFamily="34" charset="0"/>
                <a:ea typeface="Cambria" pitchFamily="34" charset="-122"/>
                <a:cs typeface="Cambria" pitchFamily="34" charset="-120"/>
              </a:rPr>
              <a:t>&amp; Circular Economy</a:t>
            </a:r>
            <a:endParaRPr lang="en-US" sz="4400" dirty="0"/>
          </a:p>
        </p:txBody>
      </p:sp>
      <p:sp>
        <p:nvSpPr>
          <p:cNvPr id="4" name="Text 1"/>
          <p:cNvSpPr txBox="1"/>
          <p:nvPr/>
        </p:nvSpPr>
        <p:spPr>
          <a:xfrm>
            <a:off x="640080" y="3291840"/>
            <a:ext cx="6400800" cy="457200"/>
          </a:xfrm>
          <a:prstGeom prst="rect">
            <a:avLst/>
          </a:prstGeom>
          <a:noFill/>
          <a:ln/>
        </p:spPr>
        <p:txBody>
          <a:bodyPr wrap="square" lIns="0" tIns="0" rIns="0" bIns="0" rtlCol="0" anchor="ctr"/>
          <a:lstStyle/>
          <a:p>
            <a:pPr indent="0" marL="0">
              <a:buNone/>
            </a:pPr>
            <a:r>
              <a:rPr lang="en-US" sz="2000" dirty="0">
                <a:solidFill>
                  <a:srgbClr val="3DDC97"/>
                </a:solidFill>
                <a:latin typeface="Calibri" pitchFamily="34" charset="0"/>
                <a:ea typeface="Calibri" pitchFamily="34" charset="-122"/>
                <a:cs typeface="Calibri" pitchFamily="34" charset="-120"/>
              </a:rPr>
              <a:t>Ten case studies for TE students</a:t>
            </a:r>
            <a:endParaRPr lang="en-US" sz="2000" dirty="0"/>
          </a:p>
        </p:txBody>
      </p:sp>
      <p:sp>
        <p:nvSpPr>
          <p:cNvPr id="5" name="Text 2"/>
          <p:cNvSpPr txBox="1"/>
          <p:nvPr/>
        </p:nvSpPr>
        <p:spPr>
          <a:xfrm>
            <a:off x="640080" y="5852160"/>
            <a:ext cx="7315200" cy="365760"/>
          </a:xfrm>
          <a:prstGeom prst="rect">
            <a:avLst/>
          </a:prstGeom>
          <a:noFill/>
          <a:ln/>
        </p:spPr>
        <p:txBody>
          <a:bodyPr wrap="square" lIns="0" tIns="0" rIns="0" bIns="0" rtlCol="0" anchor="ctr"/>
          <a:lstStyle/>
          <a:p>
            <a:pPr indent="0" marL="0">
              <a:buNone/>
            </a:pPr>
            <a:r>
              <a:rPr lang="en-US" sz="1400" dirty="0">
                <a:solidFill>
                  <a:srgbClr val="CFE8E2"/>
                </a:solidFill>
                <a:latin typeface="Calibri" pitchFamily="34" charset="0"/>
                <a:ea typeface="Calibri" pitchFamily="34" charset="-122"/>
                <a:cs typeface="Calibri" pitchFamily="34" charset="-120"/>
              </a:rPr>
              <a:t>Samruddhi Sakharkar  |  TE Computer Engineering (AIML), VIT Mumbai</a:t>
            </a:r>
            <a:endParaRPr lang="en-US" sz="1400" dirty="0"/>
          </a:p>
        </p:txBody>
      </p:sp>
      <p:sp>
        <p:nvSpPr>
          <p:cNvPr id="6" name="Shape 3"/>
          <p:cNvSpPr/>
          <p:nvPr/>
        </p:nvSpPr>
        <p:spPr>
          <a:xfrm>
            <a:off x="7406640" y="731520"/>
            <a:ext cx="2194560" cy="868680"/>
          </a:xfrm>
          <a:prstGeom prst="roundRect">
            <a:avLst>
              <a:gd name="adj" fmla="val 10526"/>
            </a:avLst>
          </a:prstGeom>
          <a:solidFill>
            <a:srgbClr val="14524E"/>
          </a:solidFill>
          <a:ln w="12700">
            <a:solidFill>
              <a:srgbClr val="14524E"/>
            </a:solidFill>
            <a:prstDash val="solid"/>
          </a:ln>
        </p:spPr>
      </p:sp>
      <p:sp>
        <p:nvSpPr>
          <p:cNvPr id="7" name="Text 4"/>
          <p:cNvSpPr txBox="1"/>
          <p:nvPr/>
        </p:nvSpPr>
        <p:spPr>
          <a:xfrm>
            <a:off x="7498080" y="731520"/>
            <a:ext cx="2011680" cy="868680"/>
          </a:xfrm>
          <a:prstGeom prst="rect">
            <a:avLst/>
          </a:prstGeom>
          <a:noFill/>
          <a:ln/>
        </p:spPr>
        <p:txBody>
          <a:bodyPr wrap="square" lIns="0" tIns="0" rIns="0" bIns="0" rtlCol="0" anchor="ctr"/>
          <a:lstStyle/>
          <a:p>
            <a:pPr indent="0" marL="0">
              <a:buNone/>
            </a:pPr>
            <a:r>
              <a:rPr lang="en-US" sz="1300" b="1" dirty="0">
                <a:solidFill>
                  <a:srgbClr val="3DDC97"/>
                </a:solidFill>
                <a:latin typeface="Calibri" pitchFamily="34" charset="0"/>
                <a:ea typeface="Calibri" pitchFamily="34" charset="-122"/>
                <a:cs typeface="Calibri" pitchFamily="34" charset="-120"/>
              </a:rPr>
              <a:t>01  </a:t>
            </a:r>
            <a:pPr indent="0" marL="0">
              <a:buNone/>
            </a:pPr>
            <a:r>
              <a:rPr lang="en-US" sz="1300" dirty="0">
                <a:solidFill>
                  <a:srgbClr val="FFFFFF"/>
                </a:solidFill>
                <a:latin typeface="Calibri" pitchFamily="34" charset="0"/>
                <a:ea typeface="Calibri" pitchFamily="34" charset="-122"/>
                <a:cs typeface="Calibri" pitchFamily="34" charset="-120"/>
              </a:rPr>
              <a:t>Japan</a:t>
            </a:r>
            <a:endParaRPr lang="en-US" sz="1300" dirty="0"/>
          </a:p>
        </p:txBody>
      </p:sp>
      <p:sp>
        <p:nvSpPr>
          <p:cNvPr id="8" name="Shape 5"/>
          <p:cNvSpPr/>
          <p:nvPr/>
        </p:nvSpPr>
        <p:spPr>
          <a:xfrm>
            <a:off x="7406640" y="1737360"/>
            <a:ext cx="2194560" cy="868680"/>
          </a:xfrm>
          <a:prstGeom prst="roundRect">
            <a:avLst>
              <a:gd name="adj" fmla="val 10526"/>
            </a:avLst>
          </a:prstGeom>
          <a:solidFill>
            <a:srgbClr val="14524E"/>
          </a:solidFill>
          <a:ln w="12700">
            <a:solidFill>
              <a:srgbClr val="14524E"/>
            </a:solidFill>
            <a:prstDash val="solid"/>
          </a:ln>
        </p:spPr>
      </p:sp>
      <p:sp>
        <p:nvSpPr>
          <p:cNvPr id="9" name="Text 6"/>
          <p:cNvSpPr txBox="1"/>
          <p:nvPr/>
        </p:nvSpPr>
        <p:spPr>
          <a:xfrm>
            <a:off x="7498080" y="1737360"/>
            <a:ext cx="2011680" cy="868680"/>
          </a:xfrm>
          <a:prstGeom prst="rect">
            <a:avLst/>
          </a:prstGeom>
          <a:noFill/>
          <a:ln/>
        </p:spPr>
        <p:txBody>
          <a:bodyPr wrap="square" lIns="0" tIns="0" rIns="0" bIns="0" rtlCol="0" anchor="ctr"/>
          <a:lstStyle/>
          <a:p>
            <a:pPr indent="0" marL="0">
              <a:buNone/>
            </a:pPr>
            <a:r>
              <a:rPr lang="en-US" sz="1300" b="1" dirty="0">
                <a:solidFill>
                  <a:srgbClr val="3DDC97"/>
                </a:solidFill>
                <a:latin typeface="Calibri" pitchFamily="34" charset="0"/>
                <a:ea typeface="Calibri" pitchFamily="34" charset="-122"/>
                <a:cs typeface="Calibri" pitchFamily="34" charset="-120"/>
              </a:rPr>
              <a:t>02  </a:t>
            </a:r>
            <a:pPr indent="0" marL="0">
              <a:buNone/>
            </a:pPr>
            <a:r>
              <a:rPr lang="en-US" sz="1300" dirty="0">
                <a:solidFill>
                  <a:srgbClr val="FFFFFF"/>
                </a:solidFill>
                <a:latin typeface="Calibri" pitchFamily="34" charset="0"/>
                <a:ea typeface="Calibri" pitchFamily="34" charset="-122"/>
                <a:cs typeface="Calibri" pitchFamily="34" charset="-120"/>
              </a:rPr>
              <a:t>Switzerland</a:t>
            </a:r>
            <a:endParaRPr lang="en-US" sz="1300" dirty="0"/>
          </a:p>
        </p:txBody>
      </p:sp>
      <p:sp>
        <p:nvSpPr>
          <p:cNvPr id="10" name="Shape 7"/>
          <p:cNvSpPr/>
          <p:nvPr/>
        </p:nvSpPr>
        <p:spPr>
          <a:xfrm>
            <a:off x="7406640" y="2743200"/>
            <a:ext cx="2194560" cy="868680"/>
          </a:xfrm>
          <a:prstGeom prst="roundRect">
            <a:avLst>
              <a:gd name="adj" fmla="val 10526"/>
            </a:avLst>
          </a:prstGeom>
          <a:solidFill>
            <a:srgbClr val="14524E"/>
          </a:solidFill>
          <a:ln w="12700">
            <a:solidFill>
              <a:srgbClr val="14524E"/>
            </a:solidFill>
            <a:prstDash val="solid"/>
          </a:ln>
        </p:spPr>
      </p:sp>
      <p:sp>
        <p:nvSpPr>
          <p:cNvPr id="11" name="Text 8"/>
          <p:cNvSpPr txBox="1"/>
          <p:nvPr/>
        </p:nvSpPr>
        <p:spPr>
          <a:xfrm>
            <a:off x="7498080" y="2743200"/>
            <a:ext cx="2011680" cy="868680"/>
          </a:xfrm>
          <a:prstGeom prst="rect">
            <a:avLst/>
          </a:prstGeom>
          <a:noFill/>
          <a:ln/>
        </p:spPr>
        <p:txBody>
          <a:bodyPr wrap="square" lIns="0" tIns="0" rIns="0" bIns="0" rtlCol="0" anchor="ctr"/>
          <a:lstStyle/>
          <a:p>
            <a:pPr indent="0" marL="0">
              <a:buNone/>
            </a:pPr>
            <a:r>
              <a:rPr lang="en-US" sz="1300" b="1" dirty="0">
                <a:solidFill>
                  <a:srgbClr val="3DDC97"/>
                </a:solidFill>
                <a:latin typeface="Calibri" pitchFamily="34" charset="0"/>
                <a:ea typeface="Calibri" pitchFamily="34" charset="-122"/>
                <a:cs typeface="Calibri" pitchFamily="34" charset="-120"/>
              </a:rPr>
              <a:t>03  </a:t>
            </a:r>
            <a:pPr indent="0" marL="0">
              <a:buNone/>
            </a:pPr>
            <a:r>
              <a:rPr lang="en-US" sz="1300" dirty="0">
                <a:solidFill>
                  <a:srgbClr val="FFFFFF"/>
                </a:solidFill>
                <a:latin typeface="Calibri" pitchFamily="34" charset="0"/>
                <a:ea typeface="Calibri" pitchFamily="34" charset="-122"/>
                <a:cs typeface="Calibri" pitchFamily="34" charset="-120"/>
              </a:rPr>
              <a:t>E-Waste Rules 2022</a:t>
            </a:r>
            <a:endParaRPr lang="en-US" sz="1300" dirty="0"/>
          </a:p>
        </p:txBody>
      </p:sp>
      <p:sp>
        <p:nvSpPr>
          <p:cNvPr id="12" name="Shape 9"/>
          <p:cNvSpPr/>
          <p:nvPr/>
        </p:nvSpPr>
        <p:spPr>
          <a:xfrm>
            <a:off x="7406640" y="3749040"/>
            <a:ext cx="2194560" cy="868680"/>
          </a:xfrm>
          <a:prstGeom prst="roundRect">
            <a:avLst>
              <a:gd name="adj" fmla="val 10526"/>
            </a:avLst>
          </a:prstGeom>
          <a:solidFill>
            <a:srgbClr val="14524E"/>
          </a:solidFill>
          <a:ln w="12700">
            <a:solidFill>
              <a:srgbClr val="14524E"/>
            </a:solidFill>
            <a:prstDash val="solid"/>
          </a:ln>
        </p:spPr>
      </p:sp>
      <p:sp>
        <p:nvSpPr>
          <p:cNvPr id="13" name="Text 10"/>
          <p:cNvSpPr txBox="1"/>
          <p:nvPr/>
        </p:nvSpPr>
        <p:spPr>
          <a:xfrm>
            <a:off x="7498080" y="3749040"/>
            <a:ext cx="2011680" cy="868680"/>
          </a:xfrm>
          <a:prstGeom prst="rect">
            <a:avLst/>
          </a:prstGeom>
          <a:noFill/>
          <a:ln/>
        </p:spPr>
        <p:txBody>
          <a:bodyPr wrap="square" lIns="0" tIns="0" rIns="0" bIns="0" rtlCol="0" anchor="ctr"/>
          <a:lstStyle/>
          <a:p>
            <a:pPr indent="0" marL="0">
              <a:buNone/>
            </a:pPr>
            <a:r>
              <a:rPr lang="en-US" sz="1300" b="1" dirty="0">
                <a:solidFill>
                  <a:srgbClr val="3DDC97"/>
                </a:solidFill>
                <a:latin typeface="Calibri" pitchFamily="34" charset="0"/>
                <a:ea typeface="Calibri" pitchFamily="34" charset="-122"/>
                <a:cs typeface="Calibri" pitchFamily="34" charset="-120"/>
              </a:rPr>
              <a:t>04  </a:t>
            </a:r>
            <a:pPr indent="0" marL="0">
              <a:buNone/>
            </a:pPr>
            <a:r>
              <a:rPr lang="en-US" sz="1300" dirty="0">
                <a:solidFill>
                  <a:srgbClr val="FFFFFF"/>
                </a:solidFill>
                <a:latin typeface="Calibri" pitchFamily="34" charset="0"/>
                <a:ea typeface="Calibri" pitchFamily="34" charset="-122"/>
                <a:cs typeface="Calibri" pitchFamily="34" charset="-120"/>
              </a:rPr>
              <a:t>EPR in India</a:t>
            </a:r>
            <a:endParaRPr lang="en-US" sz="1300" dirty="0"/>
          </a:p>
        </p:txBody>
      </p:sp>
      <p:sp>
        <p:nvSpPr>
          <p:cNvPr id="14" name="Shape 11"/>
          <p:cNvSpPr/>
          <p:nvPr/>
        </p:nvSpPr>
        <p:spPr>
          <a:xfrm>
            <a:off x="7406640" y="4754880"/>
            <a:ext cx="2194560" cy="868680"/>
          </a:xfrm>
          <a:prstGeom prst="roundRect">
            <a:avLst>
              <a:gd name="adj" fmla="val 10526"/>
            </a:avLst>
          </a:prstGeom>
          <a:solidFill>
            <a:srgbClr val="14524E"/>
          </a:solidFill>
          <a:ln w="12700">
            <a:solidFill>
              <a:srgbClr val="14524E"/>
            </a:solidFill>
            <a:prstDash val="solid"/>
          </a:ln>
        </p:spPr>
      </p:sp>
      <p:sp>
        <p:nvSpPr>
          <p:cNvPr id="15" name="Text 12"/>
          <p:cNvSpPr txBox="1"/>
          <p:nvPr/>
        </p:nvSpPr>
        <p:spPr>
          <a:xfrm>
            <a:off x="7498080" y="4754880"/>
            <a:ext cx="2011680" cy="868680"/>
          </a:xfrm>
          <a:prstGeom prst="rect">
            <a:avLst/>
          </a:prstGeom>
          <a:noFill/>
          <a:ln/>
        </p:spPr>
        <p:txBody>
          <a:bodyPr wrap="square" lIns="0" tIns="0" rIns="0" bIns="0" rtlCol="0" anchor="ctr"/>
          <a:lstStyle/>
          <a:p>
            <a:pPr indent="0" marL="0">
              <a:buNone/>
            </a:pPr>
            <a:r>
              <a:rPr lang="en-US" sz="1300" b="1" dirty="0">
                <a:solidFill>
                  <a:srgbClr val="3DDC97"/>
                </a:solidFill>
                <a:latin typeface="Calibri" pitchFamily="34" charset="0"/>
                <a:ea typeface="Calibri" pitchFamily="34" charset="-122"/>
                <a:cs typeface="Calibri" pitchFamily="34" charset="-120"/>
              </a:rPr>
              <a:t>05  </a:t>
            </a:r>
            <a:pPr indent="0" marL="0">
              <a:buNone/>
            </a:pPr>
            <a:r>
              <a:rPr lang="en-US" sz="1300" dirty="0">
                <a:solidFill>
                  <a:srgbClr val="FFFFFF"/>
                </a:solidFill>
                <a:latin typeface="Calibri" pitchFamily="34" charset="0"/>
                <a:ea typeface="Calibri" pitchFamily="34" charset="-122"/>
                <a:cs typeface="Calibri" pitchFamily="34" charset="-120"/>
              </a:rPr>
              <a:t>Bengaluru</a:t>
            </a:r>
            <a:endParaRPr lang="en-US" sz="1300" dirty="0"/>
          </a:p>
        </p:txBody>
      </p:sp>
      <p:sp>
        <p:nvSpPr>
          <p:cNvPr id="16" name="Shape 13"/>
          <p:cNvSpPr/>
          <p:nvPr/>
        </p:nvSpPr>
        <p:spPr>
          <a:xfrm>
            <a:off x="9738360" y="731520"/>
            <a:ext cx="2194560" cy="868680"/>
          </a:xfrm>
          <a:prstGeom prst="roundRect">
            <a:avLst>
              <a:gd name="adj" fmla="val 10526"/>
            </a:avLst>
          </a:prstGeom>
          <a:solidFill>
            <a:srgbClr val="14524E"/>
          </a:solidFill>
          <a:ln w="12700">
            <a:solidFill>
              <a:srgbClr val="14524E"/>
            </a:solidFill>
            <a:prstDash val="solid"/>
          </a:ln>
        </p:spPr>
      </p:sp>
      <p:sp>
        <p:nvSpPr>
          <p:cNvPr id="17" name="Text 14"/>
          <p:cNvSpPr txBox="1"/>
          <p:nvPr/>
        </p:nvSpPr>
        <p:spPr>
          <a:xfrm>
            <a:off x="9829800" y="731520"/>
            <a:ext cx="2011680" cy="868680"/>
          </a:xfrm>
          <a:prstGeom prst="rect">
            <a:avLst/>
          </a:prstGeom>
          <a:noFill/>
          <a:ln/>
        </p:spPr>
        <p:txBody>
          <a:bodyPr wrap="square" lIns="0" tIns="0" rIns="0" bIns="0" rtlCol="0" anchor="ctr"/>
          <a:lstStyle/>
          <a:p>
            <a:pPr indent="0" marL="0">
              <a:buNone/>
            </a:pPr>
            <a:r>
              <a:rPr lang="en-US" sz="1300" b="1" dirty="0">
                <a:solidFill>
                  <a:srgbClr val="3DDC97"/>
                </a:solidFill>
                <a:latin typeface="Calibri" pitchFamily="34" charset="0"/>
                <a:ea typeface="Calibri" pitchFamily="34" charset="-122"/>
                <a:cs typeface="Calibri" pitchFamily="34" charset="-120"/>
              </a:rPr>
              <a:t>06  </a:t>
            </a:r>
            <a:pPr indent="0" marL="0">
              <a:buNone/>
            </a:pPr>
            <a:r>
              <a:rPr lang="en-US" sz="1300" dirty="0">
                <a:solidFill>
                  <a:srgbClr val="FFFFFF"/>
                </a:solidFill>
                <a:latin typeface="Calibri" pitchFamily="34" charset="0"/>
                <a:ea typeface="Calibri" pitchFamily="34" charset="-122"/>
                <a:cs typeface="Calibri" pitchFamily="34" charset="-120"/>
              </a:rPr>
              <a:t>Mumbai</a:t>
            </a:r>
            <a:endParaRPr lang="en-US" sz="1300" dirty="0"/>
          </a:p>
        </p:txBody>
      </p:sp>
      <p:sp>
        <p:nvSpPr>
          <p:cNvPr id="18" name="Shape 15"/>
          <p:cNvSpPr/>
          <p:nvPr/>
        </p:nvSpPr>
        <p:spPr>
          <a:xfrm>
            <a:off x="9738360" y="1737360"/>
            <a:ext cx="2194560" cy="868680"/>
          </a:xfrm>
          <a:prstGeom prst="roundRect">
            <a:avLst>
              <a:gd name="adj" fmla="val 10526"/>
            </a:avLst>
          </a:prstGeom>
          <a:solidFill>
            <a:srgbClr val="14524E"/>
          </a:solidFill>
          <a:ln w="12700">
            <a:solidFill>
              <a:srgbClr val="14524E"/>
            </a:solidFill>
            <a:prstDash val="solid"/>
          </a:ln>
        </p:spPr>
      </p:sp>
      <p:sp>
        <p:nvSpPr>
          <p:cNvPr id="19" name="Text 16"/>
          <p:cNvSpPr txBox="1"/>
          <p:nvPr/>
        </p:nvSpPr>
        <p:spPr>
          <a:xfrm>
            <a:off x="9829800" y="1737360"/>
            <a:ext cx="2011680" cy="868680"/>
          </a:xfrm>
          <a:prstGeom prst="rect">
            <a:avLst/>
          </a:prstGeom>
          <a:noFill/>
          <a:ln/>
        </p:spPr>
        <p:txBody>
          <a:bodyPr wrap="square" lIns="0" tIns="0" rIns="0" bIns="0" rtlCol="0" anchor="ctr"/>
          <a:lstStyle/>
          <a:p>
            <a:pPr indent="0" marL="0">
              <a:buNone/>
            </a:pPr>
            <a:r>
              <a:rPr lang="en-US" sz="1300" b="1" dirty="0">
                <a:solidFill>
                  <a:srgbClr val="3DDC97"/>
                </a:solidFill>
                <a:latin typeface="Calibri" pitchFamily="34" charset="0"/>
                <a:ea typeface="Calibri" pitchFamily="34" charset="-122"/>
                <a:cs typeface="Calibri" pitchFamily="34" charset="-120"/>
              </a:rPr>
              <a:t>07  </a:t>
            </a:r>
            <a:pPr indent="0" marL="0">
              <a:buNone/>
            </a:pPr>
            <a:r>
              <a:rPr lang="en-US" sz="1300" dirty="0">
                <a:solidFill>
                  <a:srgbClr val="FFFFFF"/>
                </a:solidFill>
                <a:latin typeface="Calibri" pitchFamily="34" charset="0"/>
                <a:ea typeface="Calibri" pitchFamily="34" charset="-122"/>
                <a:cs typeface="Calibri" pitchFamily="34" charset="-120"/>
              </a:rPr>
              <a:t>Clean Kerala</a:t>
            </a:r>
            <a:endParaRPr lang="en-US" sz="1300" dirty="0"/>
          </a:p>
        </p:txBody>
      </p:sp>
      <p:sp>
        <p:nvSpPr>
          <p:cNvPr id="20" name="Shape 17"/>
          <p:cNvSpPr/>
          <p:nvPr/>
        </p:nvSpPr>
        <p:spPr>
          <a:xfrm>
            <a:off x="9738360" y="2743200"/>
            <a:ext cx="2194560" cy="868680"/>
          </a:xfrm>
          <a:prstGeom prst="roundRect">
            <a:avLst>
              <a:gd name="adj" fmla="val 10526"/>
            </a:avLst>
          </a:prstGeom>
          <a:solidFill>
            <a:srgbClr val="14524E"/>
          </a:solidFill>
          <a:ln w="12700">
            <a:solidFill>
              <a:srgbClr val="14524E"/>
            </a:solidFill>
            <a:prstDash val="solid"/>
          </a:ln>
        </p:spPr>
      </p:sp>
      <p:sp>
        <p:nvSpPr>
          <p:cNvPr id="21" name="Text 18"/>
          <p:cNvSpPr txBox="1"/>
          <p:nvPr/>
        </p:nvSpPr>
        <p:spPr>
          <a:xfrm>
            <a:off x="9829800" y="2743200"/>
            <a:ext cx="2011680" cy="868680"/>
          </a:xfrm>
          <a:prstGeom prst="rect">
            <a:avLst/>
          </a:prstGeom>
          <a:noFill/>
          <a:ln/>
        </p:spPr>
        <p:txBody>
          <a:bodyPr wrap="square" lIns="0" tIns="0" rIns="0" bIns="0" rtlCol="0" anchor="ctr"/>
          <a:lstStyle/>
          <a:p>
            <a:pPr indent="0" marL="0">
              <a:buNone/>
            </a:pPr>
            <a:r>
              <a:rPr lang="en-US" sz="1300" b="1" dirty="0">
                <a:solidFill>
                  <a:srgbClr val="3DDC97"/>
                </a:solidFill>
                <a:latin typeface="Calibri" pitchFamily="34" charset="0"/>
                <a:ea typeface="Calibri" pitchFamily="34" charset="-122"/>
                <a:cs typeface="Calibri" pitchFamily="34" charset="-120"/>
              </a:rPr>
              <a:t>08  </a:t>
            </a:r>
            <a:pPr indent="0" marL="0">
              <a:buNone/>
            </a:pPr>
            <a:r>
              <a:rPr lang="en-US" sz="1300" dirty="0">
                <a:solidFill>
                  <a:srgbClr val="FFFFFF"/>
                </a:solidFill>
                <a:latin typeface="Calibri" pitchFamily="34" charset="0"/>
                <a:ea typeface="Calibri" pitchFamily="34" charset="-122"/>
                <a:cs typeface="Calibri" pitchFamily="34" charset="-120"/>
              </a:rPr>
              <a:t>Pune SWaCH</a:t>
            </a:r>
            <a:endParaRPr lang="en-US" sz="1300" dirty="0"/>
          </a:p>
        </p:txBody>
      </p:sp>
      <p:sp>
        <p:nvSpPr>
          <p:cNvPr id="22" name="Shape 19"/>
          <p:cNvSpPr/>
          <p:nvPr/>
        </p:nvSpPr>
        <p:spPr>
          <a:xfrm>
            <a:off x="9738360" y="3749040"/>
            <a:ext cx="2194560" cy="868680"/>
          </a:xfrm>
          <a:prstGeom prst="roundRect">
            <a:avLst>
              <a:gd name="adj" fmla="val 10526"/>
            </a:avLst>
          </a:prstGeom>
          <a:solidFill>
            <a:srgbClr val="14524E"/>
          </a:solidFill>
          <a:ln w="12700">
            <a:solidFill>
              <a:srgbClr val="14524E"/>
            </a:solidFill>
            <a:prstDash val="solid"/>
          </a:ln>
        </p:spPr>
      </p:sp>
      <p:sp>
        <p:nvSpPr>
          <p:cNvPr id="23" name="Text 20"/>
          <p:cNvSpPr txBox="1"/>
          <p:nvPr/>
        </p:nvSpPr>
        <p:spPr>
          <a:xfrm>
            <a:off x="9829800" y="3749040"/>
            <a:ext cx="2011680" cy="868680"/>
          </a:xfrm>
          <a:prstGeom prst="rect">
            <a:avLst/>
          </a:prstGeom>
          <a:noFill/>
          <a:ln/>
        </p:spPr>
        <p:txBody>
          <a:bodyPr wrap="square" lIns="0" tIns="0" rIns="0" bIns="0" rtlCol="0" anchor="ctr"/>
          <a:lstStyle/>
          <a:p>
            <a:pPr indent="0" marL="0">
              <a:buNone/>
            </a:pPr>
            <a:r>
              <a:rPr lang="en-US" sz="1300" b="1" dirty="0">
                <a:solidFill>
                  <a:srgbClr val="3DDC97"/>
                </a:solidFill>
                <a:latin typeface="Calibri" pitchFamily="34" charset="0"/>
                <a:ea typeface="Calibri" pitchFamily="34" charset="-122"/>
                <a:cs typeface="Calibri" pitchFamily="34" charset="-120"/>
              </a:rPr>
              <a:t>09  </a:t>
            </a:r>
            <a:pPr indent="0" marL="0">
              <a:buNone/>
            </a:pPr>
            <a:r>
              <a:rPr lang="en-US" sz="1300" dirty="0">
                <a:solidFill>
                  <a:srgbClr val="FFFFFF"/>
                </a:solidFill>
                <a:latin typeface="Calibri" pitchFamily="34" charset="0"/>
                <a:ea typeface="Calibri" pitchFamily="34" charset="-122"/>
                <a:cs typeface="Calibri" pitchFamily="34" charset="-120"/>
              </a:rPr>
              <a:t>Dharavi</a:t>
            </a:r>
            <a:endParaRPr lang="en-US" sz="1300" dirty="0"/>
          </a:p>
        </p:txBody>
      </p:sp>
      <p:sp>
        <p:nvSpPr>
          <p:cNvPr id="24" name="Shape 21"/>
          <p:cNvSpPr/>
          <p:nvPr/>
        </p:nvSpPr>
        <p:spPr>
          <a:xfrm>
            <a:off x="9738360" y="4754880"/>
            <a:ext cx="2194560" cy="868680"/>
          </a:xfrm>
          <a:prstGeom prst="roundRect">
            <a:avLst>
              <a:gd name="adj" fmla="val 10526"/>
            </a:avLst>
          </a:prstGeom>
          <a:solidFill>
            <a:srgbClr val="14524E"/>
          </a:solidFill>
          <a:ln w="12700">
            <a:solidFill>
              <a:srgbClr val="14524E"/>
            </a:solidFill>
            <a:prstDash val="solid"/>
          </a:ln>
        </p:spPr>
      </p:sp>
      <p:sp>
        <p:nvSpPr>
          <p:cNvPr id="25" name="Text 22"/>
          <p:cNvSpPr txBox="1"/>
          <p:nvPr/>
        </p:nvSpPr>
        <p:spPr>
          <a:xfrm>
            <a:off x="9829800" y="4754880"/>
            <a:ext cx="2011680" cy="868680"/>
          </a:xfrm>
          <a:prstGeom prst="rect">
            <a:avLst/>
          </a:prstGeom>
          <a:noFill/>
          <a:ln/>
        </p:spPr>
        <p:txBody>
          <a:bodyPr wrap="square" lIns="0" tIns="0" rIns="0" bIns="0" rtlCol="0" anchor="ctr"/>
          <a:lstStyle/>
          <a:p>
            <a:pPr indent="0" marL="0">
              <a:buNone/>
            </a:pPr>
            <a:r>
              <a:rPr lang="en-US" sz="1300" b="1" dirty="0">
                <a:solidFill>
                  <a:srgbClr val="3DDC97"/>
                </a:solidFill>
                <a:latin typeface="Calibri" pitchFamily="34" charset="0"/>
                <a:ea typeface="Calibri" pitchFamily="34" charset="-122"/>
                <a:cs typeface="Calibri" pitchFamily="34" charset="-120"/>
              </a:rPr>
              <a:t>10  </a:t>
            </a:r>
            <a:pPr indent="0" marL="0">
              <a:buNone/>
            </a:pPr>
            <a:r>
              <a:rPr lang="en-US" sz="1300" dirty="0">
                <a:solidFill>
                  <a:srgbClr val="FFFFFF"/>
                </a:solidFill>
                <a:latin typeface="Calibri" pitchFamily="34" charset="0"/>
                <a:ea typeface="Calibri" pitchFamily="34" charset="-122"/>
                <a:cs typeface="Calibri" pitchFamily="34" charset="-120"/>
              </a:rPr>
              <a:t>Dell</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7F5"/>
        </a:solidFill>
      </p:bgPr>
    </p:bg>
    <p:spTree>
      <p:nvGrpSpPr>
        <p:cNvPr id="1" name=""/>
        <p:cNvGrpSpPr/>
        <p:nvPr/>
      </p:nvGrpSpPr>
      <p:grpSpPr>
        <a:xfrm>
          <a:off x="0" y="0"/>
          <a:ext cx="0" cy="0"/>
          <a:chOff x="0" y="0"/>
          <a:chExt cx="0" cy="0"/>
        </a:xfrm>
      </p:grpSpPr>
      <p:sp>
        <p:nvSpPr>
          <p:cNvPr id="2" name="Shape 0"/>
          <p:cNvSpPr/>
          <p:nvPr/>
        </p:nvSpPr>
        <p:spPr>
          <a:xfrm>
            <a:off x="365760" y="274320"/>
            <a:ext cx="685800" cy="685800"/>
          </a:xfrm>
          <a:prstGeom prst="ellipse">
            <a:avLst/>
          </a:prstGeom>
          <a:solidFill>
            <a:srgbClr val="0B3D3A"/>
          </a:solidFill>
          <a:ln w="12700">
            <a:solidFill>
              <a:srgbClr val="0B3D3A"/>
            </a:solidFill>
            <a:prstDash val="solid"/>
          </a:ln>
        </p:spPr>
      </p:sp>
      <p:sp>
        <p:nvSpPr>
          <p:cNvPr id="3" name="Text 1"/>
          <p:cNvSpPr txBox="1"/>
          <p:nvPr/>
        </p:nvSpPr>
        <p:spPr>
          <a:xfrm>
            <a:off x="365760" y="274320"/>
            <a:ext cx="685800" cy="685800"/>
          </a:xfrm>
          <a:prstGeom prst="rect">
            <a:avLst/>
          </a:prstGeom>
          <a:noFill/>
          <a:ln/>
        </p:spPr>
        <p:txBody>
          <a:bodyPr wrap="square" lIns="0" tIns="0" rIns="0" bIns="0" rtlCol="0" anchor="ctr"/>
          <a:lstStyle/>
          <a:p>
            <a:pPr algn="ctr" indent="0" marL="0">
              <a:buNone/>
            </a:pPr>
            <a:r>
              <a:rPr lang="en-US" sz="2400" b="1" dirty="0">
                <a:solidFill>
                  <a:srgbClr val="3DDC97"/>
                </a:solidFill>
                <a:latin typeface="Cambria" pitchFamily="34" charset="0"/>
                <a:ea typeface="Cambria" pitchFamily="34" charset="-122"/>
                <a:cs typeface="Cambria" pitchFamily="34" charset="-120"/>
              </a:rPr>
              <a:t>1</a:t>
            </a:r>
            <a:endParaRPr lang="en-US" sz="2400" dirty="0"/>
          </a:p>
        </p:txBody>
      </p:sp>
      <p:sp>
        <p:nvSpPr>
          <p:cNvPr id="4" name="Text 2"/>
          <p:cNvSpPr txBox="1"/>
          <p:nvPr/>
        </p:nvSpPr>
        <p:spPr>
          <a:xfrm>
            <a:off x="1188720" y="228600"/>
            <a:ext cx="10607040" cy="777240"/>
          </a:xfrm>
          <a:prstGeom prst="rect">
            <a:avLst/>
          </a:prstGeom>
          <a:noFill/>
          <a:ln/>
        </p:spPr>
        <p:txBody>
          <a:bodyPr wrap="square" lIns="0" tIns="0" rIns="0" bIns="0" rtlCol="0" anchor="ctr"/>
          <a:lstStyle/>
          <a:p>
            <a:pPr indent="0" marL="0">
              <a:buNone/>
            </a:pPr>
            <a:r>
              <a:rPr lang="en-US" sz="2200" b="1" dirty="0">
                <a:solidFill>
                  <a:srgbClr val="0B3D3A"/>
                </a:solidFill>
                <a:latin typeface="Cambria" pitchFamily="34" charset="0"/>
                <a:ea typeface="Cambria" pitchFamily="34" charset="-122"/>
                <a:cs typeface="Cambria" pitchFamily="34" charset="-120"/>
              </a:rPr>
              <a:t>Why Japan Recycles More Than Most Countries: Lessons for India</a:t>
            </a:r>
            <a:endParaRPr lang="en-US" sz="2200" dirty="0"/>
          </a:p>
        </p:txBody>
      </p:sp>
      <p:sp>
        <p:nvSpPr>
          <p:cNvPr id="5" name="Shape 3"/>
          <p:cNvSpPr/>
          <p:nvPr/>
        </p:nvSpPr>
        <p:spPr>
          <a:xfrm>
            <a:off x="365760" y="1143000"/>
            <a:ext cx="4206240" cy="3246120"/>
          </a:xfrm>
          <a:prstGeom prst="roundRect">
            <a:avLst>
              <a:gd name="adj" fmla="val 2254"/>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6" name="Shape 4"/>
          <p:cNvSpPr/>
          <p:nvPr/>
        </p:nvSpPr>
        <p:spPr>
          <a:xfrm>
            <a:off x="502920" y="1261872"/>
            <a:ext cx="292608" cy="292608"/>
          </a:xfrm>
          <a:prstGeom prst="ellipse">
            <a:avLst/>
          </a:prstGeom>
          <a:solidFill>
            <a:srgbClr val="127C6F"/>
          </a:solidFill>
          <a:ln w="12700">
            <a:solidFill>
              <a:srgbClr val="127C6F"/>
            </a:solidFill>
            <a:prstDash val="solid"/>
          </a:ln>
        </p:spPr>
      </p:sp>
      <p:pic>
        <p:nvPicPr>
          <p:cNvPr id="7" name="Image 0" descr="preencoded.png">    </p:cNvPr>
          <p:cNvPicPr>
            <a:picLocks noChangeAspect="1"/>
          </p:cNvPicPr>
          <p:nvPr/>
        </p:nvPicPr>
        <p:blipFill>
          <a:blip r:embed="rId1"/>
          <a:stretch>
            <a:fillRect/>
          </a:stretch>
        </p:blipFill>
        <p:spPr>
          <a:xfrm>
            <a:off x="566928" y="1325880"/>
            <a:ext cx="164592" cy="164592"/>
          </a:xfrm>
          <a:prstGeom prst="rect">
            <a:avLst/>
          </a:prstGeom>
        </p:spPr>
      </p:pic>
      <p:sp>
        <p:nvSpPr>
          <p:cNvPr id="8" name="Text 5"/>
          <p:cNvSpPr txBox="1"/>
          <p:nvPr/>
        </p:nvSpPr>
        <p:spPr>
          <a:xfrm>
            <a:off x="868680" y="1243584"/>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Overview</a:t>
            </a:r>
            <a:endParaRPr lang="en-US" sz="1300" dirty="0"/>
          </a:p>
        </p:txBody>
      </p:sp>
      <p:sp>
        <p:nvSpPr>
          <p:cNvPr id="9" name="Text 6"/>
          <p:cNvSpPr txBox="1"/>
          <p:nvPr/>
        </p:nvSpPr>
        <p:spPr>
          <a:xfrm>
            <a:off x="502920" y="1627632"/>
            <a:ext cx="3931920" cy="1051560"/>
          </a:xfrm>
          <a:prstGeom prst="rect">
            <a:avLst/>
          </a:prstGeom>
          <a:noFill/>
          <a:ln/>
        </p:spPr>
        <p:txBody>
          <a:bodyPr wrap="square" lIns="0" tIns="0" rIns="0" bIns="0" rtlCol="0" anchor="t"/>
          <a:lstStyle/>
          <a:p>
            <a:pPr indent="0" marL="0">
              <a:buNone/>
            </a:pPr>
            <a:r>
              <a:rPr lang="en-US" sz="1050" dirty="0">
                <a:solidFill>
                  <a:srgbClr val="1E2B2A"/>
                </a:solidFill>
                <a:latin typeface="Calibri" pitchFamily="34" charset="0"/>
                <a:ea typeface="Calibri" pitchFamily="34" charset="-122"/>
                <a:cs typeface="Calibri" pitchFamily="34" charset="-120"/>
              </a:rPr>
              <a:t>Japan built a legally backed, consumer-pays, retailer-collects and manufacturer-recycles system for e-waste. Combined with strong public participation, it gives high collection and material recovery. The Tokyo 2020 medals made entirely from recycled devices became the showcase of this culture.</a:t>
            </a:r>
            <a:endParaRPr lang="en-US" sz="1050" dirty="0"/>
          </a:p>
        </p:txBody>
      </p:sp>
      <p:sp>
        <p:nvSpPr>
          <p:cNvPr id="10" name="Shape 7"/>
          <p:cNvSpPr/>
          <p:nvPr/>
        </p:nvSpPr>
        <p:spPr>
          <a:xfrm>
            <a:off x="502920" y="2697480"/>
            <a:ext cx="292608" cy="292608"/>
          </a:xfrm>
          <a:prstGeom prst="ellipse">
            <a:avLst/>
          </a:prstGeom>
          <a:solidFill>
            <a:srgbClr val="127C6F"/>
          </a:solidFill>
          <a:ln w="12700">
            <a:solidFill>
              <a:srgbClr val="127C6F"/>
            </a:solidFill>
            <a:prstDash val="solid"/>
          </a:ln>
        </p:spPr>
      </p:sp>
      <p:pic>
        <p:nvPicPr>
          <p:cNvPr id="11" name="Image 1" descr="preencoded.png">    </p:cNvPr>
          <p:cNvPicPr>
            <a:picLocks noChangeAspect="1"/>
          </p:cNvPicPr>
          <p:nvPr/>
        </p:nvPicPr>
        <p:blipFill>
          <a:blip r:embed="rId2"/>
          <a:stretch>
            <a:fillRect/>
          </a:stretch>
        </p:blipFill>
        <p:spPr>
          <a:xfrm>
            <a:off x="566928" y="2761488"/>
            <a:ext cx="164592" cy="164592"/>
          </a:xfrm>
          <a:prstGeom prst="rect">
            <a:avLst/>
          </a:prstGeom>
        </p:spPr>
      </p:pic>
      <p:sp>
        <p:nvSpPr>
          <p:cNvPr id="12" name="Text 8"/>
          <p:cNvSpPr txBox="1"/>
          <p:nvPr/>
        </p:nvSpPr>
        <p:spPr>
          <a:xfrm>
            <a:off x="868680" y="267919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Strategy / Initiative</a:t>
            </a:r>
            <a:endParaRPr lang="en-US" sz="1300" dirty="0"/>
          </a:p>
        </p:txBody>
      </p:sp>
      <p:sp>
        <p:nvSpPr>
          <p:cNvPr id="13" name="Text 9"/>
          <p:cNvSpPr txBox="1"/>
          <p:nvPr/>
        </p:nvSpPr>
        <p:spPr>
          <a:xfrm>
            <a:off x="502920" y="3044952"/>
            <a:ext cx="3931920" cy="1280160"/>
          </a:xfrm>
          <a:prstGeom prst="rect">
            <a:avLst/>
          </a:prstGeom>
          <a:noFill/>
          <a:ln/>
        </p:spPr>
        <p:txBody>
          <a:bodyPr wrap="square" lIns="0" tIns="0" rIns="0" bIns="0" rtlCol="0" anchor="t"/>
          <a:lstStyle/>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Consumers pay a recycling fee when disposing of large appliances; retailers must take them back.</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Manufacturers must recycle to legally set recovery-rate targets at approved plants.</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Manifest (tracking) system follows each appliance from household to recycler.</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Municipal collection boxes and retail drop-offs for small electronics.</a:t>
            </a:r>
            <a:endParaRPr lang="en-US" sz="950" dirty="0"/>
          </a:p>
        </p:txBody>
      </p:sp>
      <p:sp>
        <p:nvSpPr>
          <p:cNvPr id="14" name="Shape 10"/>
          <p:cNvSpPr/>
          <p:nvPr/>
        </p:nvSpPr>
        <p:spPr>
          <a:xfrm>
            <a:off x="4709160" y="1143000"/>
            <a:ext cx="3474720" cy="3246120"/>
          </a:xfrm>
          <a:prstGeom prst="roundRect">
            <a:avLst>
              <a:gd name="adj" fmla="val 2254"/>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15" name="Shape 11"/>
          <p:cNvSpPr/>
          <p:nvPr/>
        </p:nvSpPr>
        <p:spPr>
          <a:xfrm>
            <a:off x="4846320" y="1261872"/>
            <a:ext cx="292608" cy="292608"/>
          </a:xfrm>
          <a:prstGeom prst="ellipse">
            <a:avLst/>
          </a:prstGeom>
          <a:solidFill>
            <a:srgbClr val="127C6F"/>
          </a:solidFill>
          <a:ln w="12700">
            <a:solidFill>
              <a:srgbClr val="127C6F"/>
            </a:solidFill>
            <a:prstDash val="solid"/>
          </a:ln>
        </p:spPr>
      </p:sp>
      <p:pic>
        <p:nvPicPr>
          <p:cNvPr id="16" name="Image 2" descr="preencoded.png">    </p:cNvPr>
          <p:cNvPicPr>
            <a:picLocks noChangeAspect="1"/>
          </p:cNvPicPr>
          <p:nvPr/>
        </p:nvPicPr>
        <p:blipFill>
          <a:blip r:embed="rId3"/>
          <a:stretch>
            <a:fillRect/>
          </a:stretch>
        </p:blipFill>
        <p:spPr>
          <a:xfrm>
            <a:off x="4910328" y="1325880"/>
            <a:ext cx="164592" cy="164592"/>
          </a:xfrm>
          <a:prstGeom prst="rect">
            <a:avLst/>
          </a:prstGeom>
        </p:spPr>
      </p:pic>
      <p:sp>
        <p:nvSpPr>
          <p:cNvPr id="17" name="Text 12"/>
          <p:cNvSpPr txBox="1"/>
          <p:nvPr/>
        </p:nvSpPr>
        <p:spPr>
          <a:xfrm>
            <a:off x="5212080" y="1243584"/>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Impact &amp; Results</a:t>
            </a:r>
            <a:endParaRPr lang="en-US" sz="13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846320" y="1645920"/>
          <a:ext cx="3200400" cy="914400"/>
        </p:xfrm>
        <a:graphic>
          <a:graphicData uri="http://schemas.openxmlformats.org/drawingml/2006/table">
            <a:tbl>
              <a:tblPr/>
              <a:tblGrid>
                <a:gridCol w="1188720"/>
                <a:gridCol w="2011680"/>
              </a:tblGrid>
              <a:tr h="256032">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Indicator</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Data</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127C6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Appliance types under law</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4 large (2001) + small appliances (2013)</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Tokyo 2020 e-waste collected</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approx. 79,000 tonnes incl. 6.2 million phones</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Metals recovered for medals</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approx. 32 kg gold, 3,500 kg silver, 2,200 kg bronze</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Medals produced</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approx. 5,000 (Olympic + Paralympic)</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E-waste generated per capita</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approx. 20 kg/yr (Global E-waste Monitor 2020)</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bl>
          </a:graphicData>
        </a:graphic>
      </p:graphicFrame>
      <p:sp>
        <p:nvSpPr>
          <p:cNvPr id="19" name="Shape 13"/>
          <p:cNvSpPr/>
          <p:nvPr/>
        </p:nvSpPr>
        <p:spPr>
          <a:xfrm>
            <a:off x="8321040" y="1161288"/>
            <a:ext cx="292608" cy="292608"/>
          </a:xfrm>
          <a:prstGeom prst="ellipse">
            <a:avLst/>
          </a:prstGeom>
          <a:solidFill>
            <a:srgbClr val="127C6F"/>
          </a:solidFill>
          <a:ln w="12700">
            <a:solidFill>
              <a:srgbClr val="127C6F"/>
            </a:solidFill>
            <a:prstDash val="solid"/>
          </a:ln>
        </p:spPr>
      </p:sp>
      <p:pic>
        <p:nvPicPr>
          <p:cNvPr id="20" name="Image 3" descr="preencoded.png">    </p:cNvPr>
          <p:cNvPicPr>
            <a:picLocks noChangeAspect="1"/>
          </p:cNvPicPr>
          <p:nvPr/>
        </p:nvPicPr>
        <p:blipFill>
          <a:blip r:embed="rId4"/>
          <a:stretch>
            <a:fillRect/>
          </a:stretch>
        </p:blipFill>
        <p:spPr>
          <a:xfrm>
            <a:off x="8385048" y="1225296"/>
            <a:ext cx="164592" cy="164592"/>
          </a:xfrm>
          <a:prstGeom prst="rect">
            <a:avLst/>
          </a:prstGeom>
        </p:spPr>
      </p:pic>
      <p:sp>
        <p:nvSpPr>
          <p:cNvPr id="21" name="Text 14"/>
          <p:cNvSpPr txBox="1"/>
          <p:nvPr/>
        </p:nvSpPr>
        <p:spPr>
          <a:xfrm>
            <a:off x="8686800" y="1143000"/>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SWOT Analysis</a:t>
            </a:r>
            <a:endParaRPr lang="en-US" sz="1300" dirty="0"/>
          </a:p>
        </p:txBody>
      </p:sp>
      <p:sp>
        <p:nvSpPr>
          <p:cNvPr id="22" name="Shape 15"/>
          <p:cNvSpPr/>
          <p:nvPr/>
        </p:nvSpPr>
        <p:spPr>
          <a:xfrm>
            <a:off x="8321040" y="1554480"/>
            <a:ext cx="1719072" cy="1371600"/>
          </a:xfrm>
          <a:prstGeom prst="roundRect">
            <a:avLst>
              <a:gd name="adj" fmla="val 5333"/>
            </a:avLst>
          </a:prstGeom>
          <a:solidFill>
            <a:srgbClr val="DDF3E4"/>
          </a:solidFill>
          <a:ln w="12700">
            <a:solidFill>
              <a:srgbClr val="DDF3E4"/>
            </a:solidFill>
            <a:prstDash val="solid"/>
          </a:ln>
        </p:spPr>
      </p:sp>
      <p:sp>
        <p:nvSpPr>
          <p:cNvPr id="23" name="Text 16"/>
          <p:cNvSpPr txBox="1"/>
          <p:nvPr/>
        </p:nvSpPr>
        <p:spPr>
          <a:xfrm>
            <a:off x="8412480" y="160934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1E7A3C"/>
                </a:solidFill>
                <a:latin typeface="Calibri" pitchFamily="34" charset="0"/>
                <a:ea typeface="Calibri" pitchFamily="34" charset="-122"/>
                <a:cs typeface="Calibri" pitchFamily="34" charset="-120"/>
              </a:rPr>
              <a:t>Strengths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Clear law with defined roles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High public compliance and awareness</a:t>
            </a:r>
            <a:endParaRPr lang="en-US" sz="1100" dirty="0"/>
          </a:p>
        </p:txBody>
      </p:sp>
      <p:sp>
        <p:nvSpPr>
          <p:cNvPr id="24" name="Shape 17"/>
          <p:cNvSpPr/>
          <p:nvPr/>
        </p:nvSpPr>
        <p:spPr>
          <a:xfrm>
            <a:off x="10085832" y="1554480"/>
            <a:ext cx="1719072" cy="1371600"/>
          </a:xfrm>
          <a:prstGeom prst="roundRect">
            <a:avLst>
              <a:gd name="adj" fmla="val 5333"/>
            </a:avLst>
          </a:prstGeom>
          <a:solidFill>
            <a:srgbClr val="FBE0DE"/>
          </a:solidFill>
          <a:ln w="12700">
            <a:solidFill>
              <a:srgbClr val="FBE0DE"/>
            </a:solidFill>
            <a:prstDash val="solid"/>
          </a:ln>
        </p:spPr>
      </p:sp>
      <p:sp>
        <p:nvSpPr>
          <p:cNvPr id="25" name="Text 18"/>
          <p:cNvSpPr txBox="1"/>
          <p:nvPr/>
        </p:nvSpPr>
        <p:spPr>
          <a:xfrm>
            <a:off x="10177272" y="160934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B23B2E"/>
                </a:solidFill>
                <a:latin typeface="Calibri" pitchFamily="34" charset="0"/>
                <a:ea typeface="Calibri" pitchFamily="34" charset="-122"/>
                <a:cs typeface="Calibri" pitchFamily="34" charset="-120"/>
              </a:rPr>
              <a:t>Weaknesses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Fee at disposal encourages illegal dumping / informal export</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High cost of recycling</a:t>
            </a:r>
            <a:endParaRPr lang="en-US" sz="1100" dirty="0"/>
          </a:p>
        </p:txBody>
      </p:sp>
      <p:sp>
        <p:nvSpPr>
          <p:cNvPr id="26" name="Shape 19"/>
          <p:cNvSpPr/>
          <p:nvPr/>
        </p:nvSpPr>
        <p:spPr>
          <a:xfrm>
            <a:off x="8321040" y="3017520"/>
            <a:ext cx="1719072" cy="1371600"/>
          </a:xfrm>
          <a:prstGeom prst="roundRect">
            <a:avLst>
              <a:gd name="adj" fmla="val 5333"/>
            </a:avLst>
          </a:prstGeom>
          <a:solidFill>
            <a:srgbClr val="DCEBFA"/>
          </a:solidFill>
          <a:ln w="12700">
            <a:solidFill>
              <a:srgbClr val="DCEBFA"/>
            </a:solidFill>
            <a:prstDash val="solid"/>
          </a:ln>
        </p:spPr>
      </p:sp>
      <p:sp>
        <p:nvSpPr>
          <p:cNvPr id="27" name="Text 20"/>
          <p:cNvSpPr txBox="1"/>
          <p:nvPr/>
        </p:nvSpPr>
        <p:spPr>
          <a:xfrm>
            <a:off x="8412480" y="307238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1F5FA8"/>
                </a:solidFill>
                <a:latin typeface="Calibri" pitchFamily="34" charset="0"/>
                <a:ea typeface="Calibri" pitchFamily="34" charset="-122"/>
                <a:cs typeface="Calibri" pitchFamily="34" charset="-120"/>
              </a:rPr>
              <a:t>Opportunities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Urban mining of gold, silver, copper</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Export of the model to Asia</a:t>
            </a:r>
            <a:endParaRPr lang="en-US" sz="1100" dirty="0"/>
          </a:p>
        </p:txBody>
      </p:sp>
      <p:sp>
        <p:nvSpPr>
          <p:cNvPr id="28" name="Shape 21"/>
          <p:cNvSpPr/>
          <p:nvPr/>
        </p:nvSpPr>
        <p:spPr>
          <a:xfrm>
            <a:off x="10085832" y="3017520"/>
            <a:ext cx="1719072" cy="1371600"/>
          </a:xfrm>
          <a:prstGeom prst="roundRect">
            <a:avLst>
              <a:gd name="adj" fmla="val 5333"/>
            </a:avLst>
          </a:prstGeom>
          <a:solidFill>
            <a:srgbClr val="FDEBD0"/>
          </a:solidFill>
          <a:ln w="12700">
            <a:solidFill>
              <a:srgbClr val="FDEBD0"/>
            </a:solidFill>
            <a:prstDash val="solid"/>
          </a:ln>
        </p:spPr>
      </p:sp>
      <p:sp>
        <p:nvSpPr>
          <p:cNvPr id="29" name="Text 22"/>
          <p:cNvSpPr txBox="1"/>
          <p:nvPr/>
        </p:nvSpPr>
        <p:spPr>
          <a:xfrm>
            <a:off x="10177272" y="307238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B96A0A"/>
                </a:solidFill>
                <a:latin typeface="Calibri" pitchFamily="34" charset="0"/>
                <a:ea typeface="Calibri" pitchFamily="34" charset="-122"/>
                <a:cs typeface="Calibri" pitchFamily="34" charset="-120"/>
              </a:rPr>
              <a:t>Threats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Rising volume of small gadgets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Falling resource prices weaken recycler economics</a:t>
            </a:r>
            <a:endParaRPr lang="en-US" sz="1100" dirty="0"/>
          </a:p>
        </p:txBody>
      </p:sp>
      <p:sp>
        <p:nvSpPr>
          <p:cNvPr id="30" name="Shape 23"/>
          <p:cNvSpPr/>
          <p:nvPr/>
        </p:nvSpPr>
        <p:spPr>
          <a:xfrm>
            <a:off x="365760" y="4526280"/>
            <a:ext cx="5577840" cy="1874520"/>
          </a:xfrm>
          <a:prstGeom prst="roundRect">
            <a:avLst>
              <a:gd name="adj" fmla="val 3902"/>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31" name="Shape 24"/>
          <p:cNvSpPr/>
          <p:nvPr/>
        </p:nvSpPr>
        <p:spPr>
          <a:xfrm>
            <a:off x="502920" y="4617720"/>
            <a:ext cx="292608" cy="292608"/>
          </a:xfrm>
          <a:prstGeom prst="ellipse">
            <a:avLst/>
          </a:prstGeom>
          <a:solidFill>
            <a:srgbClr val="127C6F"/>
          </a:solidFill>
          <a:ln w="12700">
            <a:solidFill>
              <a:srgbClr val="127C6F"/>
            </a:solidFill>
            <a:prstDash val="solid"/>
          </a:ln>
        </p:spPr>
      </p:sp>
      <p:pic>
        <p:nvPicPr>
          <p:cNvPr id="32" name="Image 4" descr="preencoded.png">    </p:cNvPr>
          <p:cNvPicPr>
            <a:picLocks noChangeAspect="1"/>
          </p:cNvPicPr>
          <p:nvPr/>
        </p:nvPicPr>
        <p:blipFill>
          <a:blip r:embed="rId5"/>
          <a:stretch>
            <a:fillRect/>
          </a:stretch>
        </p:blipFill>
        <p:spPr>
          <a:xfrm>
            <a:off x="566928" y="4681728"/>
            <a:ext cx="164592" cy="164592"/>
          </a:xfrm>
          <a:prstGeom prst="rect">
            <a:avLst/>
          </a:prstGeom>
        </p:spPr>
      </p:pic>
      <p:sp>
        <p:nvSpPr>
          <p:cNvPr id="33" name="Text 25"/>
          <p:cNvSpPr txBox="1"/>
          <p:nvPr/>
        </p:nvSpPr>
        <p:spPr>
          <a:xfrm>
            <a:off x="868680" y="459943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Comparison with India</a:t>
            </a:r>
            <a:endParaRPr lang="en-US" sz="1300" dirty="0"/>
          </a:p>
        </p:txBody>
      </p:sp>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502920" y="4983480"/>
          <a:ext cx="5303520" cy="914400"/>
        </p:xfrm>
        <a:graphic>
          <a:graphicData uri="http://schemas.openxmlformats.org/drawingml/2006/table">
            <a:tbl>
              <a:tblPr/>
              <a:tblGrid>
                <a:gridCol w="1371600"/>
                <a:gridCol w="1965960"/>
                <a:gridCol w="1965960"/>
              </a:tblGrid>
              <a:tr h="237744">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Parameter</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Japan</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India</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Legal basis</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Specific appliance laws (2001, 2013)</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E-Waste Rules 2022 (EPR-based)</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Who pays</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Consumer at disposal + producer</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Producer (EPR); consumer pays nothing</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Collection</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Retailer take-back, municipal boxes</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Weak; mostly informal kabadiwalas</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Per-capita e-waste</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approx. 20 kg</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under 3 kg</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35" name="Shape 26"/>
          <p:cNvSpPr/>
          <p:nvPr/>
        </p:nvSpPr>
        <p:spPr>
          <a:xfrm>
            <a:off x="6080760" y="4526280"/>
            <a:ext cx="5742432" cy="1874520"/>
          </a:xfrm>
          <a:prstGeom prst="roundRect">
            <a:avLst>
              <a:gd name="adj" fmla="val 3902"/>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36" name="Shape 27"/>
          <p:cNvSpPr/>
          <p:nvPr/>
        </p:nvSpPr>
        <p:spPr>
          <a:xfrm>
            <a:off x="6217920" y="4617720"/>
            <a:ext cx="292608" cy="292608"/>
          </a:xfrm>
          <a:prstGeom prst="ellipse">
            <a:avLst/>
          </a:prstGeom>
          <a:solidFill>
            <a:srgbClr val="127C6F"/>
          </a:solidFill>
          <a:ln w="12700">
            <a:solidFill>
              <a:srgbClr val="127C6F"/>
            </a:solidFill>
            <a:prstDash val="solid"/>
          </a:ln>
        </p:spPr>
      </p:sp>
      <p:pic>
        <p:nvPicPr>
          <p:cNvPr id="37" name="Image 5" descr="preencoded.png">    </p:cNvPr>
          <p:cNvPicPr>
            <a:picLocks noChangeAspect="1"/>
          </p:cNvPicPr>
          <p:nvPr/>
        </p:nvPicPr>
        <p:blipFill>
          <a:blip r:embed="rId6"/>
          <a:stretch>
            <a:fillRect/>
          </a:stretch>
        </p:blipFill>
        <p:spPr>
          <a:xfrm>
            <a:off x="6281928" y="4681728"/>
            <a:ext cx="164592" cy="164592"/>
          </a:xfrm>
          <a:prstGeom prst="rect">
            <a:avLst/>
          </a:prstGeom>
        </p:spPr>
      </p:pic>
      <p:sp>
        <p:nvSpPr>
          <p:cNvPr id="38" name="Text 28"/>
          <p:cNvSpPr txBox="1"/>
          <p:nvPr/>
        </p:nvSpPr>
        <p:spPr>
          <a:xfrm>
            <a:off x="6583680" y="459943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Recommendations</a:t>
            </a:r>
            <a:endParaRPr lang="en-US" sz="1300" dirty="0"/>
          </a:p>
        </p:txBody>
      </p:sp>
      <p:sp>
        <p:nvSpPr>
          <p:cNvPr id="39" name="Text 29"/>
          <p:cNvSpPr txBox="1"/>
          <p:nvPr/>
        </p:nvSpPr>
        <p:spPr>
          <a:xfrm>
            <a:off x="6217920" y="4983480"/>
            <a:ext cx="5486400" cy="868680"/>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Mandate retailer take-back for major appliances.</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Introduce a tracking/manifest system through the CPCB portal.</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Run national collection drives with visible outcomes (like the medal project).</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Integrate informal collectors as authorised collection agents.</a:t>
            </a:r>
            <a:endParaRPr lang="en-US" sz="1000" dirty="0"/>
          </a:p>
        </p:txBody>
      </p:sp>
      <p:sp>
        <p:nvSpPr>
          <p:cNvPr id="40" name="Shape 30"/>
          <p:cNvSpPr/>
          <p:nvPr/>
        </p:nvSpPr>
        <p:spPr>
          <a:xfrm>
            <a:off x="6217920" y="5852160"/>
            <a:ext cx="5468112" cy="457200"/>
          </a:xfrm>
          <a:prstGeom prst="roundRect">
            <a:avLst>
              <a:gd name="adj" fmla="val 12000"/>
            </a:avLst>
          </a:prstGeom>
          <a:solidFill>
            <a:srgbClr val="0B3D3A"/>
          </a:solidFill>
          <a:ln w="12700">
            <a:solidFill>
              <a:srgbClr val="0B3D3A"/>
            </a:solidFill>
            <a:prstDash val="solid"/>
          </a:ln>
        </p:spPr>
      </p:sp>
      <p:sp>
        <p:nvSpPr>
          <p:cNvPr id="41" name="Text 31"/>
          <p:cNvSpPr txBox="1"/>
          <p:nvPr/>
        </p:nvSpPr>
        <p:spPr>
          <a:xfrm>
            <a:off x="6309360" y="5852160"/>
            <a:ext cx="5303520" cy="457200"/>
          </a:xfrm>
          <a:prstGeom prst="rect">
            <a:avLst/>
          </a:prstGeom>
          <a:noFill/>
          <a:ln/>
        </p:spPr>
        <p:txBody>
          <a:bodyPr wrap="square" lIns="0" tIns="0" rIns="0" bIns="0"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Japan shows that law, convenience and civic culture together drive recycling.</a:t>
            </a:r>
            <a:endParaRPr lang="en-US" sz="950" dirty="0"/>
          </a:p>
        </p:txBody>
      </p:sp>
      <p:sp>
        <p:nvSpPr>
          <p:cNvPr id="42" name="Text 32"/>
          <p:cNvSpPr txBox="1"/>
          <p:nvPr/>
        </p:nvSpPr>
        <p:spPr>
          <a:xfrm>
            <a:off x="365760" y="6473952"/>
            <a:ext cx="11430000" cy="292608"/>
          </a:xfrm>
          <a:prstGeom prst="rect">
            <a:avLst/>
          </a:prstGeom>
          <a:noFill/>
          <a:ln/>
        </p:spPr>
        <p:txBody>
          <a:bodyPr wrap="square" lIns="0" tIns="0" rIns="0" bIns="0" rtlCol="0" anchor="t"/>
          <a:lstStyle/>
          <a:p>
            <a:pPr indent="0" marL="0">
              <a:buNone/>
            </a:pPr>
            <a:r>
              <a:rPr lang="en-US" sz="750" dirty="0">
                <a:solidFill>
                  <a:srgbClr val="5B6B69"/>
                </a:solidFill>
                <a:latin typeface="Calibri" pitchFamily="34" charset="0"/>
                <a:ea typeface="Calibri" pitchFamily="34" charset="-122"/>
                <a:cs typeface="Calibri" pitchFamily="34" charset="-120"/>
              </a:rPr>
              <a:t>Sources: Ministry of the Environment, Japan – Home Appliance Recycling Law and Small Home Appliance Recycling Law pages  |  Tokyo 2020 Organising Committee – Medal Project reports  |  Global E-waste Monitor 2020, UNU/ITU/ISWA</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7F5"/>
        </a:solidFill>
      </p:bgPr>
    </p:bg>
    <p:spTree>
      <p:nvGrpSpPr>
        <p:cNvPr id="1" name=""/>
        <p:cNvGrpSpPr/>
        <p:nvPr/>
      </p:nvGrpSpPr>
      <p:grpSpPr>
        <a:xfrm>
          <a:off x="0" y="0"/>
          <a:ext cx="0" cy="0"/>
          <a:chOff x="0" y="0"/>
          <a:chExt cx="0" cy="0"/>
        </a:xfrm>
      </p:grpSpPr>
      <p:sp>
        <p:nvSpPr>
          <p:cNvPr id="2" name="Shape 0"/>
          <p:cNvSpPr/>
          <p:nvPr/>
        </p:nvSpPr>
        <p:spPr>
          <a:xfrm>
            <a:off x="365760" y="274320"/>
            <a:ext cx="685800" cy="685800"/>
          </a:xfrm>
          <a:prstGeom prst="ellipse">
            <a:avLst/>
          </a:prstGeom>
          <a:solidFill>
            <a:srgbClr val="0B3D3A"/>
          </a:solidFill>
          <a:ln w="12700">
            <a:solidFill>
              <a:srgbClr val="0B3D3A"/>
            </a:solidFill>
            <a:prstDash val="solid"/>
          </a:ln>
        </p:spPr>
      </p:sp>
      <p:sp>
        <p:nvSpPr>
          <p:cNvPr id="3" name="Text 1"/>
          <p:cNvSpPr txBox="1"/>
          <p:nvPr/>
        </p:nvSpPr>
        <p:spPr>
          <a:xfrm>
            <a:off x="365760" y="274320"/>
            <a:ext cx="685800" cy="685800"/>
          </a:xfrm>
          <a:prstGeom prst="rect">
            <a:avLst/>
          </a:prstGeom>
          <a:noFill/>
          <a:ln/>
        </p:spPr>
        <p:txBody>
          <a:bodyPr wrap="square" lIns="0" tIns="0" rIns="0" bIns="0" rtlCol="0" anchor="ctr"/>
          <a:lstStyle/>
          <a:p>
            <a:pPr algn="ctr" indent="0" marL="0">
              <a:buNone/>
            </a:pPr>
            <a:r>
              <a:rPr lang="en-US" sz="2400" b="1" dirty="0">
                <a:solidFill>
                  <a:srgbClr val="3DDC97"/>
                </a:solidFill>
                <a:latin typeface="Cambria" pitchFamily="34" charset="0"/>
                <a:ea typeface="Cambria" pitchFamily="34" charset="-122"/>
                <a:cs typeface="Cambria" pitchFamily="34" charset="-120"/>
              </a:rPr>
              <a:t>2</a:t>
            </a:r>
            <a:endParaRPr lang="en-US" sz="2400" dirty="0"/>
          </a:p>
        </p:txBody>
      </p:sp>
      <p:sp>
        <p:nvSpPr>
          <p:cNvPr id="4" name="Text 2"/>
          <p:cNvSpPr txBox="1"/>
          <p:nvPr/>
        </p:nvSpPr>
        <p:spPr>
          <a:xfrm>
            <a:off x="1188720" y="228600"/>
            <a:ext cx="10607040" cy="777240"/>
          </a:xfrm>
          <a:prstGeom prst="rect">
            <a:avLst/>
          </a:prstGeom>
          <a:noFill/>
          <a:ln/>
        </p:spPr>
        <p:txBody>
          <a:bodyPr wrap="square" lIns="0" tIns="0" rIns="0" bIns="0" rtlCol="0" anchor="ctr"/>
          <a:lstStyle/>
          <a:p>
            <a:pPr indent="0" marL="0">
              <a:buNone/>
            </a:pPr>
            <a:r>
              <a:rPr lang="en-US" sz="2600" b="1" dirty="0">
                <a:solidFill>
                  <a:srgbClr val="0B3D3A"/>
                </a:solidFill>
                <a:latin typeface="Cambria" pitchFamily="34" charset="0"/>
                <a:ea typeface="Cambria" pitchFamily="34" charset="-122"/>
                <a:cs typeface="Cambria" pitchFamily="34" charset="-120"/>
              </a:rPr>
              <a:t>Switzerland's E-Waste Success Story</a:t>
            </a:r>
            <a:endParaRPr lang="en-US" sz="2600" dirty="0"/>
          </a:p>
        </p:txBody>
      </p:sp>
      <p:sp>
        <p:nvSpPr>
          <p:cNvPr id="5" name="Shape 3"/>
          <p:cNvSpPr/>
          <p:nvPr/>
        </p:nvSpPr>
        <p:spPr>
          <a:xfrm>
            <a:off x="365760" y="1143000"/>
            <a:ext cx="4206240" cy="3246120"/>
          </a:xfrm>
          <a:prstGeom prst="roundRect">
            <a:avLst>
              <a:gd name="adj" fmla="val 2254"/>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6" name="Shape 4"/>
          <p:cNvSpPr/>
          <p:nvPr/>
        </p:nvSpPr>
        <p:spPr>
          <a:xfrm>
            <a:off x="502920" y="1261872"/>
            <a:ext cx="292608" cy="292608"/>
          </a:xfrm>
          <a:prstGeom prst="ellipse">
            <a:avLst/>
          </a:prstGeom>
          <a:solidFill>
            <a:srgbClr val="127C6F"/>
          </a:solidFill>
          <a:ln w="12700">
            <a:solidFill>
              <a:srgbClr val="127C6F"/>
            </a:solidFill>
            <a:prstDash val="solid"/>
          </a:ln>
        </p:spPr>
      </p:sp>
      <p:pic>
        <p:nvPicPr>
          <p:cNvPr id="7" name="Image 0" descr="preencoded.png">    </p:cNvPr>
          <p:cNvPicPr>
            <a:picLocks noChangeAspect="1"/>
          </p:cNvPicPr>
          <p:nvPr/>
        </p:nvPicPr>
        <p:blipFill>
          <a:blip r:embed="rId1"/>
          <a:stretch>
            <a:fillRect/>
          </a:stretch>
        </p:blipFill>
        <p:spPr>
          <a:xfrm>
            <a:off x="566928" y="1325880"/>
            <a:ext cx="164592" cy="164592"/>
          </a:xfrm>
          <a:prstGeom prst="rect">
            <a:avLst/>
          </a:prstGeom>
        </p:spPr>
      </p:pic>
      <p:sp>
        <p:nvSpPr>
          <p:cNvPr id="8" name="Text 5"/>
          <p:cNvSpPr txBox="1"/>
          <p:nvPr/>
        </p:nvSpPr>
        <p:spPr>
          <a:xfrm>
            <a:off x="868680" y="1243584"/>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Overview</a:t>
            </a:r>
            <a:endParaRPr lang="en-US" sz="1300" dirty="0"/>
          </a:p>
        </p:txBody>
      </p:sp>
      <p:sp>
        <p:nvSpPr>
          <p:cNvPr id="9" name="Text 6"/>
          <p:cNvSpPr txBox="1"/>
          <p:nvPr/>
        </p:nvSpPr>
        <p:spPr>
          <a:xfrm>
            <a:off x="502920" y="1627632"/>
            <a:ext cx="3931920" cy="1051560"/>
          </a:xfrm>
          <a:prstGeom prst="rect">
            <a:avLst/>
          </a:prstGeom>
          <a:noFill/>
          <a:ln/>
        </p:spPr>
        <p:txBody>
          <a:bodyPr wrap="square" lIns="0" tIns="0" rIns="0" bIns="0" rtlCol="0" anchor="t"/>
          <a:lstStyle/>
          <a:p>
            <a:pPr indent="0" marL="0">
              <a:buNone/>
            </a:pPr>
            <a:r>
              <a:rPr lang="en-US" sz="1050" dirty="0">
                <a:solidFill>
                  <a:srgbClr val="1E2B2A"/>
                </a:solidFill>
                <a:latin typeface="Calibri" pitchFamily="34" charset="0"/>
                <a:ea typeface="Calibri" pitchFamily="34" charset="-122"/>
                <a:cs typeface="Calibri" pitchFamily="34" charset="-120"/>
              </a:rPr>
              <a:t>Switzerland was among the first countries in the world to run a national e-waste system. It combines an advance recycling fee paid at purchase, free return for consumers and industry-run take-back organisations. It consistently records some of the highest per-capita collection figures globally.</a:t>
            </a:r>
            <a:endParaRPr lang="en-US" sz="1050" dirty="0"/>
          </a:p>
        </p:txBody>
      </p:sp>
      <p:sp>
        <p:nvSpPr>
          <p:cNvPr id="10" name="Shape 7"/>
          <p:cNvSpPr/>
          <p:nvPr/>
        </p:nvSpPr>
        <p:spPr>
          <a:xfrm>
            <a:off x="502920" y="2697480"/>
            <a:ext cx="292608" cy="292608"/>
          </a:xfrm>
          <a:prstGeom prst="ellipse">
            <a:avLst/>
          </a:prstGeom>
          <a:solidFill>
            <a:srgbClr val="127C6F"/>
          </a:solidFill>
          <a:ln w="12700">
            <a:solidFill>
              <a:srgbClr val="127C6F"/>
            </a:solidFill>
            <a:prstDash val="solid"/>
          </a:ln>
        </p:spPr>
      </p:sp>
      <p:pic>
        <p:nvPicPr>
          <p:cNvPr id="11" name="Image 1" descr="preencoded.png">    </p:cNvPr>
          <p:cNvPicPr>
            <a:picLocks noChangeAspect="1"/>
          </p:cNvPicPr>
          <p:nvPr/>
        </p:nvPicPr>
        <p:blipFill>
          <a:blip r:embed="rId2"/>
          <a:stretch>
            <a:fillRect/>
          </a:stretch>
        </p:blipFill>
        <p:spPr>
          <a:xfrm>
            <a:off x="566928" y="2761488"/>
            <a:ext cx="164592" cy="164592"/>
          </a:xfrm>
          <a:prstGeom prst="rect">
            <a:avLst/>
          </a:prstGeom>
        </p:spPr>
      </p:pic>
      <p:sp>
        <p:nvSpPr>
          <p:cNvPr id="12" name="Text 8"/>
          <p:cNvSpPr txBox="1"/>
          <p:nvPr/>
        </p:nvSpPr>
        <p:spPr>
          <a:xfrm>
            <a:off x="868680" y="267919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Strategy / Initiative</a:t>
            </a:r>
            <a:endParaRPr lang="en-US" sz="1300" dirty="0"/>
          </a:p>
        </p:txBody>
      </p:sp>
      <p:sp>
        <p:nvSpPr>
          <p:cNvPr id="13" name="Text 9"/>
          <p:cNvSpPr txBox="1"/>
          <p:nvPr/>
        </p:nvSpPr>
        <p:spPr>
          <a:xfrm>
            <a:off x="502920" y="3044952"/>
            <a:ext cx="3931920" cy="1280160"/>
          </a:xfrm>
          <a:prstGeom prst="rect">
            <a:avLst/>
          </a:prstGeom>
          <a:noFill/>
          <a:ln/>
        </p:spPr>
        <p:txBody>
          <a:bodyPr wrap="square" lIns="0" tIns="0" rIns="0" bIns="0" rtlCol="0" anchor="t"/>
          <a:lstStyle/>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Advance Recycling Fee (ARF) included in the price of new appliances.</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Free return of any old device to retailers, manufacturers or collection points.</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Non-profit producer organisations (SENS, SWICO, SLRS) fund and audit recycling.</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Certified recyclers with strict technical and environmental standards.</a:t>
            </a:r>
            <a:endParaRPr lang="en-US" sz="950" dirty="0"/>
          </a:p>
        </p:txBody>
      </p:sp>
      <p:sp>
        <p:nvSpPr>
          <p:cNvPr id="14" name="Shape 10"/>
          <p:cNvSpPr/>
          <p:nvPr/>
        </p:nvSpPr>
        <p:spPr>
          <a:xfrm>
            <a:off x="4709160" y="1143000"/>
            <a:ext cx="3474720" cy="3246120"/>
          </a:xfrm>
          <a:prstGeom prst="roundRect">
            <a:avLst>
              <a:gd name="adj" fmla="val 2254"/>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15" name="Shape 11"/>
          <p:cNvSpPr/>
          <p:nvPr/>
        </p:nvSpPr>
        <p:spPr>
          <a:xfrm>
            <a:off x="4846320" y="1261872"/>
            <a:ext cx="292608" cy="292608"/>
          </a:xfrm>
          <a:prstGeom prst="ellipse">
            <a:avLst/>
          </a:prstGeom>
          <a:solidFill>
            <a:srgbClr val="127C6F"/>
          </a:solidFill>
          <a:ln w="12700">
            <a:solidFill>
              <a:srgbClr val="127C6F"/>
            </a:solidFill>
            <a:prstDash val="solid"/>
          </a:ln>
        </p:spPr>
      </p:sp>
      <p:pic>
        <p:nvPicPr>
          <p:cNvPr id="16" name="Image 2" descr="preencoded.png">    </p:cNvPr>
          <p:cNvPicPr>
            <a:picLocks noChangeAspect="1"/>
          </p:cNvPicPr>
          <p:nvPr/>
        </p:nvPicPr>
        <p:blipFill>
          <a:blip r:embed="rId3"/>
          <a:stretch>
            <a:fillRect/>
          </a:stretch>
        </p:blipFill>
        <p:spPr>
          <a:xfrm>
            <a:off x="4910328" y="1325880"/>
            <a:ext cx="164592" cy="164592"/>
          </a:xfrm>
          <a:prstGeom prst="rect">
            <a:avLst/>
          </a:prstGeom>
        </p:spPr>
      </p:pic>
      <p:sp>
        <p:nvSpPr>
          <p:cNvPr id="17" name="Text 12"/>
          <p:cNvSpPr txBox="1"/>
          <p:nvPr/>
        </p:nvSpPr>
        <p:spPr>
          <a:xfrm>
            <a:off x="5212080" y="1243584"/>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Impact &amp; Results</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846320" y="1645920"/>
          <a:ext cx="3200400" cy="914400"/>
        </p:xfrm>
        <a:graphic>
          <a:graphicData uri="http://schemas.openxmlformats.org/drawingml/2006/table">
            <a:tbl>
              <a:tblPr/>
              <a:tblGrid>
                <a:gridCol w="1188720"/>
                <a:gridCol w="2011680"/>
              </a:tblGrid>
              <a:tr h="256032">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Indicator</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Data</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127C6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Collection per capita</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approx. 15 kg/yr (among the highest in the world)</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Total collected</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over 120,000 tonnes/yr (approx.)</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System start</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1990s voluntary; ORDEE mandatory 1998</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Funding model</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ARF at point of sale</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Recycling standard</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Certified, audited recyclers</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bl>
          </a:graphicData>
        </a:graphic>
      </p:graphicFrame>
      <p:sp>
        <p:nvSpPr>
          <p:cNvPr id="19" name="Shape 13"/>
          <p:cNvSpPr/>
          <p:nvPr/>
        </p:nvSpPr>
        <p:spPr>
          <a:xfrm>
            <a:off x="8321040" y="1161288"/>
            <a:ext cx="292608" cy="292608"/>
          </a:xfrm>
          <a:prstGeom prst="ellipse">
            <a:avLst/>
          </a:prstGeom>
          <a:solidFill>
            <a:srgbClr val="127C6F"/>
          </a:solidFill>
          <a:ln w="12700">
            <a:solidFill>
              <a:srgbClr val="127C6F"/>
            </a:solidFill>
            <a:prstDash val="solid"/>
          </a:ln>
        </p:spPr>
      </p:sp>
      <p:pic>
        <p:nvPicPr>
          <p:cNvPr id="20" name="Image 3" descr="preencoded.png">    </p:cNvPr>
          <p:cNvPicPr>
            <a:picLocks noChangeAspect="1"/>
          </p:cNvPicPr>
          <p:nvPr/>
        </p:nvPicPr>
        <p:blipFill>
          <a:blip r:embed="rId4"/>
          <a:stretch>
            <a:fillRect/>
          </a:stretch>
        </p:blipFill>
        <p:spPr>
          <a:xfrm>
            <a:off x="8385048" y="1225296"/>
            <a:ext cx="164592" cy="164592"/>
          </a:xfrm>
          <a:prstGeom prst="rect">
            <a:avLst/>
          </a:prstGeom>
        </p:spPr>
      </p:pic>
      <p:sp>
        <p:nvSpPr>
          <p:cNvPr id="21" name="Text 14"/>
          <p:cNvSpPr txBox="1"/>
          <p:nvPr/>
        </p:nvSpPr>
        <p:spPr>
          <a:xfrm>
            <a:off x="8686800" y="1143000"/>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SWOT Analysis</a:t>
            </a:r>
            <a:endParaRPr lang="en-US" sz="1300" dirty="0"/>
          </a:p>
        </p:txBody>
      </p:sp>
      <p:sp>
        <p:nvSpPr>
          <p:cNvPr id="22" name="Shape 15"/>
          <p:cNvSpPr/>
          <p:nvPr/>
        </p:nvSpPr>
        <p:spPr>
          <a:xfrm>
            <a:off x="8321040" y="1554480"/>
            <a:ext cx="1719072" cy="1371600"/>
          </a:xfrm>
          <a:prstGeom prst="roundRect">
            <a:avLst>
              <a:gd name="adj" fmla="val 5333"/>
            </a:avLst>
          </a:prstGeom>
          <a:solidFill>
            <a:srgbClr val="DDF3E4"/>
          </a:solidFill>
          <a:ln w="12700">
            <a:solidFill>
              <a:srgbClr val="DDF3E4"/>
            </a:solidFill>
            <a:prstDash val="solid"/>
          </a:ln>
        </p:spPr>
      </p:sp>
      <p:sp>
        <p:nvSpPr>
          <p:cNvPr id="23" name="Text 16"/>
          <p:cNvSpPr txBox="1"/>
          <p:nvPr/>
        </p:nvSpPr>
        <p:spPr>
          <a:xfrm>
            <a:off x="8412480" y="160934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1E7A3C"/>
                </a:solidFill>
                <a:latin typeface="Calibri" pitchFamily="34" charset="0"/>
                <a:ea typeface="Calibri" pitchFamily="34" charset="-122"/>
                <a:cs typeface="Calibri" pitchFamily="34" charset="-120"/>
              </a:rPr>
              <a:t>Strengths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Convenient free return for consumers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Industry-run, self-financing system</a:t>
            </a:r>
            <a:endParaRPr lang="en-US" sz="1100" dirty="0"/>
          </a:p>
        </p:txBody>
      </p:sp>
      <p:sp>
        <p:nvSpPr>
          <p:cNvPr id="24" name="Shape 17"/>
          <p:cNvSpPr/>
          <p:nvPr/>
        </p:nvSpPr>
        <p:spPr>
          <a:xfrm>
            <a:off x="10085832" y="1554480"/>
            <a:ext cx="1719072" cy="1371600"/>
          </a:xfrm>
          <a:prstGeom prst="roundRect">
            <a:avLst>
              <a:gd name="adj" fmla="val 5333"/>
            </a:avLst>
          </a:prstGeom>
          <a:solidFill>
            <a:srgbClr val="FBE0DE"/>
          </a:solidFill>
          <a:ln w="12700">
            <a:solidFill>
              <a:srgbClr val="FBE0DE"/>
            </a:solidFill>
            <a:prstDash val="solid"/>
          </a:ln>
        </p:spPr>
      </p:sp>
      <p:sp>
        <p:nvSpPr>
          <p:cNvPr id="25" name="Text 18"/>
          <p:cNvSpPr txBox="1"/>
          <p:nvPr/>
        </p:nvSpPr>
        <p:spPr>
          <a:xfrm>
            <a:off x="10177272" y="160934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B23B2E"/>
                </a:solidFill>
                <a:latin typeface="Calibri" pitchFamily="34" charset="0"/>
                <a:ea typeface="Calibri" pitchFamily="34" charset="-122"/>
                <a:cs typeface="Calibri" pitchFamily="34" charset="-120"/>
              </a:rPr>
              <a:t>Weaknesses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Fee is invisible so awareness of costs is low</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High operating costs in a rich country</a:t>
            </a:r>
            <a:endParaRPr lang="en-US" sz="1100" dirty="0"/>
          </a:p>
        </p:txBody>
      </p:sp>
      <p:sp>
        <p:nvSpPr>
          <p:cNvPr id="26" name="Shape 19"/>
          <p:cNvSpPr/>
          <p:nvPr/>
        </p:nvSpPr>
        <p:spPr>
          <a:xfrm>
            <a:off x="8321040" y="3017520"/>
            <a:ext cx="1719072" cy="1371600"/>
          </a:xfrm>
          <a:prstGeom prst="roundRect">
            <a:avLst>
              <a:gd name="adj" fmla="val 5333"/>
            </a:avLst>
          </a:prstGeom>
          <a:solidFill>
            <a:srgbClr val="DCEBFA"/>
          </a:solidFill>
          <a:ln w="12700">
            <a:solidFill>
              <a:srgbClr val="DCEBFA"/>
            </a:solidFill>
            <a:prstDash val="solid"/>
          </a:ln>
        </p:spPr>
      </p:sp>
      <p:sp>
        <p:nvSpPr>
          <p:cNvPr id="27" name="Text 20"/>
          <p:cNvSpPr txBox="1"/>
          <p:nvPr/>
        </p:nvSpPr>
        <p:spPr>
          <a:xfrm>
            <a:off x="8412480" y="307238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1F5FA8"/>
                </a:solidFill>
                <a:latin typeface="Calibri" pitchFamily="34" charset="0"/>
                <a:ea typeface="Calibri" pitchFamily="34" charset="-122"/>
                <a:cs typeface="Calibri" pitchFamily="34" charset="-120"/>
              </a:rPr>
              <a:t>Opportunities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Recover critical raw materials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Share know-how with developing countries</a:t>
            </a:r>
            <a:endParaRPr lang="en-US" sz="1100" dirty="0"/>
          </a:p>
        </p:txBody>
      </p:sp>
      <p:sp>
        <p:nvSpPr>
          <p:cNvPr id="28" name="Shape 21"/>
          <p:cNvSpPr/>
          <p:nvPr/>
        </p:nvSpPr>
        <p:spPr>
          <a:xfrm>
            <a:off x="10085832" y="3017520"/>
            <a:ext cx="1719072" cy="1371600"/>
          </a:xfrm>
          <a:prstGeom prst="roundRect">
            <a:avLst>
              <a:gd name="adj" fmla="val 5333"/>
            </a:avLst>
          </a:prstGeom>
          <a:solidFill>
            <a:srgbClr val="FDEBD0"/>
          </a:solidFill>
          <a:ln w="12700">
            <a:solidFill>
              <a:srgbClr val="FDEBD0"/>
            </a:solidFill>
            <a:prstDash val="solid"/>
          </a:ln>
        </p:spPr>
      </p:sp>
      <p:sp>
        <p:nvSpPr>
          <p:cNvPr id="29" name="Text 22"/>
          <p:cNvSpPr txBox="1"/>
          <p:nvPr/>
        </p:nvSpPr>
        <p:spPr>
          <a:xfrm>
            <a:off x="10177272" y="307238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B96A0A"/>
                </a:solidFill>
                <a:latin typeface="Calibri" pitchFamily="34" charset="0"/>
                <a:ea typeface="Calibri" pitchFamily="34" charset="-122"/>
                <a:cs typeface="Calibri" pitchFamily="34" charset="-120"/>
              </a:rPr>
              <a:t>Threats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Free-riders and online imports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Fast growth of small e-waste</a:t>
            </a:r>
            <a:endParaRPr lang="en-US" sz="1100" dirty="0"/>
          </a:p>
        </p:txBody>
      </p:sp>
      <p:sp>
        <p:nvSpPr>
          <p:cNvPr id="30" name="Shape 23"/>
          <p:cNvSpPr/>
          <p:nvPr/>
        </p:nvSpPr>
        <p:spPr>
          <a:xfrm>
            <a:off x="365760" y="4526280"/>
            <a:ext cx="5577840" cy="1874520"/>
          </a:xfrm>
          <a:prstGeom prst="roundRect">
            <a:avLst>
              <a:gd name="adj" fmla="val 3902"/>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31" name="Shape 24"/>
          <p:cNvSpPr/>
          <p:nvPr/>
        </p:nvSpPr>
        <p:spPr>
          <a:xfrm>
            <a:off x="502920" y="4617720"/>
            <a:ext cx="292608" cy="292608"/>
          </a:xfrm>
          <a:prstGeom prst="ellipse">
            <a:avLst/>
          </a:prstGeom>
          <a:solidFill>
            <a:srgbClr val="127C6F"/>
          </a:solidFill>
          <a:ln w="12700">
            <a:solidFill>
              <a:srgbClr val="127C6F"/>
            </a:solidFill>
            <a:prstDash val="solid"/>
          </a:ln>
        </p:spPr>
      </p:sp>
      <p:pic>
        <p:nvPicPr>
          <p:cNvPr id="32" name="Image 4" descr="preencoded.png">    </p:cNvPr>
          <p:cNvPicPr>
            <a:picLocks noChangeAspect="1"/>
          </p:cNvPicPr>
          <p:nvPr/>
        </p:nvPicPr>
        <p:blipFill>
          <a:blip r:embed="rId5"/>
          <a:stretch>
            <a:fillRect/>
          </a:stretch>
        </p:blipFill>
        <p:spPr>
          <a:xfrm>
            <a:off x="566928" y="4681728"/>
            <a:ext cx="164592" cy="164592"/>
          </a:xfrm>
          <a:prstGeom prst="rect">
            <a:avLst/>
          </a:prstGeom>
        </p:spPr>
      </p:pic>
      <p:sp>
        <p:nvSpPr>
          <p:cNvPr id="33" name="Text 25"/>
          <p:cNvSpPr txBox="1"/>
          <p:nvPr/>
        </p:nvSpPr>
        <p:spPr>
          <a:xfrm>
            <a:off x="868680" y="459943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Comparison with India</a:t>
            </a:r>
            <a:endParaRPr lang="en-US" sz="13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502920" y="4983480"/>
          <a:ext cx="5303520" cy="914400"/>
        </p:xfrm>
        <a:graphic>
          <a:graphicData uri="http://schemas.openxmlformats.org/drawingml/2006/table">
            <a:tbl>
              <a:tblPr/>
              <a:tblGrid>
                <a:gridCol w="1371600"/>
                <a:gridCol w="1965960"/>
                <a:gridCol w="1965960"/>
              </a:tblGrid>
              <a:tr h="237744">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Parameter</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Switzerland</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India</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Financing</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Advance recycling fee at purchase</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EPR certificate purchase by producers</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Consumer return</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Free, at any retailer</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Limited take-back points</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Collection</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approx. 15 kg per capita</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approx. 1 kg or less formally</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Enforcement</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Strong, audited</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Uneven across states</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35" name="Shape 26"/>
          <p:cNvSpPr/>
          <p:nvPr/>
        </p:nvSpPr>
        <p:spPr>
          <a:xfrm>
            <a:off x="6080760" y="4526280"/>
            <a:ext cx="5742432" cy="1874520"/>
          </a:xfrm>
          <a:prstGeom prst="roundRect">
            <a:avLst>
              <a:gd name="adj" fmla="val 3902"/>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36" name="Shape 27"/>
          <p:cNvSpPr/>
          <p:nvPr/>
        </p:nvSpPr>
        <p:spPr>
          <a:xfrm>
            <a:off x="6217920" y="4617720"/>
            <a:ext cx="292608" cy="292608"/>
          </a:xfrm>
          <a:prstGeom prst="ellipse">
            <a:avLst/>
          </a:prstGeom>
          <a:solidFill>
            <a:srgbClr val="127C6F"/>
          </a:solidFill>
          <a:ln w="12700">
            <a:solidFill>
              <a:srgbClr val="127C6F"/>
            </a:solidFill>
            <a:prstDash val="solid"/>
          </a:ln>
        </p:spPr>
      </p:sp>
      <p:pic>
        <p:nvPicPr>
          <p:cNvPr id="37" name="Image 5" descr="preencoded.png">    </p:cNvPr>
          <p:cNvPicPr>
            <a:picLocks noChangeAspect="1"/>
          </p:cNvPicPr>
          <p:nvPr/>
        </p:nvPicPr>
        <p:blipFill>
          <a:blip r:embed="rId6"/>
          <a:stretch>
            <a:fillRect/>
          </a:stretch>
        </p:blipFill>
        <p:spPr>
          <a:xfrm>
            <a:off x="6281928" y="4681728"/>
            <a:ext cx="164592" cy="164592"/>
          </a:xfrm>
          <a:prstGeom prst="rect">
            <a:avLst/>
          </a:prstGeom>
        </p:spPr>
      </p:pic>
      <p:sp>
        <p:nvSpPr>
          <p:cNvPr id="38" name="Text 28"/>
          <p:cNvSpPr txBox="1"/>
          <p:nvPr/>
        </p:nvSpPr>
        <p:spPr>
          <a:xfrm>
            <a:off x="6583680" y="459943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Recommendations</a:t>
            </a:r>
            <a:endParaRPr lang="en-US" sz="1300" dirty="0"/>
          </a:p>
        </p:txBody>
      </p:sp>
      <p:sp>
        <p:nvSpPr>
          <p:cNvPr id="39" name="Text 29"/>
          <p:cNvSpPr txBox="1"/>
          <p:nvPr/>
        </p:nvSpPr>
        <p:spPr>
          <a:xfrm>
            <a:off x="6217920" y="4983480"/>
            <a:ext cx="5486400" cy="868680"/>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Test an advance recycling fee or deposit-refund for high-volume products.</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Make retailer take-back compulsory and visible.</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Create industry-led producer responsibility organisations with audits.</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Publish yearly collection data per organisation.</a:t>
            </a:r>
            <a:endParaRPr lang="en-US" sz="1000" dirty="0"/>
          </a:p>
        </p:txBody>
      </p:sp>
      <p:sp>
        <p:nvSpPr>
          <p:cNvPr id="40" name="Shape 30"/>
          <p:cNvSpPr/>
          <p:nvPr/>
        </p:nvSpPr>
        <p:spPr>
          <a:xfrm>
            <a:off x="6217920" y="5852160"/>
            <a:ext cx="5468112" cy="457200"/>
          </a:xfrm>
          <a:prstGeom prst="roundRect">
            <a:avLst>
              <a:gd name="adj" fmla="val 12000"/>
            </a:avLst>
          </a:prstGeom>
          <a:solidFill>
            <a:srgbClr val="0B3D3A"/>
          </a:solidFill>
          <a:ln w="12700">
            <a:solidFill>
              <a:srgbClr val="0B3D3A"/>
            </a:solidFill>
            <a:prstDash val="solid"/>
          </a:ln>
        </p:spPr>
      </p:sp>
      <p:sp>
        <p:nvSpPr>
          <p:cNvPr id="41" name="Text 31"/>
          <p:cNvSpPr txBox="1"/>
          <p:nvPr/>
        </p:nvSpPr>
        <p:spPr>
          <a:xfrm>
            <a:off x="6309360" y="5852160"/>
            <a:ext cx="5303520" cy="457200"/>
          </a:xfrm>
          <a:prstGeom prst="rect">
            <a:avLst/>
          </a:prstGeom>
          <a:noFill/>
          <a:ln/>
        </p:spPr>
        <p:txBody>
          <a:bodyPr wrap="square" lIns="0" tIns="0" rIns="0" bIns="0"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Switzerland proves that a small visible fee plus easy return produces high collection.</a:t>
            </a:r>
            <a:endParaRPr lang="en-US" sz="950" dirty="0"/>
          </a:p>
        </p:txBody>
      </p:sp>
      <p:sp>
        <p:nvSpPr>
          <p:cNvPr id="42" name="Text 32"/>
          <p:cNvSpPr txBox="1"/>
          <p:nvPr/>
        </p:nvSpPr>
        <p:spPr>
          <a:xfrm>
            <a:off x="365760" y="6473952"/>
            <a:ext cx="11430000" cy="292608"/>
          </a:xfrm>
          <a:prstGeom prst="rect">
            <a:avLst/>
          </a:prstGeom>
          <a:noFill/>
          <a:ln/>
        </p:spPr>
        <p:txBody>
          <a:bodyPr wrap="square" lIns="0" tIns="0" rIns="0" bIns="0" rtlCol="0" anchor="t"/>
          <a:lstStyle/>
          <a:p>
            <a:pPr indent="0" marL="0">
              <a:buNone/>
            </a:pPr>
            <a:r>
              <a:rPr lang="en-US" sz="750" dirty="0">
                <a:solidFill>
                  <a:srgbClr val="5B6B69"/>
                </a:solidFill>
                <a:latin typeface="Calibri" pitchFamily="34" charset="0"/>
                <a:ea typeface="Calibri" pitchFamily="34" charset="-122"/>
                <a:cs typeface="Calibri" pitchFamily="34" charset="-120"/>
              </a:rPr>
              <a:t>Sources: SENS eRecycling – Annual Reports  |  SWICO Recycling – System information  |  Swiss Federal Office for the Environment (FOEN) – ORDEE  |  Global E-waste Monitor 2024, UNITAR/ITU</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7F5"/>
        </a:solidFill>
      </p:bgPr>
    </p:bg>
    <p:spTree>
      <p:nvGrpSpPr>
        <p:cNvPr id="1" name=""/>
        <p:cNvGrpSpPr/>
        <p:nvPr/>
      </p:nvGrpSpPr>
      <p:grpSpPr>
        <a:xfrm>
          <a:off x="0" y="0"/>
          <a:ext cx="0" cy="0"/>
          <a:chOff x="0" y="0"/>
          <a:chExt cx="0" cy="0"/>
        </a:xfrm>
      </p:grpSpPr>
      <p:sp>
        <p:nvSpPr>
          <p:cNvPr id="2" name="Shape 0"/>
          <p:cNvSpPr/>
          <p:nvPr/>
        </p:nvSpPr>
        <p:spPr>
          <a:xfrm>
            <a:off x="365760" y="274320"/>
            <a:ext cx="685800" cy="685800"/>
          </a:xfrm>
          <a:prstGeom prst="ellipse">
            <a:avLst/>
          </a:prstGeom>
          <a:solidFill>
            <a:srgbClr val="0B3D3A"/>
          </a:solidFill>
          <a:ln w="12700">
            <a:solidFill>
              <a:srgbClr val="0B3D3A"/>
            </a:solidFill>
            <a:prstDash val="solid"/>
          </a:ln>
        </p:spPr>
      </p:sp>
      <p:sp>
        <p:nvSpPr>
          <p:cNvPr id="3" name="Text 1"/>
          <p:cNvSpPr txBox="1"/>
          <p:nvPr/>
        </p:nvSpPr>
        <p:spPr>
          <a:xfrm>
            <a:off x="365760" y="274320"/>
            <a:ext cx="685800" cy="685800"/>
          </a:xfrm>
          <a:prstGeom prst="rect">
            <a:avLst/>
          </a:prstGeom>
          <a:noFill/>
          <a:ln/>
        </p:spPr>
        <p:txBody>
          <a:bodyPr wrap="square" lIns="0" tIns="0" rIns="0" bIns="0" rtlCol="0" anchor="ctr"/>
          <a:lstStyle/>
          <a:p>
            <a:pPr algn="ctr" indent="0" marL="0">
              <a:buNone/>
            </a:pPr>
            <a:r>
              <a:rPr lang="en-US" sz="2400" b="1" dirty="0">
                <a:solidFill>
                  <a:srgbClr val="3DDC97"/>
                </a:solidFill>
                <a:latin typeface="Cambria" pitchFamily="34" charset="0"/>
                <a:ea typeface="Cambria" pitchFamily="34" charset="-122"/>
                <a:cs typeface="Cambria" pitchFamily="34" charset="-120"/>
              </a:rPr>
              <a:t>3</a:t>
            </a:r>
            <a:endParaRPr lang="en-US" sz="2400" dirty="0"/>
          </a:p>
        </p:txBody>
      </p:sp>
      <p:sp>
        <p:nvSpPr>
          <p:cNvPr id="4" name="Text 2"/>
          <p:cNvSpPr txBox="1"/>
          <p:nvPr/>
        </p:nvSpPr>
        <p:spPr>
          <a:xfrm>
            <a:off x="1188720" y="228600"/>
            <a:ext cx="10607040" cy="777240"/>
          </a:xfrm>
          <a:prstGeom prst="rect">
            <a:avLst/>
          </a:prstGeom>
          <a:noFill/>
          <a:ln/>
        </p:spPr>
        <p:txBody>
          <a:bodyPr wrap="square" lIns="0" tIns="0" rIns="0" bIns="0" rtlCol="0" anchor="ctr"/>
          <a:lstStyle/>
          <a:p>
            <a:pPr indent="0" marL="0">
              <a:buNone/>
            </a:pPr>
            <a:r>
              <a:rPr lang="en-US" sz="2600" b="1" dirty="0">
                <a:solidFill>
                  <a:srgbClr val="0B3D3A"/>
                </a:solidFill>
                <a:latin typeface="Cambria" pitchFamily="34" charset="0"/>
                <a:ea typeface="Cambria" pitchFamily="34" charset="-122"/>
                <a:cs typeface="Cambria" pitchFamily="34" charset="-120"/>
              </a:rPr>
              <a:t>India's E-Waste (Management) Rules, 2022</a:t>
            </a:r>
            <a:endParaRPr lang="en-US" sz="2600" dirty="0"/>
          </a:p>
        </p:txBody>
      </p:sp>
      <p:sp>
        <p:nvSpPr>
          <p:cNvPr id="5" name="Shape 3"/>
          <p:cNvSpPr/>
          <p:nvPr/>
        </p:nvSpPr>
        <p:spPr>
          <a:xfrm>
            <a:off x="365760" y="1143000"/>
            <a:ext cx="4206240" cy="3246120"/>
          </a:xfrm>
          <a:prstGeom prst="roundRect">
            <a:avLst>
              <a:gd name="adj" fmla="val 2254"/>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6" name="Shape 4"/>
          <p:cNvSpPr/>
          <p:nvPr/>
        </p:nvSpPr>
        <p:spPr>
          <a:xfrm>
            <a:off x="502920" y="1261872"/>
            <a:ext cx="292608" cy="292608"/>
          </a:xfrm>
          <a:prstGeom prst="ellipse">
            <a:avLst/>
          </a:prstGeom>
          <a:solidFill>
            <a:srgbClr val="127C6F"/>
          </a:solidFill>
          <a:ln w="12700">
            <a:solidFill>
              <a:srgbClr val="127C6F"/>
            </a:solidFill>
            <a:prstDash val="solid"/>
          </a:ln>
        </p:spPr>
      </p:sp>
      <p:pic>
        <p:nvPicPr>
          <p:cNvPr id="7" name="Image 0" descr="preencoded.png">    </p:cNvPr>
          <p:cNvPicPr>
            <a:picLocks noChangeAspect="1"/>
          </p:cNvPicPr>
          <p:nvPr/>
        </p:nvPicPr>
        <p:blipFill>
          <a:blip r:embed="rId1"/>
          <a:stretch>
            <a:fillRect/>
          </a:stretch>
        </p:blipFill>
        <p:spPr>
          <a:xfrm>
            <a:off x="566928" y="1325880"/>
            <a:ext cx="164592" cy="164592"/>
          </a:xfrm>
          <a:prstGeom prst="rect">
            <a:avLst/>
          </a:prstGeom>
        </p:spPr>
      </p:pic>
      <p:sp>
        <p:nvSpPr>
          <p:cNvPr id="8" name="Text 5"/>
          <p:cNvSpPr txBox="1"/>
          <p:nvPr/>
        </p:nvSpPr>
        <p:spPr>
          <a:xfrm>
            <a:off x="868680" y="1243584"/>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Overview</a:t>
            </a:r>
            <a:endParaRPr lang="en-US" sz="1300" dirty="0"/>
          </a:p>
        </p:txBody>
      </p:sp>
      <p:sp>
        <p:nvSpPr>
          <p:cNvPr id="9" name="Text 6"/>
          <p:cNvSpPr txBox="1"/>
          <p:nvPr/>
        </p:nvSpPr>
        <p:spPr>
          <a:xfrm>
            <a:off x="502920" y="1627632"/>
            <a:ext cx="3931920" cy="1051560"/>
          </a:xfrm>
          <a:prstGeom prst="rect">
            <a:avLst/>
          </a:prstGeom>
          <a:noFill/>
          <a:ln/>
        </p:spPr>
        <p:txBody>
          <a:bodyPr wrap="square" lIns="0" tIns="0" rIns="0" bIns="0" rtlCol="0" anchor="t"/>
          <a:lstStyle/>
          <a:p>
            <a:pPr indent="0" marL="0">
              <a:buNone/>
            </a:pPr>
            <a:r>
              <a:rPr lang="en-US" sz="1050" dirty="0">
                <a:solidFill>
                  <a:srgbClr val="1E2B2A"/>
                </a:solidFill>
                <a:latin typeface="Calibri" pitchFamily="34" charset="0"/>
                <a:ea typeface="Calibri" pitchFamily="34" charset="-122"/>
                <a:cs typeface="Calibri" pitchFamily="34" charset="-120"/>
              </a:rPr>
              <a:t>The E-Waste (Management) Rules, 2022, effective 1 April 2023, replaced the 2016 rules with a digital, certificate-based EPR regime. Producers must meet yearly recycling targets by buying EPR certificates from registered recyclers. The rules widen coverage from 21 to 106 product types.</a:t>
            </a:r>
            <a:endParaRPr lang="en-US" sz="1050" dirty="0"/>
          </a:p>
        </p:txBody>
      </p:sp>
      <p:sp>
        <p:nvSpPr>
          <p:cNvPr id="10" name="Shape 7"/>
          <p:cNvSpPr/>
          <p:nvPr/>
        </p:nvSpPr>
        <p:spPr>
          <a:xfrm>
            <a:off x="502920" y="2697480"/>
            <a:ext cx="292608" cy="292608"/>
          </a:xfrm>
          <a:prstGeom prst="ellipse">
            <a:avLst/>
          </a:prstGeom>
          <a:solidFill>
            <a:srgbClr val="127C6F"/>
          </a:solidFill>
          <a:ln w="12700">
            <a:solidFill>
              <a:srgbClr val="127C6F"/>
            </a:solidFill>
            <a:prstDash val="solid"/>
          </a:ln>
        </p:spPr>
      </p:sp>
      <p:pic>
        <p:nvPicPr>
          <p:cNvPr id="11" name="Image 1" descr="preencoded.png">    </p:cNvPr>
          <p:cNvPicPr>
            <a:picLocks noChangeAspect="1"/>
          </p:cNvPicPr>
          <p:nvPr/>
        </p:nvPicPr>
        <p:blipFill>
          <a:blip r:embed="rId2"/>
          <a:stretch>
            <a:fillRect/>
          </a:stretch>
        </p:blipFill>
        <p:spPr>
          <a:xfrm>
            <a:off x="566928" y="2761488"/>
            <a:ext cx="164592" cy="164592"/>
          </a:xfrm>
          <a:prstGeom prst="rect">
            <a:avLst/>
          </a:prstGeom>
        </p:spPr>
      </p:pic>
      <p:sp>
        <p:nvSpPr>
          <p:cNvPr id="12" name="Text 8"/>
          <p:cNvSpPr txBox="1"/>
          <p:nvPr/>
        </p:nvSpPr>
        <p:spPr>
          <a:xfrm>
            <a:off x="868680" y="267919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Strategy / Initiative</a:t>
            </a:r>
            <a:endParaRPr lang="en-US" sz="1300" dirty="0"/>
          </a:p>
        </p:txBody>
      </p:sp>
      <p:sp>
        <p:nvSpPr>
          <p:cNvPr id="13" name="Text 9"/>
          <p:cNvSpPr txBox="1"/>
          <p:nvPr/>
        </p:nvSpPr>
        <p:spPr>
          <a:xfrm>
            <a:off x="502920" y="3044952"/>
            <a:ext cx="3931920" cy="1280160"/>
          </a:xfrm>
          <a:prstGeom prst="rect">
            <a:avLst/>
          </a:prstGeom>
          <a:noFill/>
          <a:ln/>
        </p:spPr>
        <p:txBody>
          <a:bodyPr wrap="square" lIns="0" tIns="0" rIns="0" bIns="0" rtlCol="0" anchor="t"/>
          <a:lstStyle/>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Online portal (CPCB) for registration of producers, manufacturers, refurbishers and recyclers.</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EPR certificates generated only after actual recycling, traded between producers and recyclers.</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Annual EPR targets rising from about 60% to 80% of the sales-based obligation.</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Floor prices for EPR certificates and environmental compensation for non-compliance.</a:t>
            </a:r>
            <a:endParaRPr lang="en-US" sz="950" dirty="0"/>
          </a:p>
        </p:txBody>
      </p:sp>
      <p:sp>
        <p:nvSpPr>
          <p:cNvPr id="14" name="Shape 10"/>
          <p:cNvSpPr/>
          <p:nvPr/>
        </p:nvSpPr>
        <p:spPr>
          <a:xfrm>
            <a:off x="4709160" y="1143000"/>
            <a:ext cx="3474720" cy="3246120"/>
          </a:xfrm>
          <a:prstGeom prst="roundRect">
            <a:avLst>
              <a:gd name="adj" fmla="val 2254"/>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15" name="Shape 11"/>
          <p:cNvSpPr/>
          <p:nvPr/>
        </p:nvSpPr>
        <p:spPr>
          <a:xfrm>
            <a:off x="4846320" y="1261872"/>
            <a:ext cx="292608" cy="292608"/>
          </a:xfrm>
          <a:prstGeom prst="ellipse">
            <a:avLst/>
          </a:prstGeom>
          <a:solidFill>
            <a:srgbClr val="127C6F"/>
          </a:solidFill>
          <a:ln w="12700">
            <a:solidFill>
              <a:srgbClr val="127C6F"/>
            </a:solidFill>
            <a:prstDash val="solid"/>
          </a:ln>
        </p:spPr>
      </p:sp>
      <p:pic>
        <p:nvPicPr>
          <p:cNvPr id="16" name="Image 2" descr="preencoded.png">    </p:cNvPr>
          <p:cNvPicPr>
            <a:picLocks noChangeAspect="1"/>
          </p:cNvPicPr>
          <p:nvPr/>
        </p:nvPicPr>
        <p:blipFill>
          <a:blip r:embed="rId3"/>
          <a:stretch>
            <a:fillRect/>
          </a:stretch>
        </p:blipFill>
        <p:spPr>
          <a:xfrm>
            <a:off x="4910328" y="1325880"/>
            <a:ext cx="164592" cy="164592"/>
          </a:xfrm>
          <a:prstGeom prst="rect">
            <a:avLst/>
          </a:prstGeom>
        </p:spPr>
      </p:pic>
      <p:sp>
        <p:nvSpPr>
          <p:cNvPr id="17" name="Text 12"/>
          <p:cNvSpPr txBox="1"/>
          <p:nvPr/>
        </p:nvSpPr>
        <p:spPr>
          <a:xfrm>
            <a:off x="5212080" y="1243584"/>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Impact &amp; Results</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846320" y="1645920"/>
          <a:ext cx="3200400" cy="914400"/>
        </p:xfrm>
        <a:graphic>
          <a:graphicData uri="http://schemas.openxmlformats.org/drawingml/2006/table">
            <a:tbl>
              <a:tblPr/>
              <a:tblGrid>
                <a:gridCol w="1188720"/>
                <a:gridCol w="2011680"/>
              </a:tblGrid>
              <a:tr h="256032">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Indicator</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Data</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127C6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Items covered</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106 (earlier 21)</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In force since</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1 April 2023</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E-waste generated (CPCB)</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approx. 1.6 million tonnes, 2021-22</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Formally processed share</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roughly one-fifth to one-third of generation</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EPR target trend</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approx. 60% rising to 80%</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bl>
          </a:graphicData>
        </a:graphic>
      </p:graphicFrame>
      <p:sp>
        <p:nvSpPr>
          <p:cNvPr id="19" name="Shape 13"/>
          <p:cNvSpPr/>
          <p:nvPr/>
        </p:nvSpPr>
        <p:spPr>
          <a:xfrm>
            <a:off x="8321040" y="1161288"/>
            <a:ext cx="292608" cy="292608"/>
          </a:xfrm>
          <a:prstGeom prst="ellipse">
            <a:avLst/>
          </a:prstGeom>
          <a:solidFill>
            <a:srgbClr val="127C6F"/>
          </a:solidFill>
          <a:ln w="12700">
            <a:solidFill>
              <a:srgbClr val="127C6F"/>
            </a:solidFill>
            <a:prstDash val="solid"/>
          </a:ln>
        </p:spPr>
      </p:sp>
      <p:pic>
        <p:nvPicPr>
          <p:cNvPr id="20" name="Image 3" descr="preencoded.png">    </p:cNvPr>
          <p:cNvPicPr>
            <a:picLocks noChangeAspect="1"/>
          </p:cNvPicPr>
          <p:nvPr/>
        </p:nvPicPr>
        <p:blipFill>
          <a:blip r:embed="rId4"/>
          <a:stretch>
            <a:fillRect/>
          </a:stretch>
        </p:blipFill>
        <p:spPr>
          <a:xfrm>
            <a:off x="8385048" y="1225296"/>
            <a:ext cx="164592" cy="164592"/>
          </a:xfrm>
          <a:prstGeom prst="rect">
            <a:avLst/>
          </a:prstGeom>
        </p:spPr>
      </p:pic>
      <p:sp>
        <p:nvSpPr>
          <p:cNvPr id="21" name="Text 14"/>
          <p:cNvSpPr txBox="1"/>
          <p:nvPr/>
        </p:nvSpPr>
        <p:spPr>
          <a:xfrm>
            <a:off x="8686800" y="1143000"/>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SWOT Analysis</a:t>
            </a:r>
            <a:endParaRPr lang="en-US" sz="1300" dirty="0"/>
          </a:p>
        </p:txBody>
      </p:sp>
      <p:sp>
        <p:nvSpPr>
          <p:cNvPr id="22" name="Shape 15"/>
          <p:cNvSpPr/>
          <p:nvPr/>
        </p:nvSpPr>
        <p:spPr>
          <a:xfrm>
            <a:off x="8321040" y="1554480"/>
            <a:ext cx="1719072" cy="1371600"/>
          </a:xfrm>
          <a:prstGeom prst="roundRect">
            <a:avLst>
              <a:gd name="adj" fmla="val 5333"/>
            </a:avLst>
          </a:prstGeom>
          <a:solidFill>
            <a:srgbClr val="DDF3E4"/>
          </a:solidFill>
          <a:ln w="12700">
            <a:solidFill>
              <a:srgbClr val="DDF3E4"/>
            </a:solidFill>
            <a:prstDash val="solid"/>
          </a:ln>
        </p:spPr>
      </p:sp>
      <p:sp>
        <p:nvSpPr>
          <p:cNvPr id="23" name="Text 16"/>
          <p:cNvSpPr txBox="1"/>
          <p:nvPr/>
        </p:nvSpPr>
        <p:spPr>
          <a:xfrm>
            <a:off x="8412480" y="160934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1E7A3C"/>
                </a:solidFill>
                <a:latin typeface="Calibri" pitchFamily="34" charset="0"/>
                <a:ea typeface="Calibri" pitchFamily="34" charset="-122"/>
                <a:cs typeface="Calibri" pitchFamily="34" charset="-120"/>
              </a:rPr>
              <a:t>Strengths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Digital tracking of certificates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Wide product coverage</a:t>
            </a:r>
            <a:endParaRPr lang="en-US" sz="1100" dirty="0"/>
          </a:p>
        </p:txBody>
      </p:sp>
      <p:sp>
        <p:nvSpPr>
          <p:cNvPr id="24" name="Shape 17"/>
          <p:cNvSpPr/>
          <p:nvPr/>
        </p:nvSpPr>
        <p:spPr>
          <a:xfrm>
            <a:off x="10085832" y="1554480"/>
            <a:ext cx="1719072" cy="1371600"/>
          </a:xfrm>
          <a:prstGeom prst="roundRect">
            <a:avLst>
              <a:gd name="adj" fmla="val 5333"/>
            </a:avLst>
          </a:prstGeom>
          <a:solidFill>
            <a:srgbClr val="FBE0DE"/>
          </a:solidFill>
          <a:ln w="12700">
            <a:solidFill>
              <a:srgbClr val="FBE0DE"/>
            </a:solidFill>
            <a:prstDash val="solid"/>
          </a:ln>
        </p:spPr>
      </p:sp>
      <p:sp>
        <p:nvSpPr>
          <p:cNvPr id="25" name="Text 18"/>
          <p:cNvSpPr txBox="1"/>
          <p:nvPr/>
        </p:nvSpPr>
        <p:spPr>
          <a:xfrm>
            <a:off x="10177272" y="160934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B23B2E"/>
                </a:solidFill>
                <a:latin typeface="Calibri" pitchFamily="34" charset="0"/>
                <a:ea typeface="Calibri" pitchFamily="34" charset="-122"/>
                <a:cs typeface="Calibri" pitchFamily="34" charset="-120"/>
              </a:rPr>
              <a:t>Weaknesses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Informal sector is still outside the system</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Limited inspection capacity</a:t>
            </a:r>
            <a:endParaRPr lang="en-US" sz="1100" dirty="0"/>
          </a:p>
        </p:txBody>
      </p:sp>
      <p:sp>
        <p:nvSpPr>
          <p:cNvPr id="26" name="Shape 19"/>
          <p:cNvSpPr/>
          <p:nvPr/>
        </p:nvSpPr>
        <p:spPr>
          <a:xfrm>
            <a:off x="8321040" y="3017520"/>
            <a:ext cx="1719072" cy="1371600"/>
          </a:xfrm>
          <a:prstGeom prst="roundRect">
            <a:avLst>
              <a:gd name="adj" fmla="val 5333"/>
            </a:avLst>
          </a:prstGeom>
          <a:solidFill>
            <a:srgbClr val="DCEBFA"/>
          </a:solidFill>
          <a:ln w="12700">
            <a:solidFill>
              <a:srgbClr val="DCEBFA"/>
            </a:solidFill>
            <a:prstDash val="solid"/>
          </a:ln>
        </p:spPr>
      </p:sp>
      <p:sp>
        <p:nvSpPr>
          <p:cNvPr id="27" name="Text 20"/>
          <p:cNvSpPr txBox="1"/>
          <p:nvPr/>
        </p:nvSpPr>
        <p:spPr>
          <a:xfrm>
            <a:off x="8412480" y="307238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1F5FA8"/>
                </a:solidFill>
                <a:latin typeface="Calibri" pitchFamily="34" charset="0"/>
                <a:ea typeface="Calibri" pitchFamily="34" charset="-122"/>
                <a:cs typeface="Calibri" pitchFamily="34" charset="-120"/>
              </a:rPr>
              <a:t>Opportunities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Formalise recycling and create green jobs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Encourage refurbishing and reuse</a:t>
            </a:r>
            <a:endParaRPr lang="en-US" sz="1100" dirty="0"/>
          </a:p>
        </p:txBody>
      </p:sp>
      <p:sp>
        <p:nvSpPr>
          <p:cNvPr id="28" name="Shape 21"/>
          <p:cNvSpPr/>
          <p:nvPr/>
        </p:nvSpPr>
        <p:spPr>
          <a:xfrm>
            <a:off x="10085832" y="3017520"/>
            <a:ext cx="1719072" cy="1371600"/>
          </a:xfrm>
          <a:prstGeom prst="roundRect">
            <a:avLst>
              <a:gd name="adj" fmla="val 5333"/>
            </a:avLst>
          </a:prstGeom>
          <a:solidFill>
            <a:srgbClr val="FDEBD0"/>
          </a:solidFill>
          <a:ln w="12700">
            <a:solidFill>
              <a:srgbClr val="FDEBD0"/>
            </a:solidFill>
            <a:prstDash val="solid"/>
          </a:ln>
        </p:spPr>
      </p:sp>
      <p:sp>
        <p:nvSpPr>
          <p:cNvPr id="29" name="Text 22"/>
          <p:cNvSpPr txBox="1"/>
          <p:nvPr/>
        </p:nvSpPr>
        <p:spPr>
          <a:xfrm>
            <a:off x="10177272" y="307238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B96A0A"/>
                </a:solidFill>
                <a:latin typeface="Calibri" pitchFamily="34" charset="0"/>
                <a:ea typeface="Calibri" pitchFamily="34" charset="-122"/>
                <a:cs typeface="Calibri" pitchFamily="34" charset="-120"/>
              </a:rPr>
              <a:t>Threats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Fake or duplicate certificates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Low consumer awareness</a:t>
            </a:r>
            <a:endParaRPr lang="en-US" sz="1100" dirty="0"/>
          </a:p>
        </p:txBody>
      </p:sp>
      <p:sp>
        <p:nvSpPr>
          <p:cNvPr id="30" name="Shape 23"/>
          <p:cNvSpPr/>
          <p:nvPr/>
        </p:nvSpPr>
        <p:spPr>
          <a:xfrm>
            <a:off x="365760" y="4526280"/>
            <a:ext cx="5577840" cy="1874520"/>
          </a:xfrm>
          <a:prstGeom prst="roundRect">
            <a:avLst>
              <a:gd name="adj" fmla="val 3902"/>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31" name="Shape 24"/>
          <p:cNvSpPr/>
          <p:nvPr/>
        </p:nvSpPr>
        <p:spPr>
          <a:xfrm>
            <a:off x="502920" y="4617720"/>
            <a:ext cx="292608" cy="292608"/>
          </a:xfrm>
          <a:prstGeom prst="ellipse">
            <a:avLst/>
          </a:prstGeom>
          <a:solidFill>
            <a:srgbClr val="127C6F"/>
          </a:solidFill>
          <a:ln w="12700">
            <a:solidFill>
              <a:srgbClr val="127C6F"/>
            </a:solidFill>
            <a:prstDash val="solid"/>
          </a:ln>
        </p:spPr>
      </p:sp>
      <p:pic>
        <p:nvPicPr>
          <p:cNvPr id="32" name="Image 4" descr="preencoded.png">    </p:cNvPr>
          <p:cNvPicPr>
            <a:picLocks noChangeAspect="1"/>
          </p:cNvPicPr>
          <p:nvPr/>
        </p:nvPicPr>
        <p:blipFill>
          <a:blip r:embed="rId5"/>
          <a:stretch>
            <a:fillRect/>
          </a:stretch>
        </p:blipFill>
        <p:spPr>
          <a:xfrm>
            <a:off x="566928" y="4681728"/>
            <a:ext cx="164592" cy="164592"/>
          </a:xfrm>
          <a:prstGeom prst="rect">
            <a:avLst/>
          </a:prstGeom>
        </p:spPr>
      </p:pic>
      <p:sp>
        <p:nvSpPr>
          <p:cNvPr id="33" name="Text 25"/>
          <p:cNvSpPr txBox="1"/>
          <p:nvPr/>
        </p:nvSpPr>
        <p:spPr>
          <a:xfrm>
            <a:off x="868680" y="459943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Comparison with India</a:t>
            </a:r>
            <a:endParaRPr lang="en-US" sz="1300" dirty="0"/>
          </a:p>
        </p:txBody>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502920" y="4983480"/>
          <a:ext cx="5303520" cy="914400"/>
        </p:xfrm>
        <a:graphic>
          <a:graphicData uri="http://schemas.openxmlformats.org/drawingml/2006/table">
            <a:tbl>
              <a:tblPr/>
              <a:tblGrid>
                <a:gridCol w="1371600"/>
                <a:gridCol w="1965960"/>
                <a:gridCol w="1965960"/>
              </a:tblGrid>
              <a:tr h="237744">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Parameter</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Rules 2016</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Rules 2022</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Approach</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EPR with PRO, deposit refund</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Certificate-based EPR, portal-driven</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Items covered</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21</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106</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Verification</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Paper reports</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Online tracking of certificates</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Refurbishers</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Not recognised</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Registered and covered</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35" name="Shape 26"/>
          <p:cNvSpPr/>
          <p:nvPr/>
        </p:nvSpPr>
        <p:spPr>
          <a:xfrm>
            <a:off x="6080760" y="4526280"/>
            <a:ext cx="5742432" cy="1874520"/>
          </a:xfrm>
          <a:prstGeom prst="roundRect">
            <a:avLst>
              <a:gd name="adj" fmla="val 3902"/>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36" name="Shape 27"/>
          <p:cNvSpPr/>
          <p:nvPr/>
        </p:nvSpPr>
        <p:spPr>
          <a:xfrm>
            <a:off x="6217920" y="4617720"/>
            <a:ext cx="292608" cy="292608"/>
          </a:xfrm>
          <a:prstGeom prst="ellipse">
            <a:avLst/>
          </a:prstGeom>
          <a:solidFill>
            <a:srgbClr val="127C6F"/>
          </a:solidFill>
          <a:ln w="12700">
            <a:solidFill>
              <a:srgbClr val="127C6F"/>
            </a:solidFill>
            <a:prstDash val="solid"/>
          </a:ln>
        </p:spPr>
      </p:sp>
      <p:pic>
        <p:nvPicPr>
          <p:cNvPr id="37" name="Image 5" descr="preencoded.png">    </p:cNvPr>
          <p:cNvPicPr>
            <a:picLocks noChangeAspect="1"/>
          </p:cNvPicPr>
          <p:nvPr/>
        </p:nvPicPr>
        <p:blipFill>
          <a:blip r:embed="rId6"/>
          <a:stretch>
            <a:fillRect/>
          </a:stretch>
        </p:blipFill>
        <p:spPr>
          <a:xfrm>
            <a:off x="6281928" y="4681728"/>
            <a:ext cx="164592" cy="164592"/>
          </a:xfrm>
          <a:prstGeom prst="rect">
            <a:avLst/>
          </a:prstGeom>
        </p:spPr>
      </p:pic>
      <p:sp>
        <p:nvSpPr>
          <p:cNvPr id="38" name="Text 28"/>
          <p:cNvSpPr txBox="1"/>
          <p:nvPr/>
        </p:nvSpPr>
        <p:spPr>
          <a:xfrm>
            <a:off x="6583680" y="459943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Recommendations</a:t>
            </a:r>
            <a:endParaRPr lang="en-US" sz="1300" dirty="0"/>
          </a:p>
        </p:txBody>
      </p:sp>
      <p:sp>
        <p:nvSpPr>
          <p:cNvPr id="39" name="Text 29"/>
          <p:cNvSpPr txBox="1"/>
          <p:nvPr/>
        </p:nvSpPr>
        <p:spPr>
          <a:xfrm>
            <a:off x="6217920" y="4983480"/>
            <a:ext cx="5486400" cy="868680"/>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Strengthen audits and cross-verification of certificate claims.</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Provide a defined role and incentives for informal collectors.</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Run consumer awareness on return channels.</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Set state-wise collection targets, not only national ones.</a:t>
            </a:r>
            <a:endParaRPr lang="en-US" sz="1000" dirty="0"/>
          </a:p>
        </p:txBody>
      </p:sp>
      <p:sp>
        <p:nvSpPr>
          <p:cNvPr id="40" name="Shape 30"/>
          <p:cNvSpPr/>
          <p:nvPr/>
        </p:nvSpPr>
        <p:spPr>
          <a:xfrm>
            <a:off x="6217920" y="5852160"/>
            <a:ext cx="5468112" cy="457200"/>
          </a:xfrm>
          <a:prstGeom prst="roundRect">
            <a:avLst>
              <a:gd name="adj" fmla="val 12000"/>
            </a:avLst>
          </a:prstGeom>
          <a:solidFill>
            <a:srgbClr val="0B3D3A"/>
          </a:solidFill>
          <a:ln w="12700">
            <a:solidFill>
              <a:srgbClr val="0B3D3A"/>
            </a:solidFill>
            <a:prstDash val="solid"/>
          </a:ln>
        </p:spPr>
      </p:sp>
      <p:sp>
        <p:nvSpPr>
          <p:cNvPr id="41" name="Text 31"/>
          <p:cNvSpPr txBox="1"/>
          <p:nvPr/>
        </p:nvSpPr>
        <p:spPr>
          <a:xfrm>
            <a:off x="6309360" y="5852160"/>
            <a:ext cx="5303520" cy="457200"/>
          </a:xfrm>
          <a:prstGeom prst="rect">
            <a:avLst/>
          </a:prstGeom>
          <a:noFill/>
          <a:ln/>
        </p:spPr>
        <p:txBody>
          <a:bodyPr wrap="square" lIns="0" tIns="0" rIns="0" bIns="0"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The 2022 rules are a major step forward on design.</a:t>
            </a:r>
            <a:endParaRPr lang="en-US" sz="950" dirty="0"/>
          </a:p>
        </p:txBody>
      </p:sp>
      <p:sp>
        <p:nvSpPr>
          <p:cNvPr id="42" name="Text 32"/>
          <p:cNvSpPr txBox="1"/>
          <p:nvPr/>
        </p:nvSpPr>
        <p:spPr>
          <a:xfrm>
            <a:off x="365760" y="6473952"/>
            <a:ext cx="11430000" cy="292608"/>
          </a:xfrm>
          <a:prstGeom prst="rect">
            <a:avLst/>
          </a:prstGeom>
          <a:noFill/>
          <a:ln/>
        </p:spPr>
        <p:txBody>
          <a:bodyPr wrap="square" lIns="0" tIns="0" rIns="0" bIns="0" rtlCol="0" anchor="t"/>
          <a:lstStyle/>
          <a:p>
            <a:pPr indent="0" marL="0">
              <a:buNone/>
            </a:pPr>
            <a:r>
              <a:rPr lang="en-US" sz="750" dirty="0">
                <a:solidFill>
                  <a:srgbClr val="5B6B69"/>
                </a:solidFill>
                <a:latin typeface="Calibri" pitchFamily="34" charset="0"/>
                <a:ea typeface="Calibri" pitchFamily="34" charset="-122"/>
                <a:cs typeface="Calibri" pitchFamily="34" charset="-120"/>
              </a:rPr>
              <a:t>Sources: MoEFCC – E-Waste (Management) Rules, 2022 (Gazette notification)  |  Central Pollution Control Board – E-waste EPR portal and annual reports  |  Global E-waste Monitor 2024</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F7F5"/>
        </a:solidFill>
      </p:bgPr>
    </p:bg>
    <p:spTree>
      <p:nvGrpSpPr>
        <p:cNvPr id="1" name=""/>
        <p:cNvGrpSpPr/>
        <p:nvPr/>
      </p:nvGrpSpPr>
      <p:grpSpPr>
        <a:xfrm>
          <a:off x="0" y="0"/>
          <a:ext cx="0" cy="0"/>
          <a:chOff x="0" y="0"/>
          <a:chExt cx="0" cy="0"/>
        </a:xfrm>
      </p:grpSpPr>
      <p:sp>
        <p:nvSpPr>
          <p:cNvPr id="2" name="Shape 0"/>
          <p:cNvSpPr/>
          <p:nvPr/>
        </p:nvSpPr>
        <p:spPr>
          <a:xfrm>
            <a:off x="365760" y="274320"/>
            <a:ext cx="685800" cy="685800"/>
          </a:xfrm>
          <a:prstGeom prst="ellipse">
            <a:avLst/>
          </a:prstGeom>
          <a:solidFill>
            <a:srgbClr val="0B3D3A"/>
          </a:solidFill>
          <a:ln w="12700">
            <a:solidFill>
              <a:srgbClr val="0B3D3A"/>
            </a:solidFill>
            <a:prstDash val="solid"/>
          </a:ln>
        </p:spPr>
      </p:sp>
      <p:sp>
        <p:nvSpPr>
          <p:cNvPr id="3" name="Text 1"/>
          <p:cNvSpPr txBox="1"/>
          <p:nvPr/>
        </p:nvSpPr>
        <p:spPr>
          <a:xfrm>
            <a:off x="365760" y="274320"/>
            <a:ext cx="685800" cy="685800"/>
          </a:xfrm>
          <a:prstGeom prst="rect">
            <a:avLst/>
          </a:prstGeom>
          <a:noFill/>
          <a:ln/>
        </p:spPr>
        <p:txBody>
          <a:bodyPr wrap="square" lIns="0" tIns="0" rIns="0" bIns="0" rtlCol="0" anchor="ctr"/>
          <a:lstStyle/>
          <a:p>
            <a:pPr algn="ctr" indent="0" marL="0">
              <a:buNone/>
            </a:pPr>
            <a:r>
              <a:rPr lang="en-US" sz="2400" b="1" dirty="0">
                <a:solidFill>
                  <a:srgbClr val="3DDC97"/>
                </a:solidFill>
                <a:latin typeface="Cambria" pitchFamily="34" charset="0"/>
                <a:ea typeface="Cambria" pitchFamily="34" charset="-122"/>
                <a:cs typeface="Cambria" pitchFamily="34" charset="-120"/>
              </a:rPr>
              <a:t>4</a:t>
            </a:r>
            <a:endParaRPr lang="en-US" sz="2400" dirty="0"/>
          </a:p>
        </p:txBody>
      </p:sp>
      <p:sp>
        <p:nvSpPr>
          <p:cNvPr id="4" name="Text 2"/>
          <p:cNvSpPr txBox="1"/>
          <p:nvPr/>
        </p:nvSpPr>
        <p:spPr>
          <a:xfrm>
            <a:off x="1188720" y="228600"/>
            <a:ext cx="10607040" cy="777240"/>
          </a:xfrm>
          <a:prstGeom prst="rect">
            <a:avLst/>
          </a:prstGeom>
          <a:noFill/>
          <a:ln/>
        </p:spPr>
        <p:txBody>
          <a:bodyPr wrap="square" lIns="0" tIns="0" rIns="0" bIns="0" rtlCol="0" anchor="ctr"/>
          <a:lstStyle/>
          <a:p>
            <a:pPr indent="0" marL="0">
              <a:buNone/>
            </a:pPr>
            <a:r>
              <a:rPr lang="en-US" sz="2200" b="1" dirty="0">
                <a:solidFill>
                  <a:srgbClr val="0B3D3A"/>
                </a:solidFill>
                <a:latin typeface="Cambria" pitchFamily="34" charset="0"/>
                <a:ea typeface="Cambria" pitchFamily="34" charset="-122"/>
                <a:cs typeface="Cambria" pitchFamily="34" charset="-120"/>
              </a:rPr>
              <a:t>India's Extended Producer Responsibility (EPR): Success or Paper Compliance?</a:t>
            </a:r>
            <a:endParaRPr lang="en-US" sz="2200" dirty="0"/>
          </a:p>
        </p:txBody>
      </p:sp>
      <p:sp>
        <p:nvSpPr>
          <p:cNvPr id="5" name="Shape 3"/>
          <p:cNvSpPr/>
          <p:nvPr/>
        </p:nvSpPr>
        <p:spPr>
          <a:xfrm>
            <a:off x="365760" y="1143000"/>
            <a:ext cx="4206240" cy="3246120"/>
          </a:xfrm>
          <a:prstGeom prst="roundRect">
            <a:avLst>
              <a:gd name="adj" fmla="val 2254"/>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6" name="Shape 4"/>
          <p:cNvSpPr/>
          <p:nvPr/>
        </p:nvSpPr>
        <p:spPr>
          <a:xfrm>
            <a:off x="502920" y="1261872"/>
            <a:ext cx="292608" cy="292608"/>
          </a:xfrm>
          <a:prstGeom prst="ellipse">
            <a:avLst/>
          </a:prstGeom>
          <a:solidFill>
            <a:srgbClr val="127C6F"/>
          </a:solidFill>
          <a:ln w="12700">
            <a:solidFill>
              <a:srgbClr val="127C6F"/>
            </a:solidFill>
            <a:prstDash val="solid"/>
          </a:ln>
        </p:spPr>
      </p:sp>
      <p:pic>
        <p:nvPicPr>
          <p:cNvPr id="7" name="Image 0" descr="preencoded.png">    </p:cNvPr>
          <p:cNvPicPr>
            <a:picLocks noChangeAspect="1"/>
          </p:cNvPicPr>
          <p:nvPr/>
        </p:nvPicPr>
        <p:blipFill>
          <a:blip r:embed="rId1"/>
          <a:stretch>
            <a:fillRect/>
          </a:stretch>
        </p:blipFill>
        <p:spPr>
          <a:xfrm>
            <a:off x="566928" y="1325880"/>
            <a:ext cx="164592" cy="164592"/>
          </a:xfrm>
          <a:prstGeom prst="rect">
            <a:avLst/>
          </a:prstGeom>
        </p:spPr>
      </p:pic>
      <p:sp>
        <p:nvSpPr>
          <p:cNvPr id="8" name="Text 5"/>
          <p:cNvSpPr txBox="1"/>
          <p:nvPr/>
        </p:nvSpPr>
        <p:spPr>
          <a:xfrm>
            <a:off x="868680" y="1243584"/>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Overview</a:t>
            </a:r>
            <a:endParaRPr lang="en-US" sz="1300" dirty="0"/>
          </a:p>
        </p:txBody>
      </p:sp>
      <p:sp>
        <p:nvSpPr>
          <p:cNvPr id="9" name="Text 6"/>
          <p:cNvSpPr txBox="1"/>
          <p:nvPr/>
        </p:nvSpPr>
        <p:spPr>
          <a:xfrm>
            <a:off x="502920" y="1627632"/>
            <a:ext cx="3931920" cy="1051560"/>
          </a:xfrm>
          <a:prstGeom prst="rect">
            <a:avLst/>
          </a:prstGeom>
          <a:noFill/>
          <a:ln/>
        </p:spPr>
        <p:txBody>
          <a:bodyPr wrap="square" lIns="0" tIns="0" rIns="0" bIns="0" rtlCol="0" anchor="t"/>
          <a:lstStyle/>
          <a:p>
            <a:pPr indent="0" marL="0">
              <a:buNone/>
            </a:pPr>
            <a:r>
              <a:rPr lang="en-US" sz="1050" dirty="0">
                <a:solidFill>
                  <a:srgbClr val="1E2B2A"/>
                </a:solidFill>
                <a:latin typeface="Calibri" pitchFamily="34" charset="0"/>
                <a:ea typeface="Calibri" pitchFamily="34" charset="-122"/>
                <a:cs typeface="Calibri" pitchFamily="34" charset="-120"/>
              </a:rPr>
              <a:t>EPR makes producers responsible for the end-of-life of their products. India has used it since 2012, but reported collection remains well below what is generated. The debate is whether EPR reduces pollution or mainly produces certificates.</a:t>
            </a:r>
            <a:endParaRPr lang="en-US" sz="1050" dirty="0"/>
          </a:p>
        </p:txBody>
      </p:sp>
      <p:sp>
        <p:nvSpPr>
          <p:cNvPr id="10" name="Shape 7"/>
          <p:cNvSpPr/>
          <p:nvPr/>
        </p:nvSpPr>
        <p:spPr>
          <a:xfrm>
            <a:off x="502920" y="2697480"/>
            <a:ext cx="292608" cy="292608"/>
          </a:xfrm>
          <a:prstGeom prst="ellipse">
            <a:avLst/>
          </a:prstGeom>
          <a:solidFill>
            <a:srgbClr val="127C6F"/>
          </a:solidFill>
          <a:ln w="12700">
            <a:solidFill>
              <a:srgbClr val="127C6F"/>
            </a:solidFill>
            <a:prstDash val="solid"/>
          </a:ln>
        </p:spPr>
      </p:sp>
      <p:pic>
        <p:nvPicPr>
          <p:cNvPr id="11" name="Image 1" descr="preencoded.png">    </p:cNvPr>
          <p:cNvPicPr>
            <a:picLocks noChangeAspect="1"/>
          </p:cNvPicPr>
          <p:nvPr/>
        </p:nvPicPr>
        <p:blipFill>
          <a:blip r:embed="rId2"/>
          <a:stretch>
            <a:fillRect/>
          </a:stretch>
        </p:blipFill>
        <p:spPr>
          <a:xfrm>
            <a:off x="566928" y="2761488"/>
            <a:ext cx="164592" cy="164592"/>
          </a:xfrm>
          <a:prstGeom prst="rect">
            <a:avLst/>
          </a:prstGeom>
        </p:spPr>
      </p:pic>
      <p:sp>
        <p:nvSpPr>
          <p:cNvPr id="12" name="Text 8"/>
          <p:cNvSpPr txBox="1"/>
          <p:nvPr/>
        </p:nvSpPr>
        <p:spPr>
          <a:xfrm>
            <a:off x="868680" y="267919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Strategy / Initiative</a:t>
            </a:r>
            <a:endParaRPr lang="en-US" sz="1300" dirty="0"/>
          </a:p>
        </p:txBody>
      </p:sp>
      <p:sp>
        <p:nvSpPr>
          <p:cNvPr id="13" name="Text 9"/>
          <p:cNvSpPr txBox="1"/>
          <p:nvPr/>
        </p:nvSpPr>
        <p:spPr>
          <a:xfrm>
            <a:off x="502920" y="3044952"/>
            <a:ext cx="3931920" cy="1280160"/>
          </a:xfrm>
          <a:prstGeom prst="rect">
            <a:avLst/>
          </a:prstGeom>
          <a:noFill/>
          <a:ln/>
        </p:spPr>
        <p:txBody>
          <a:bodyPr wrap="square" lIns="0" tIns="0" rIns="0" bIns="0" rtlCol="0" anchor="t"/>
          <a:lstStyle/>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Producers register and file EPR plans and annual returns.</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Producers meet targets through recyclers via PROs or directly.</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EPR certificates and floor price add market incentive.</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Regulator checks through CPCB portal, audits and penalties.</a:t>
            </a:r>
            <a:endParaRPr lang="en-US" sz="950" dirty="0"/>
          </a:p>
        </p:txBody>
      </p:sp>
      <p:sp>
        <p:nvSpPr>
          <p:cNvPr id="14" name="Shape 10"/>
          <p:cNvSpPr/>
          <p:nvPr/>
        </p:nvSpPr>
        <p:spPr>
          <a:xfrm>
            <a:off x="4709160" y="1143000"/>
            <a:ext cx="3474720" cy="3246120"/>
          </a:xfrm>
          <a:prstGeom prst="roundRect">
            <a:avLst>
              <a:gd name="adj" fmla="val 2254"/>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15" name="Shape 11"/>
          <p:cNvSpPr/>
          <p:nvPr/>
        </p:nvSpPr>
        <p:spPr>
          <a:xfrm>
            <a:off x="4846320" y="1261872"/>
            <a:ext cx="292608" cy="292608"/>
          </a:xfrm>
          <a:prstGeom prst="ellipse">
            <a:avLst/>
          </a:prstGeom>
          <a:solidFill>
            <a:srgbClr val="127C6F"/>
          </a:solidFill>
          <a:ln w="12700">
            <a:solidFill>
              <a:srgbClr val="127C6F"/>
            </a:solidFill>
            <a:prstDash val="solid"/>
          </a:ln>
        </p:spPr>
      </p:sp>
      <p:pic>
        <p:nvPicPr>
          <p:cNvPr id="16" name="Image 2" descr="preencoded.png">    </p:cNvPr>
          <p:cNvPicPr>
            <a:picLocks noChangeAspect="1"/>
          </p:cNvPicPr>
          <p:nvPr/>
        </p:nvPicPr>
        <p:blipFill>
          <a:blip r:embed="rId3"/>
          <a:stretch>
            <a:fillRect/>
          </a:stretch>
        </p:blipFill>
        <p:spPr>
          <a:xfrm>
            <a:off x="4910328" y="1325880"/>
            <a:ext cx="164592" cy="164592"/>
          </a:xfrm>
          <a:prstGeom prst="rect">
            <a:avLst/>
          </a:prstGeom>
        </p:spPr>
      </p:pic>
      <p:sp>
        <p:nvSpPr>
          <p:cNvPr id="17" name="Text 12"/>
          <p:cNvSpPr txBox="1"/>
          <p:nvPr/>
        </p:nvSpPr>
        <p:spPr>
          <a:xfrm>
            <a:off x="5212080" y="1243584"/>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Impact &amp; Results</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846320" y="1645920"/>
          <a:ext cx="3200400" cy="914400"/>
        </p:xfrm>
        <a:graphic>
          <a:graphicData uri="http://schemas.openxmlformats.org/drawingml/2006/table">
            <a:tbl>
              <a:tblPr/>
              <a:tblGrid>
                <a:gridCol w="1188720"/>
                <a:gridCol w="2011680"/>
              </a:tblGrid>
              <a:tr h="256032">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Indicator</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Data</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127C6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E-waste generated</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approx. 1.6 Mt (2021-22, CPCB)</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Formally processed</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roughly one-fifth to one-third</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Informal share of handling</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majority (commonly cited at 70-90%)</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Authorised recycling capacity</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well above quantity processed</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Audit / enforcement</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limited; cases of certificate mismatch reported</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bl>
          </a:graphicData>
        </a:graphic>
      </p:graphicFrame>
      <p:sp>
        <p:nvSpPr>
          <p:cNvPr id="19" name="Shape 13"/>
          <p:cNvSpPr/>
          <p:nvPr/>
        </p:nvSpPr>
        <p:spPr>
          <a:xfrm>
            <a:off x="8321040" y="1161288"/>
            <a:ext cx="292608" cy="292608"/>
          </a:xfrm>
          <a:prstGeom prst="ellipse">
            <a:avLst/>
          </a:prstGeom>
          <a:solidFill>
            <a:srgbClr val="127C6F"/>
          </a:solidFill>
          <a:ln w="12700">
            <a:solidFill>
              <a:srgbClr val="127C6F"/>
            </a:solidFill>
            <a:prstDash val="solid"/>
          </a:ln>
        </p:spPr>
      </p:sp>
      <p:pic>
        <p:nvPicPr>
          <p:cNvPr id="20" name="Image 3" descr="preencoded.png">    </p:cNvPr>
          <p:cNvPicPr>
            <a:picLocks noChangeAspect="1"/>
          </p:cNvPicPr>
          <p:nvPr/>
        </p:nvPicPr>
        <p:blipFill>
          <a:blip r:embed="rId4"/>
          <a:stretch>
            <a:fillRect/>
          </a:stretch>
        </p:blipFill>
        <p:spPr>
          <a:xfrm>
            <a:off x="8385048" y="1225296"/>
            <a:ext cx="164592" cy="164592"/>
          </a:xfrm>
          <a:prstGeom prst="rect">
            <a:avLst/>
          </a:prstGeom>
        </p:spPr>
      </p:pic>
      <p:sp>
        <p:nvSpPr>
          <p:cNvPr id="21" name="Text 14"/>
          <p:cNvSpPr txBox="1"/>
          <p:nvPr/>
        </p:nvSpPr>
        <p:spPr>
          <a:xfrm>
            <a:off x="8686800" y="1143000"/>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SWOT Analysis</a:t>
            </a:r>
            <a:endParaRPr lang="en-US" sz="1300" dirty="0"/>
          </a:p>
        </p:txBody>
      </p:sp>
      <p:sp>
        <p:nvSpPr>
          <p:cNvPr id="22" name="Shape 15"/>
          <p:cNvSpPr/>
          <p:nvPr/>
        </p:nvSpPr>
        <p:spPr>
          <a:xfrm>
            <a:off x="8321040" y="1554480"/>
            <a:ext cx="1719072" cy="1371600"/>
          </a:xfrm>
          <a:prstGeom prst="roundRect">
            <a:avLst>
              <a:gd name="adj" fmla="val 5333"/>
            </a:avLst>
          </a:prstGeom>
          <a:solidFill>
            <a:srgbClr val="DDF3E4"/>
          </a:solidFill>
          <a:ln w="12700">
            <a:solidFill>
              <a:srgbClr val="DDF3E4"/>
            </a:solidFill>
            <a:prstDash val="solid"/>
          </a:ln>
        </p:spPr>
      </p:sp>
      <p:sp>
        <p:nvSpPr>
          <p:cNvPr id="23" name="Text 16"/>
          <p:cNvSpPr txBox="1"/>
          <p:nvPr/>
        </p:nvSpPr>
        <p:spPr>
          <a:xfrm>
            <a:off x="8412480" y="160934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1E7A3C"/>
                </a:solidFill>
                <a:latin typeface="Calibri" pitchFamily="34" charset="0"/>
                <a:ea typeface="Calibri" pitchFamily="34" charset="-122"/>
                <a:cs typeface="Calibri" pitchFamily="34" charset="-120"/>
              </a:rPr>
              <a:t>Strengths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Shifts cost to producers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Creates a formal market for recycling</a:t>
            </a:r>
            <a:endParaRPr lang="en-US" sz="1100" dirty="0"/>
          </a:p>
        </p:txBody>
      </p:sp>
      <p:sp>
        <p:nvSpPr>
          <p:cNvPr id="24" name="Shape 17"/>
          <p:cNvSpPr/>
          <p:nvPr/>
        </p:nvSpPr>
        <p:spPr>
          <a:xfrm>
            <a:off x="10085832" y="1554480"/>
            <a:ext cx="1719072" cy="1371600"/>
          </a:xfrm>
          <a:prstGeom prst="roundRect">
            <a:avLst>
              <a:gd name="adj" fmla="val 5333"/>
            </a:avLst>
          </a:prstGeom>
          <a:solidFill>
            <a:srgbClr val="FBE0DE"/>
          </a:solidFill>
          <a:ln w="12700">
            <a:solidFill>
              <a:srgbClr val="FBE0DE"/>
            </a:solidFill>
            <a:prstDash val="solid"/>
          </a:ln>
        </p:spPr>
      </p:sp>
      <p:sp>
        <p:nvSpPr>
          <p:cNvPr id="25" name="Text 18"/>
          <p:cNvSpPr txBox="1"/>
          <p:nvPr/>
        </p:nvSpPr>
        <p:spPr>
          <a:xfrm>
            <a:off x="10177272" y="160934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B23B2E"/>
                </a:solidFill>
                <a:latin typeface="Calibri" pitchFamily="34" charset="0"/>
                <a:ea typeface="Calibri" pitchFamily="34" charset="-122"/>
                <a:cs typeface="Calibri" pitchFamily="34" charset="-120"/>
              </a:rPr>
              <a:t>Weaknesses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Targets based on sales not actual collection</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Inspection is thin</a:t>
            </a:r>
            <a:endParaRPr lang="en-US" sz="1100" dirty="0"/>
          </a:p>
        </p:txBody>
      </p:sp>
      <p:sp>
        <p:nvSpPr>
          <p:cNvPr id="26" name="Shape 19"/>
          <p:cNvSpPr/>
          <p:nvPr/>
        </p:nvSpPr>
        <p:spPr>
          <a:xfrm>
            <a:off x="8321040" y="3017520"/>
            <a:ext cx="1719072" cy="1371600"/>
          </a:xfrm>
          <a:prstGeom prst="roundRect">
            <a:avLst>
              <a:gd name="adj" fmla="val 5333"/>
            </a:avLst>
          </a:prstGeom>
          <a:solidFill>
            <a:srgbClr val="DCEBFA"/>
          </a:solidFill>
          <a:ln w="12700">
            <a:solidFill>
              <a:srgbClr val="DCEBFA"/>
            </a:solidFill>
            <a:prstDash val="solid"/>
          </a:ln>
        </p:spPr>
      </p:sp>
      <p:sp>
        <p:nvSpPr>
          <p:cNvPr id="27" name="Text 20"/>
          <p:cNvSpPr txBox="1"/>
          <p:nvPr/>
        </p:nvSpPr>
        <p:spPr>
          <a:xfrm>
            <a:off x="8412480" y="307238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1F5FA8"/>
                </a:solidFill>
                <a:latin typeface="Calibri" pitchFamily="34" charset="0"/>
                <a:ea typeface="Calibri" pitchFamily="34" charset="-122"/>
                <a:cs typeface="Calibri" pitchFamily="34" charset="-120"/>
              </a:rPr>
              <a:t>Opportunities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Digital traceability, PRO scale</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Link with refurbishing</a:t>
            </a:r>
            <a:endParaRPr lang="en-US" sz="1100" dirty="0"/>
          </a:p>
        </p:txBody>
      </p:sp>
      <p:sp>
        <p:nvSpPr>
          <p:cNvPr id="28" name="Shape 21"/>
          <p:cNvSpPr/>
          <p:nvPr/>
        </p:nvSpPr>
        <p:spPr>
          <a:xfrm>
            <a:off x="10085832" y="3017520"/>
            <a:ext cx="1719072" cy="1371600"/>
          </a:xfrm>
          <a:prstGeom prst="roundRect">
            <a:avLst>
              <a:gd name="adj" fmla="val 5333"/>
            </a:avLst>
          </a:prstGeom>
          <a:solidFill>
            <a:srgbClr val="FDEBD0"/>
          </a:solidFill>
          <a:ln w="12700">
            <a:solidFill>
              <a:srgbClr val="FDEBD0"/>
            </a:solidFill>
            <a:prstDash val="solid"/>
          </a:ln>
        </p:spPr>
      </p:sp>
      <p:sp>
        <p:nvSpPr>
          <p:cNvPr id="29" name="Text 22"/>
          <p:cNvSpPr txBox="1"/>
          <p:nvPr/>
        </p:nvSpPr>
        <p:spPr>
          <a:xfrm>
            <a:off x="10177272" y="307238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B96A0A"/>
                </a:solidFill>
                <a:latin typeface="Calibri" pitchFamily="34" charset="0"/>
                <a:ea typeface="Calibri" pitchFamily="34" charset="-122"/>
                <a:cs typeface="Calibri" pitchFamily="34" charset="-120"/>
              </a:rPr>
              <a:t>Threats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Paper compliance and fake certificates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Informal sector undercuts formal recyclers</a:t>
            </a:r>
            <a:endParaRPr lang="en-US" sz="1100" dirty="0"/>
          </a:p>
        </p:txBody>
      </p:sp>
      <p:sp>
        <p:nvSpPr>
          <p:cNvPr id="30" name="Shape 23"/>
          <p:cNvSpPr/>
          <p:nvPr/>
        </p:nvSpPr>
        <p:spPr>
          <a:xfrm>
            <a:off x="365760" y="4526280"/>
            <a:ext cx="5577840" cy="1874520"/>
          </a:xfrm>
          <a:prstGeom prst="roundRect">
            <a:avLst>
              <a:gd name="adj" fmla="val 3902"/>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31" name="Shape 24"/>
          <p:cNvSpPr/>
          <p:nvPr/>
        </p:nvSpPr>
        <p:spPr>
          <a:xfrm>
            <a:off x="502920" y="4617720"/>
            <a:ext cx="292608" cy="292608"/>
          </a:xfrm>
          <a:prstGeom prst="ellipse">
            <a:avLst/>
          </a:prstGeom>
          <a:solidFill>
            <a:srgbClr val="127C6F"/>
          </a:solidFill>
          <a:ln w="12700">
            <a:solidFill>
              <a:srgbClr val="127C6F"/>
            </a:solidFill>
            <a:prstDash val="solid"/>
          </a:ln>
        </p:spPr>
      </p:sp>
      <p:pic>
        <p:nvPicPr>
          <p:cNvPr id="32" name="Image 4" descr="preencoded.png">    </p:cNvPr>
          <p:cNvPicPr>
            <a:picLocks noChangeAspect="1"/>
          </p:cNvPicPr>
          <p:nvPr/>
        </p:nvPicPr>
        <p:blipFill>
          <a:blip r:embed="rId5"/>
          <a:stretch>
            <a:fillRect/>
          </a:stretch>
        </p:blipFill>
        <p:spPr>
          <a:xfrm>
            <a:off x="566928" y="4681728"/>
            <a:ext cx="164592" cy="164592"/>
          </a:xfrm>
          <a:prstGeom prst="rect">
            <a:avLst/>
          </a:prstGeom>
        </p:spPr>
      </p:pic>
      <p:sp>
        <p:nvSpPr>
          <p:cNvPr id="33" name="Text 25"/>
          <p:cNvSpPr txBox="1"/>
          <p:nvPr/>
        </p:nvSpPr>
        <p:spPr>
          <a:xfrm>
            <a:off x="868680" y="459943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Comparison with India</a:t>
            </a:r>
            <a:endParaRPr lang="en-US" sz="130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502920" y="4983480"/>
          <a:ext cx="5303520" cy="914400"/>
        </p:xfrm>
        <a:graphic>
          <a:graphicData uri="http://schemas.openxmlformats.org/drawingml/2006/table">
            <a:tbl>
              <a:tblPr/>
              <a:tblGrid>
                <a:gridCol w="1371600"/>
                <a:gridCol w="1965960"/>
                <a:gridCol w="1965960"/>
              </a:tblGrid>
              <a:tr h="237744">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Parameter</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EPR in theory</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EPR in practice (India)</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Funding</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Producer pays full cost</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Cost partly avoided via certificates</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Collection</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Convenient take-back</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Few visible collection points</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Verification</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Independent audit</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Limited audit capacity</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Informal sector</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Integrated</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Largely outside</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35" name="Shape 26"/>
          <p:cNvSpPr/>
          <p:nvPr/>
        </p:nvSpPr>
        <p:spPr>
          <a:xfrm>
            <a:off x="6080760" y="4526280"/>
            <a:ext cx="5742432" cy="1874520"/>
          </a:xfrm>
          <a:prstGeom prst="roundRect">
            <a:avLst>
              <a:gd name="adj" fmla="val 3902"/>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36" name="Shape 27"/>
          <p:cNvSpPr/>
          <p:nvPr/>
        </p:nvSpPr>
        <p:spPr>
          <a:xfrm>
            <a:off x="6217920" y="4617720"/>
            <a:ext cx="292608" cy="292608"/>
          </a:xfrm>
          <a:prstGeom prst="ellipse">
            <a:avLst/>
          </a:prstGeom>
          <a:solidFill>
            <a:srgbClr val="127C6F"/>
          </a:solidFill>
          <a:ln w="12700">
            <a:solidFill>
              <a:srgbClr val="127C6F"/>
            </a:solidFill>
            <a:prstDash val="solid"/>
          </a:ln>
        </p:spPr>
      </p:sp>
      <p:pic>
        <p:nvPicPr>
          <p:cNvPr id="37" name="Image 5" descr="preencoded.png">    </p:cNvPr>
          <p:cNvPicPr>
            <a:picLocks noChangeAspect="1"/>
          </p:cNvPicPr>
          <p:nvPr/>
        </p:nvPicPr>
        <p:blipFill>
          <a:blip r:embed="rId6"/>
          <a:stretch>
            <a:fillRect/>
          </a:stretch>
        </p:blipFill>
        <p:spPr>
          <a:xfrm>
            <a:off x="6281928" y="4681728"/>
            <a:ext cx="164592" cy="164592"/>
          </a:xfrm>
          <a:prstGeom prst="rect">
            <a:avLst/>
          </a:prstGeom>
        </p:spPr>
      </p:pic>
      <p:sp>
        <p:nvSpPr>
          <p:cNvPr id="38" name="Text 28"/>
          <p:cNvSpPr txBox="1"/>
          <p:nvPr/>
        </p:nvSpPr>
        <p:spPr>
          <a:xfrm>
            <a:off x="6583680" y="459943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Recommendations</a:t>
            </a:r>
            <a:endParaRPr lang="en-US" sz="1300" dirty="0"/>
          </a:p>
        </p:txBody>
      </p:sp>
      <p:sp>
        <p:nvSpPr>
          <p:cNvPr id="39" name="Text 29"/>
          <p:cNvSpPr txBox="1"/>
          <p:nvPr/>
        </p:nvSpPr>
        <p:spPr>
          <a:xfrm>
            <a:off x="6217920" y="4983480"/>
            <a:ext cx="5486400" cy="868680"/>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Link certificates to verified quantities with weight and photo/GPS evidence.</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Fund collection infrastructure directly through PROs.</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Bring informal collectors in via registered aggregators.</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Publish recycler-level data for public scrutiny.</a:t>
            </a:r>
            <a:endParaRPr lang="en-US" sz="1000" dirty="0"/>
          </a:p>
        </p:txBody>
      </p:sp>
      <p:sp>
        <p:nvSpPr>
          <p:cNvPr id="40" name="Shape 30"/>
          <p:cNvSpPr/>
          <p:nvPr/>
        </p:nvSpPr>
        <p:spPr>
          <a:xfrm>
            <a:off x="6217920" y="5852160"/>
            <a:ext cx="5468112" cy="457200"/>
          </a:xfrm>
          <a:prstGeom prst="roundRect">
            <a:avLst>
              <a:gd name="adj" fmla="val 12000"/>
            </a:avLst>
          </a:prstGeom>
          <a:solidFill>
            <a:srgbClr val="0B3D3A"/>
          </a:solidFill>
          <a:ln w="12700">
            <a:solidFill>
              <a:srgbClr val="0B3D3A"/>
            </a:solidFill>
            <a:prstDash val="solid"/>
          </a:ln>
        </p:spPr>
      </p:sp>
      <p:sp>
        <p:nvSpPr>
          <p:cNvPr id="41" name="Text 31"/>
          <p:cNvSpPr txBox="1"/>
          <p:nvPr/>
        </p:nvSpPr>
        <p:spPr>
          <a:xfrm>
            <a:off x="6309360" y="5852160"/>
            <a:ext cx="5303520" cy="457200"/>
          </a:xfrm>
          <a:prstGeom prst="rect">
            <a:avLst/>
          </a:prstGeom>
          <a:noFill/>
          <a:ln/>
        </p:spPr>
        <p:txBody>
          <a:bodyPr wrap="square" lIns="0" tIns="0" rIns="0" bIns="0"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EPR in India is neither a full success nor pure paper compliance: the framework is sound but implementation lags.</a:t>
            </a:r>
            <a:endParaRPr lang="en-US" sz="950" dirty="0"/>
          </a:p>
        </p:txBody>
      </p:sp>
      <p:sp>
        <p:nvSpPr>
          <p:cNvPr id="42" name="Text 32"/>
          <p:cNvSpPr txBox="1"/>
          <p:nvPr/>
        </p:nvSpPr>
        <p:spPr>
          <a:xfrm>
            <a:off x="365760" y="6473952"/>
            <a:ext cx="11430000" cy="292608"/>
          </a:xfrm>
          <a:prstGeom prst="rect">
            <a:avLst/>
          </a:prstGeom>
          <a:noFill/>
          <a:ln/>
        </p:spPr>
        <p:txBody>
          <a:bodyPr wrap="square" lIns="0" tIns="0" rIns="0" bIns="0" rtlCol="0" anchor="t"/>
          <a:lstStyle/>
          <a:p>
            <a:pPr indent="0" marL="0">
              <a:buNone/>
            </a:pPr>
            <a:r>
              <a:rPr lang="en-US" sz="750" dirty="0">
                <a:solidFill>
                  <a:srgbClr val="5B6B69"/>
                </a:solidFill>
                <a:latin typeface="Calibri" pitchFamily="34" charset="0"/>
                <a:ea typeface="Calibri" pitchFamily="34" charset="-122"/>
                <a:cs typeface="Calibri" pitchFamily="34" charset="-120"/>
              </a:rPr>
              <a:t>Sources: MoEFCC – E-Waste Rules 2016 and 2022  |  CPCB – Annual reports on e-waste  |  Centre for Science and Environment (CSE) – EPR assessments</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F7F5"/>
        </a:solidFill>
      </p:bgPr>
    </p:bg>
    <p:spTree>
      <p:nvGrpSpPr>
        <p:cNvPr id="1" name=""/>
        <p:cNvGrpSpPr/>
        <p:nvPr/>
      </p:nvGrpSpPr>
      <p:grpSpPr>
        <a:xfrm>
          <a:off x="0" y="0"/>
          <a:ext cx="0" cy="0"/>
          <a:chOff x="0" y="0"/>
          <a:chExt cx="0" cy="0"/>
        </a:xfrm>
      </p:grpSpPr>
      <p:sp>
        <p:nvSpPr>
          <p:cNvPr id="2" name="Shape 0"/>
          <p:cNvSpPr/>
          <p:nvPr/>
        </p:nvSpPr>
        <p:spPr>
          <a:xfrm>
            <a:off x="365760" y="274320"/>
            <a:ext cx="685800" cy="685800"/>
          </a:xfrm>
          <a:prstGeom prst="ellipse">
            <a:avLst/>
          </a:prstGeom>
          <a:solidFill>
            <a:srgbClr val="0B3D3A"/>
          </a:solidFill>
          <a:ln w="12700">
            <a:solidFill>
              <a:srgbClr val="0B3D3A"/>
            </a:solidFill>
            <a:prstDash val="solid"/>
          </a:ln>
        </p:spPr>
      </p:sp>
      <p:sp>
        <p:nvSpPr>
          <p:cNvPr id="3" name="Text 1"/>
          <p:cNvSpPr txBox="1"/>
          <p:nvPr/>
        </p:nvSpPr>
        <p:spPr>
          <a:xfrm>
            <a:off x="365760" y="274320"/>
            <a:ext cx="685800" cy="685800"/>
          </a:xfrm>
          <a:prstGeom prst="rect">
            <a:avLst/>
          </a:prstGeom>
          <a:noFill/>
          <a:ln/>
        </p:spPr>
        <p:txBody>
          <a:bodyPr wrap="square" lIns="0" tIns="0" rIns="0" bIns="0" rtlCol="0" anchor="ctr"/>
          <a:lstStyle/>
          <a:p>
            <a:pPr algn="ctr" indent="0" marL="0">
              <a:buNone/>
            </a:pPr>
            <a:r>
              <a:rPr lang="en-US" sz="2400" b="1" dirty="0">
                <a:solidFill>
                  <a:srgbClr val="3DDC97"/>
                </a:solidFill>
                <a:latin typeface="Cambria" pitchFamily="34" charset="0"/>
                <a:ea typeface="Cambria" pitchFamily="34" charset="-122"/>
                <a:cs typeface="Cambria" pitchFamily="34" charset="-120"/>
              </a:rPr>
              <a:t>5</a:t>
            </a:r>
            <a:endParaRPr lang="en-US" sz="2400" dirty="0"/>
          </a:p>
        </p:txBody>
      </p:sp>
      <p:sp>
        <p:nvSpPr>
          <p:cNvPr id="4" name="Text 2"/>
          <p:cNvSpPr txBox="1"/>
          <p:nvPr/>
        </p:nvSpPr>
        <p:spPr>
          <a:xfrm>
            <a:off x="1188720" y="228600"/>
            <a:ext cx="10607040" cy="777240"/>
          </a:xfrm>
          <a:prstGeom prst="rect">
            <a:avLst/>
          </a:prstGeom>
          <a:noFill/>
          <a:ln/>
        </p:spPr>
        <p:txBody>
          <a:bodyPr wrap="square" lIns="0" tIns="0" rIns="0" bIns="0" rtlCol="0" anchor="ctr"/>
          <a:lstStyle/>
          <a:p>
            <a:pPr indent="0" marL="0">
              <a:buNone/>
            </a:pPr>
            <a:r>
              <a:rPr lang="en-US" sz="2600" b="1" dirty="0">
                <a:solidFill>
                  <a:srgbClr val="0B3D3A"/>
                </a:solidFill>
                <a:latin typeface="Cambria" pitchFamily="34" charset="0"/>
                <a:ea typeface="Cambria" pitchFamily="34" charset="-122"/>
                <a:cs typeface="Cambria" pitchFamily="34" charset="-120"/>
              </a:rPr>
              <a:t>Bengaluru: India's E-Waste Capital?</a:t>
            </a:r>
            <a:endParaRPr lang="en-US" sz="2600" dirty="0"/>
          </a:p>
        </p:txBody>
      </p:sp>
      <p:sp>
        <p:nvSpPr>
          <p:cNvPr id="5" name="Shape 3"/>
          <p:cNvSpPr/>
          <p:nvPr/>
        </p:nvSpPr>
        <p:spPr>
          <a:xfrm>
            <a:off x="365760" y="1143000"/>
            <a:ext cx="4206240" cy="3246120"/>
          </a:xfrm>
          <a:prstGeom prst="roundRect">
            <a:avLst>
              <a:gd name="adj" fmla="val 2254"/>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6" name="Shape 4"/>
          <p:cNvSpPr/>
          <p:nvPr/>
        </p:nvSpPr>
        <p:spPr>
          <a:xfrm>
            <a:off x="502920" y="1261872"/>
            <a:ext cx="292608" cy="292608"/>
          </a:xfrm>
          <a:prstGeom prst="ellipse">
            <a:avLst/>
          </a:prstGeom>
          <a:solidFill>
            <a:srgbClr val="127C6F"/>
          </a:solidFill>
          <a:ln w="12700">
            <a:solidFill>
              <a:srgbClr val="127C6F"/>
            </a:solidFill>
            <a:prstDash val="solid"/>
          </a:ln>
        </p:spPr>
      </p:sp>
      <p:pic>
        <p:nvPicPr>
          <p:cNvPr id="7" name="Image 0" descr="preencoded.png">    </p:cNvPr>
          <p:cNvPicPr>
            <a:picLocks noChangeAspect="1"/>
          </p:cNvPicPr>
          <p:nvPr/>
        </p:nvPicPr>
        <p:blipFill>
          <a:blip r:embed="rId1"/>
          <a:stretch>
            <a:fillRect/>
          </a:stretch>
        </p:blipFill>
        <p:spPr>
          <a:xfrm>
            <a:off x="566928" y="1325880"/>
            <a:ext cx="164592" cy="164592"/>
          </a:xfrm>
          <a:prstGeom prst="rect">
            <a:avLst/>
          </a:prstGeom>
        </p:spPr>
      </p:pic>
      <p:sp>
        <p:nvSpPr>
          <p:cNvPr id="8" name="Text 5"/>
          <p:cNvSpPr txBox="1"/>
          <p:nvPr/>
        </p:nvSpPr>
        <p:spPr>
          <a:xfrm>
            <a:off x="868680" y="1243584"/>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Overview</a:t>
            </a:r>
            <a:endParaRPr lang="en-US" sz="1300" dirty="0"/>
          </a:p>
        </p:txBody>
      </p:sp>
      <p:sp>
        <p:nvSpPr>
          <p:cNvPr id="9" name="Text 6"/>
          <p:cNvSpPr txBox="1"/>
          <p:nvPr/>
        </p:nvSpPr>
        <p:spPr>
          <a:xfrm>
            <a:off x="502920" y="1627632"/>
            <a:ext cx="3931920" cy="1051560"/>
          </a:xfrm>
          <a:prstGeom prst="rect">
            <a:avLst/>
          </a:prstGeom>
          <a:noFill/>
          <a:ln/>
        </p:spPr>
        <p:txBody>
          <a:bodyPr wrap="square" lIns="0" tIns="0" rIns="0" bIns="0" rtlCol="0" anchor="t"/>
          <a:lstStyle/>
          <a:p>
            <a:pPr indent="0" marL="0">
              <a:buNone/>
            </a:pPr>
            <a:r>
              <a:rPr lang="en-US" sz="1050" dirty="0">
                <a:solidFill>
                  <a:srgbClr val="1E2B2A"/>
                </a:solidFill>
                <a:latin typeface="Calibri" pitchFamily="34" charset="0"/>
                <a:ea typeface="Calibri" pitchFamily="34" charset="-122"/>
                <a:cs typeface="Calibri" pitchFamily="34" charset="-120"/>
              </a:rPr>
              <a:t>As India's IT hub, Bengaluru generates and processes large volumes of electronics waste and hosts several authorised recyclers. It is often called India's e-waste capital because of technology density. The city shows both the opportunity of formal recycling and the challenge of informal handling.</a:t>
            </a:r>
            <a:endParaRPr lang="en-US" sz="1050" dirty="0"/>
          </a:p>
        </p:txBody>
      </p:sp>
      <p:sp>
        <p:nvSpPr>
          <p:cNvPr id="10" name="Shape 7"/>
          <p:cNvSpPr/>
          <p:nvPr/>
        </p:nvSpPr>
        <p:spPr>
          <a:xfrm>
            <a:off x="502920" y="2697480"/>
            <a:ext cx="292608" cy="292608"/>
          </a:xfrm>
          <a:prstGeom prst="ellipse">
            <a:avLst/>
          </a:prstGeom>
          <a:solidFill>
            <a:srgbClr val="127C6F"/>
          </a:solidFill>
          <a:ln w="12700">
            <a:solidFill>
              <a:srgbClr val="127C6F"/>
            </a:solidFill>
            <a:prstDash val="solid"/>
          </a:ln>
        </p:spPr>
      </p:sp>
      <p:pic>
        <p:nvPicPr>
          <p:cNvPr id="11" name="Image 1" descr="preencoded.png">    </p:cNvPr>
          <p:cNvPicPr>
            <a:picLocks noChangeAspect="1"/>
          </p:cNvPicPr>
          <p:nvPr/>
        </p:nvPicPr>
        <p:blipFill>
          <a:blip r:embed="rId2"/>
          <a:stretch>
            <a:fillRect/>
          </a:stretch>
        </p:blipFill>
        <p:spPr>
          <a:xfrm>
            <a:off x="566928" y="2761488"/>
            <a:ext cx="164592" cy="164592"/>
          </a:xfrm>
          <a:prstGeom prst="rect">
            <a:avLst/>
          </a:prstGeom>
        </p:spPr>
      </p:pic>
      <p:sp>
        <p:nvSpPr>
          <p:cNvPr id="12" name="Text 8"/>
          <p:cNvSpPr txBox="1"/>
          <p:nvPr/>
        </p:nvSpPr>
        <p:spPr>
          <a:xfrm>
            <a:off x="868680" y="267919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Strategy / Initiative</a:t>
            </a:r>
            <a:endParaRPr lang="en-US" sz="1300" dirty="0"/>
          </a:p>
        </p:txBody>
      </p:sp>
      <p:sp>
        <p:nvSpPr>
          <p:cNvPr id="13" name="Text 9"/>
          <p:cNvSpPr txBox="1"/>
          <p:nvPr/>
        </p:nvSpPr>
        <p:spPr>
          <a:xfrm>
            <a:off x="502920" y="3044952"/>
            <a:ext cx="3931920" cy="1280160"/>
          </a:xfrm>
          <a:prstGeom prst="rect">
            <a:avLst/>
          </a:prstGeom>
          <a:noFill/>
          <a:ln/>
        </p:spPr>
        <p:txBody>
          <a:bodyPr wrap="square" lIns="0" tIns="0" rIns="0" bIns="0" rtlCol="0" anchor="t"/>
          <a:lstStyle/>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Authorisation of dismantlers/recyclers by KSPCB.</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Bulk-consumer channel: IT firms send end-of-life equipment to authorised recyclers.</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BBMP dry-waste centres and periodic collection drives for households.</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Corporate CSR and buy-back schemes.</a:t>
            </a:r>
            <a:endParaRPr lang="en-US" sz="950" dirty="0"/>
          </a:p>
        </p:txBody>
      </p:sp>
      <p:sp>
        <p:nvSpPr>
          <p:cNvPr id="14" name="Shape 10"/>
          <p:cNvSpPr/>
          <p:nvPr/>
        </p:nvSpPr>
        <p:spPr>
          <a:xfrm>
            <a:off x="4709160" y="1143000"/>
            <a:ext cx="3474720" cy="3246120"/>
          </a:xfrm>
          <a:prstGeom prst="roundRect">
            <a:avLst>
              <a:gd name="adj" fmla="val 2254"/>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15" name="Shape 11"/>
          <p:cNvSpPr/>
          <p:nvPr/>
        </p:nvSpPr>
        <p:spPr>
          <a:xfrm>
            <a:off x="4846320" y="1261872"/>
            <a:ext cx="292608" cy="292608"/>
          </a:xfrm>
          <a:prstGeom prst="ellipse">
            <a:avLst/>
          </a:prstGeom>
          <a:solidFill>
            <a:srgbClr val="127C6F"/>
          </a:solidFill>
          <a:ln w="12700">
            <a:solidFill>
              <a:srgbClr val="127C6F"/>
            </a:solidFill>
            <a:prstDash val="solid"/>
          </a:ln>
        </p:spPr>
      </p:sp>
      <p:pic>
        <p:nvPicPr>
          <p:cNvPr id="16" name="Image 2" descr="preencoded.png">    </p:cNvPr>
          <p:cNvPicPr>
            <a:picLocks noChangeAspect="1"/>
          </p:cNvPicPr>
          <p:nvPr/>
        </p:nvPicPr>
        <p:blipFill>
          <a:blip r:embed="rId3"/>
          <a:stretch>
            <a:fillRect/>
          </a:stretch>
        </p:blipFill>
        <p:spPr>
          <a:xfrm>
            <a:off x="4910328" y="1325880"/>
            <a:ext cx="164592" cy="164592"/>
          </a:xfrm>
          <a:prstGeom prst="rect">
            <a:avLst/>
          </a:prstGeom>
        </p:spPr>
      </p:pic>
      <p:sp>
        <p:nvSpPr>
          <p:cNvPr id="17" name="Text 12"/>
          <p:cNvSpPr txBox="1"/>
          <p:nvPr/>
        </p:nvSpPr>
        <p:spPr>
          <a:xfrm>
            <a:off x="5212080" y="1243584"/>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Impact &amp; Results</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846320" y="1645920"/>
          <a:ext cx="3200400" cy="914400"/>
        </p:xfrm>
        <a:graphic>
          <a:graphicData uri="http://schemas.openxmlformats.org/drawingml/2006/table">
            <a:tbl>
              <a:tblPr/>
              <a:tblGrid>
                <a:gridCol w="1188720"/>
                <a:gridCol w="2011680"/>
              </a:tblGrid>
              <a:tr h="256032">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Indicator</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Data</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127C6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Role</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Major IT-hub source of e-waste</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Estimated generation</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tens of thousands of tonnes/yr (estimates vary)</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Authorised recyclers</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several in and around Bengaluru</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Main channel</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Bulk consumers and drives</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Challenge</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Informal dismantling in pockets</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bl>
          </a:graphicData>
        </a:graphic>
      </p:graphicFrame>
      <p:sp>
        <p:nvSpPr>
          <p:cNvPr id="19" name="Shape 13"/>
          <p:cNvSpPr/>
          <p:nvPr/>
        </p:nvSpPr>
        <p:spPr>
          <a:xfrm>
            <a:off x="8321040" y="1161288"/>
            <a:ext cx="292608" cy="292608"/>
          </a:xfrm>
          <a:prstGeom prst="ellipse">
            <a:avLst/>
          </a:prstGeom>
          <a:solidFill>
            <a:srgbClr val="127C6F"/>
          </a:solidFill>
          <a:ln w="12700">
            <a:solidFill>
              <a:srgbClr val="127C6F"/>
            </a:solidFill>
            <a:prstDash val="solid"/>
          </a:ln>
        </p:spPr>
      </p:sp>
      <p:pic>
        <p:nvPicPr>
          <p:cNvPr id="20" name="Image 3" descr="preencoded.png">    </p:cNvPr>
          <p:cNvPicPr>
            <a:picLocks noChangeAspect="1"/>
          </p:cNvPicPr>
          <p:nvPr/>
        </p:nvPicPr>
        <p:blipFill>
          <a:blip r:embed="rId4"/>
          <a:stretch>
            <a:fillRect/>
          </a:stretch>
        </p:blipFill>
        <p:spPr>
          <a:xfrm>
            <a:off x="8385048" y="1225296"/>
            <a:ext cx="164592" cy="164592"/>
          </a:xfrm>
          <a:prstGeom prst="rect">
            <a:avLst/>
          </a:prstGeom>
        </p:spPr>
      </p:pic>
      <p:sp>
        <p:nvSpPr>
          <p:cNvPr id="21" name="Text 14"/>
          <p:cNvSpPr txBox="1"/>
          <p:nvPr/>
        </p:nvSpPr>
        <p:spPr>
          <a:xfrm>
            <a:off x="8686800" y="1143000"/>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SWOT Analysis</a:t>
            </a:r>
            <a:endParaRPr lang="en-US" sz="1300" dirty="0"/>
          </a:p>
        </p:txBody>
      </p:sp>
      <p:sp>
        <p:nvSpPr>
          <p:cNvPr id="22" name="Shape 15"/>
          <p:cNvSpPr/>
          <p:nvPr/>
        </p:nvSpPr>
        <p:spPr>
          <a:xfrm>
            <a:off x="8321040" y="1554480"/>
            <a:ext cx="1719072" cy="1371600"/>
          </a:xfrm>
          <a:prstGeom prst="roundRect">
            <a:avLst>
              <a:gd name="adj" fmla="val 5333"/>
            </a:avLst>
          </a:prstGeom>
          <a:solidFill>
            <a:srgbClr val="DDF3E4"/>
          </a:solidFill>
          <a:ln w="12700">
            <a:solidFill>
              <a:srgbClr val="DDF3E4"/>
            </a:solidFill>
            <a:prstDash val="solid"/>
          </a:ln>
        </p:spPr>
      </p:sp>
      <p:sp>
        <p:nvSpPr>
          <p:cNvPr id="23" name="Text 16"/>
          <p:cNvSpPr txBox="1"/>
          <p:nvPr/>
        </p:nvSpPr>
        <p:spPr>
          <a:xfrm>
            <a:off x="8412480" y="160934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1E7A3C"/>
                </a:solidFill>
                <a:latin typeface="Calibri" pitchFamily="34" charset="0"/>
                <a:ea typeface="Calibri" pitchFamily="34" charset="-122"/>
                <a:cs typeface="Calibri" pitchFamily="34" charset="-120"/>
              </a:rPr>
              <a:t>Strengths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Strong tech ecosystem and CSR</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Presence of authorised recyclers</a:t>
            </a:r>
            <a:endParaRPr lang="en-US" sz="1100" dirty="0"/>
          </a:p>
        </p:txBody>
      </p:sp>
      <p:sp>
        <p:nvSpPr>
          <p:cNvPr id="24" name="Shape 17"/>
          <p:cNvSpPr/>
          <p:nvPr/>
        </p:nvSpPr>
        <p:spPr>
          <a:xfrm>
            <a:off x="10085832" y="1554480"/>
            <a:ext cx="1719072" cy="1371600"/>
          </a:xfrm>
          <a:prstGeom prst="roundRect">
            <a:avLst>
              <a:gd name="adj" fmla="val 5333"/>
            </a:avLst>
          </a:prstGeom>
          <a:solidFill>
            <a:srgbClr val="FBE0DE"/>
          </a:solidFill>
          <a:ln w="12700">
            <a:solidFill>
              <a:srgbClr val="FBE0DE"/>
            </a:solidFill>
            <a:prstDash val="solid"/>
          </a:ln>
        </p:spPr>
      </p:sp>
      <p:sp>
        <p:nvSpPr>
          <p:cNvPr id="25" name="Text 18"/>
          <p:cNvSpPr txBox="1"/>
          <p:nvPr/>
        </p:nvSpPr>
        <p:spPr>
          <a:xfrm>
            <a:off x="10177272" y="160934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B23B2E"/>
                </a:solidFill>
                <a:latin typeface="Calibri" pitchFamily="34" charset="0"/>
                <a:ea typeface="Calibri" pitchFamily="34" charset="-122"/>
                <a:cs typeface="Calibri" pitchFamily="34" charset="-120"/>
              </a:rPr>
              <a:t>Weaknesses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Household collection remains weak</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Informal units in peripheries</a:t>
            </a:r>
            <a:endParaRPr lang="en-US" sz="1100" dirty="0"/>
          </a:p>
        </p:txBody>
      </p:sp>
      <p:sp>
        <p:nvSpPr>
          <p:cNvPr id="26" name="Shape 19"/>
          <p:cNvSpPr/>
          <p:nvPr/>
        </p:nvSpPr>
        <p:spPr>
          <a:xfrm>
            <a:off x="8321040" y="3017520"/>
            <a:ext cx="1719072" cy="1371600"/>
          </a:xfrm>
          <a:prstGeom prst="roundRect">
            <a:avLst>
              <a:gd name="adj" fmla="val 5333"/>
            </a:avLst>
          </a:prstGeom>
          <a:solidFill>
            <a:srgbClr val="DCEBFA"/>
          </a:solidFill>
          <a:ln w="12700">
            <a:solidFill>
              <a:srgbClr val="DCEBFA"/>
            </a:solidFill>
            <a:prstDash val="solid"/>
          </a:ln>
        </p:spPr>
      </p:sp>
      <p:sp>
        <p:nvSpPr>
          <p:cNvPr id="27" name="Text 20"/>
          <p:cNvSpPr txBox="1"/>
          <p:nvPr/>
        </p:nvSpPr>
        <p:spPr>
          <a:xfrm>
            <a:off x="8412480" y="307238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1F5FA8"/>
                </a:solidFill>
                <a:latin typeface="Calibri" pitchFamily="34" charset="0"/>
                <a:ea typeface="Calibri" pitchFamily="34" charset="-122"/>
                <a:cs typeface="Calibri" pitchFamily="34" charset="-120"/>
              </a:rPr>
              <a:t>Opportunities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Urban mining hub, start-up innovation</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Reuse and refurbishing markets</a:t>
            </a:r>
            <a:endParaRPr lang="en-US" sz="1100" dirty="0"/>
          </a:p>
        </p:txBody>
      </p:sp>
      <p:sp>
        <p:nvSpPr>
          <p:cNvPr id="28" name="Shape 21"/>
          <p:cNvSpPr/>
          <p:nvPr/>
        </p:nvSpPr>
        <p:spPr>
          <a:xfrm>
            <a:off x="10085832" y="3017520"/>
            <a:ext cx="1719072" cy="1371600"/>
          </a:xfrm>
          <a:prstGeom prst="roundRect">
            <a:avLst>
              <a:gd name="adj" fmla="val 5333"/>
            </a:avLst>
          </a:prstGeom>
          <a:solidFill>
            <a:srgbClr val="FDEBD0"/>
          </a:solidFill>
          <a:ln w="12700">
            <a:solidFill>
              <a:srgbClr val="FDEBD0"/>
            </a:solidFill>
            <a:prstDash val="solid"/>
          </a:ln>
        </p:spPr>
      </p:sp>
      <p:sp>
        <p:nvSpPr>
          <p:cNvPr id="29" name="Text 22"/>
          <p:cNvSpPr txBox="1"/>
          <p:nvPr/>
        </p:nvSpPr>
        <p:spPr>
          <a:xfrm>
            <a:off x="10177272" y="307238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B96A0A"/>
                </a:solidFill>
                <a:latin typeface="Calibri" pitchFamily="34" charset="0"/>
                <a:ea typeface="Calibri" pitchFamily="34" charset="-122"/>
                <a:cs typeface="Calibri" pitchFamily="34" charset="-120"/>
              </a:rPr>
              <a:t>Threats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Fast product turnover</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Illegal dumping in lakes and outskirts</a:t>
            </a:r>
            <a:endParaRPr lang="en-US" sz="1100" dirty="0"/>
          </a:p>
        </p:txBody>
      </p:sp>
      <p:sp>
        <p:nvSpPr>
          <p:cNvPr id="30" name="Shape 23"/>
          <p:cNvSpPr/>
          <p:nvPr/>
        </p:nvSpPr>
        <p:spPr>
          <a:xfrm>
            <a:off x="365760" y="4526280"/>
            <a:ext cx="5577840" cy="1874520"/>
          </a:xfrm>
          <a:prstGeom prst="roundRect">
            <a:avLst>
              <a:gd name="adj" fmla="val 3902"/>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31" name="Shape 24"/>
          <p:cNvSpPr/>
          <p:nvPr/>
        </p:nvSpPr>
        <p:spPr>
          <a:xfrm>
            <a:off x="502920" y="4617720"/>
            <a:ext cx="292608" cy="292608"/>
          </a:xfrm>
          <a:prstGeom prst="ellipse">
            <a:avLst/>
          </a:prstGeom>
          <a:solidFill>
            <a:srgbClr val="127C6F"/>
          </a:solidFill>
          <a:ln w="12700">
            <a:solidFill>
              <a:srgbClr val="127C6F"/>
            </a:solidFill>
            <a:prstDash val="solid"/>
          </a:ln>
        </p:spPr>
      </p:sp>
      <p:pic>
        <p:nvPicPr>
          <p:cNvPr id="32" name="Image 4" descr="preencoded.png">    </p:cNvPr>
          <p:cNvPicPr>
            <a:picLocks noChangeAspect="1"/>
          </p:cNvPicPr>
          <p:nvPr/>
        </p:nvPicPr>
        <p:blipFill>
          <a:blip r:embed="rId5"/>
          <a:stretch>
            <a:fillRect/>
          </a:stretch>
        </p:blipFill>
        <p:spPr>
          <a:xfrm>
            <a:off x="566928" y="4681728"/>
            <a:ext cx="164592" cy="164592"/>
          </a:xfrm>
          <a:prstGeom prst="rect">
            <a:avLst/>
          </a:prstGeom>
        </p:spPr>
      </p:pic>
      <p:sp>
        <p:nvSpPr>
          <p:cNvPr id="33" name="Text 25"/>
          <p:cNvSpPr txBox="1"/>
          <p:nvPr/>
        </p:nvSpPr>
        <p:spPr>
          <a:xfrm>
            <a:off x="868680" y="459943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Comparison with India</a:t>
            </a:r>
            <a:endParaRPr lang="en-US" sz="1300" dirty="0"/>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502920" y="4983480"/>
          <a:ext cx="5303520" cy="914400"/>
        </p:xfrm>
        <a:graphic>
          <a:graphicData uri="http://schemas.openxmlformats.org/drawingml/2006/table">
            <a:tbl>
              <a:tblPr/>
              <a:tblGrid>
                <a:gridCol w="1371600"/>
                <a:gridCol w="1965960"/>
                <a:gridCol w="1965960"/>
              </a:tblGrid>
              <a:tr h="237744">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Parameter</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Bengaluru</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India overall</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Bulk-consumer compliance</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Relatively high</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Mixed</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Household collection</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Limited but growing</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Very limited</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Recycler presence</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Several authorised</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Concentrated in a few states</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Informal share</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Substantial</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Majority</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35" name="Shape 26"/>
          <p:cNvSpPr/>
          <p:nvPr/>
        </p:nvSpPr>
        <p:spPr>
          <a:xfrm>
            <a:off x="6080760" y="4526280"/>
            <a:ext cx="5742432" cy="1874520"/>
          </a:xfrm>
          <a:prstGeom prst="roundRect">
            <a:avLst>
              <a:gd name="adj" fmla="val 3902"/>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36" name="Shape 27"/>
          <p:cNvSpPr/>
          <p:nvPr/>
        </p:nvSpPr>
        <p:spPr>
          <a:xfrm>
            <a:off x="6217920" y="4617720"/>
            <a:ext cx="292608" cy="292608"/>
          </a:xfrm>
          <a:prstGeom prst="ellipse">
            <a:avLst/>
          </a:prstGeom>
          <a:solidFill>
            <a:srgbClr val="127C6F"/>
          </a:solidFill>
          <a:ln w="12700">
            <a:solidFill>
              <a:srgbClr val="127C6F"/>
            </a:solidFill>
            <a:prstDash val="solid"/>
          </a:ln>
        </p:spPr>
      </p:sp>
      <p:pic>
        <p:nvPicPr>
          <p:cNvPr id="37" name="Image 5" descr="preencoded.png">    </p:cNvPr>
          <p:cNvPicPr>
            <a:picLocks noChangeAspect="1"/>
          </p:cNvPicPr>
          <p:nvPr/>
        </p:nvPicPr>
        <p:blipFill>
          <a:blip r:embed="rId6"/>
          <a:stretch>
            <a:fillRect/>
          </a:stretch>
        </p:blipFill>
        <p:spPr>
          <a:xfrm>
            <a:off x="6281928" y="4681728"/>
            <a:ext cx="164592" cy="164592"/>
          </a:xfrm>
          <a:prstGeom prst="rect">
            <a:avLst/>
          </a:prstGeom>
        </p:spPr>
      </p:pic>
      <p:sp>
        <p:nvSpPr>
          <p:cNvPr id="38" name="Text 28"/>
          <p:cNvSpPr txBox="1"/>
          <p:nvPr/>
        </p:nvSpPr>
        <p:spPr>
          <a:xfrm>
            <a:off x="6583680" y="459943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Recommendations</a:t>
            </a:r>
            <a:endParaRPr lang="en-US" sz="1300" dirty="0"/>
          </a:p>
        </p:txBody>
      </p:sp>
      <p:sp>
        <p:nvSpPr>
          <p:cNvPr id="39" name="Text 29"/>
          <p:cNvSpPr txBox="1"/>
          <p:nvPr/>
        </p:nvSpPr>
        <p:spPr>
          <a:xfrm>
            <a:off x="6217920" y="4983480"/>
            <a:ext cx="5486400" cy="868680"/>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Set up ward-level e-waste collection points.</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Mandate quarterly reporting by large IT employers.</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Support start-ups in repair and refurbishing.</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Map and formalise informal dismantlers.</a:t>
            </a:r>
            <a:endParaRPr lang="en-US" sz="1000" dirty="0"/>
          </a:p>
        </p:txBody>
      </p:sp>
      <p:sp>
        <p:nvSpPr>
          <p:cNvPr id="40" name="Shape 30"/>
          <p:cNvSpPr/>
          <p:nvPr/>
        </p:nvSpPr>
        <p:spPr>
          <a:xfrm>
            <a:off x="6217920" y="5852160"/>
            <a:ext cx="5468112" cy="457200"/>
          </a:xfrm>
          <a:prstGeom prst="roundRect">
            <a:avLst>
              <a:gd name="adj" fmla="val 12000"/>
            </a:avLst>
          </a:prstGeom>
          <a:solidFill>
            <a:srgbClr val="0B3D3A"/>
          </a:solidFill>
          <a:ln w="12700">
            <a:solidFill>
              <a:srgbClr val="0B3D3A"/>
            </a:solidFill>
            <a:prstDash val="solid"/>
          </a:ln>
        </p:spPr>
      </p:sp>
      <p:sp>
        <p:nvSpPr>
          <p:cNvPr id="41" name="Text 31"/>
          <p:cNvSpPr txBox="1"/>
          <p:nvPr/>
        </p:nvSpPr>
        <p:spPr>
          <a:xfrm>
            <a:off x="6309360" y="5852160"/>
            <a:ext cx="5303520" cy="457200"/>
          </a:xfrm>
          <a:prstGeom prst="rect">
            <a:avLst/>
          </a:prstGeom>
          <a:noFill/>
          <a:ln/>
        </p:spPr>
        <p:txBody>
          <a:bodyPr wrap="square" lIns="0" tIns="0" rIns="0" bIns="0"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Bengaluru illustrates that technology cities carry the biggest responsibility.</a:t>
            </a:r>
            <a:endParaRPr lang="en-US" sz="950" dirty="0"/>
          </a:p>
        </p:txBody>
      </p:sp>
      <p:sp>
        <p:nvSpPr>
          <p:cNvPr id="42" name="Text 32"/>
          <p:cNvSpPr txBox="1"/>
          <p:nvPr/>
        </p:nvSpPr>
        <p:spPr>
          <a:xfrm>
            <a:off x="365760" y="6473952"/>
            <a:ext cx="11430000" cy="292608"/>
          </a:xfrm>
          <a:prstGeom prst="rect">
            <a:avLst/>
          </a:prstGeom>
          <a:noFill/>
          <a:ln/>
        </p:spPr>
        <p:txBody>
          <a:bodyPr wrap="square" lIns="0" tIns="0" rIns="0" bIns="0" rtlCol="0" anchor="t"/>
          <a:lstStyle/>
          <a:p>
            <a:pPr indent="0" marL="0">
              <a:buNone/>
            </a:pPr>
            <a:r>
              <a:rPr lang="en-US" sz="750" dirty="0">
                <a:solidFill>
                  <a:srgbClr val="5B6B69"/>
                </a:solidFill>
                <a:latin typeface="Calibri" pitchFamily="34" charset="0"/>
                <a:ea typeface="Calibri" pitchFamily="34" charset="-122"/>
                <a:cs typeface="Calibri" pitchFamily="34" charset="-120"/>
              </a:rPr>
              <a:t>Sources: Karnataka State Pollution Control Board – e-waste authorisation lists  |  BBMP (BBMP/Greater Bengaluru) – solid waste information  |  E-Parisara – company profile  |  CPCB – state-wise e-waste data</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F7F5"/>
        </a:solidFill>
      </p:bgPr>
    </p:bg>
    <p:spTree>
      <p:nvGrpSpPr>
        <p:cNvPr id="1" name=""/>
        <p:cNvGrpSpPr/>
        <p:nvPr/>
      </p:nvGrpSpPr>
      <p:grpSpPr>
        <a:xfrm>
          <a:off x="0" y="0"/>
          <a:ext cx="0" cy="0"/>
          <a:chOff x="0" y="0"/>
          <a:chExt cx="0" cy="0"/>
        </a:xfrm>
      </p:grpSpPr>
      <p:sp>
        <p:nvSpPr>
          <p:cNvPr id="2" name="Shape 0"/>
          <p:cNvSpPr/>
          <p:nvPr/>
        </p:nvSpPr>
        <p:spPr>
          <a:xfrm>
            <a:off x="365760" y="274320"/>
            <a:ext cx="685800" cy="685800"/>
          </a:xfrm>
          <a:prstGeom prst="ellipse">
            <a:avLst/>
          </a:prstGeom>
          <a:solidFill>
            <a:srgbClr val="0B3D3A"/>
          </a:solidFill>
          <a:ln w="12700">
            <a:solidFill>
              <a:srgbClr val="0B3D3A"/>
            </a:solidFill>
            <a:prstDash val="solid"/>
          </a:ln>
        </p:spPr>
      </p:sp>
      <p:sp>
        <p:nvSpPr>
          <p:cNvPr id="3" name="Text 1"/>
          <p:cNvSpPr txBox="1"/>
          <p:nvPr/>
        </p:nvSpPr>
        <p:spPr>
          <a:xfrm>
            <a:off x="365760" y="274320"/>
            <a:ext cx="685800" cy="685800"/>
          </a:xfrm>
          <a:prstGeom prst="rect">
            <a:avLst/>
          </a:prstGeom>
          <a:noFill/>
          <a:ln/>
        </p:spPr>
        <p:txBody>
          <a:bodyPr wrap="square" lIns="0" tIns="0" rIns="0" bIns="0" rtlCol="0" anchor="ctr"/>
          <a:lstStyle/>
          <a:p>
            <a:pPr algn="ctr" indent="0" marL="0">
              <a:buNone/>
            </a:pPr>
            <a:r>
              <a:rPr lang="en-US" sz="2400" b="1" dirty="0">
                <a:solidFill>
                  <a:srgbClr val="3DDC97"/>
                </a:solidFill>
                <a:latin typeface="Cambria" pitchFamily="34" charset="0"/>
                <a:ea typeface="Cambria" pitchFamily="34" charset="-122"/>
                <a:cs typeface="Cambria" pitchFamily="34" charset="-120"/>
              </a:rPr>
              <a:t>6</a:t>
            </a:r>
            <a:endParaRPr lang="en-US" sz="2400" dirty="0"/>
          </a:p>
        </p:txBody>
      </p:sp>
      <p:sp>
        <p:nvSpPr>
          <p:cNvPr id="4" name="Text 2"/>
          <p:cNvSpPr txBox="1"/>
          <p:nvPr/>
        </p:nvSpPr>
        <p:spPr>
          <a:xfrm>
            <a:off x="1188720" y="228600"/>
            <a:ext cx="10607040" cy="777240"/>
          </a:xfrm>
          <a:prstGeom prst="rect">
            <a:avLst/>
          </a:prstGeom>
          <a:noFill/>
          <a:ln/>
        </p:spPr>
        <p:txBody>
          <a:bodyPr wrap="square" lIns="0" tIns="0" rIns="0" bIns="0" rtlCol="0" anchor="ctr"/>
          <a:lstStyle/>
          <a:p>
            <a:pPr indent="0" marL="0">
              <a:buNone/>
            </a:pPr>
            <a:r>
              <a:rPr lang="en-US" sz="2600" b="1" dirty="0">
                <a:solidFill>
                  <a:srgbClr val="0B3D3A"/>
                </a:solidFill>
                <a:latin typeface="Cambria" pitchFamily="34" charset="0"/>
                <a:ea typeface="Cambria" pitchFamily="34" charset="-122"/>
                <a:cs typeface="Cambria" pitchFamily="34" charset="-120"/>
              </a:rPr>
              <a:t>Mumbai's E-Waste Ecosystem</a:t>
            </a:r>
            <a:endParaRPr lang="en-US" sz="2600" dirty="0"/>
          </a:p>
        </p:txBody>
      </p:sp>
      <p:sp>
        <p:nvSpPr>
          <p:cNvPr id="5" name="Shape 3"/>
          <p:cNvSpPr/>
          <p:nvPr/>
        </p:nvSpPr>
        <p:spPr>
          <a:xfrm>
            <a:off x="365760" y="1143000"/>
            <a:ext cx="4206240" cy="3246120"/>
          </a:xfrm>
          <a:prstGeom prst="roundRect">
            <a:avLst>
              <a:gd name="adj" fmla="val 2254"/>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6" name="Shape 4"/>
          <p:cNvSpPr/>
          <p:nvPr/>
        </p:nvSpPr>
        <p:spPr>
          <a:xfrm>
            <a:off x="502920" y="1261872"/>
            <a:ext cx="292608" cy="292608"/>
          </a:xfrm>
          <a:prstGeom prst="ellipse">
            <a:avLst/>
          </a:prstGeom>
          <a:solidFill>
            <a:srgbClr val="127C6F"/>
          </a:solidFill>
          <a:ln w="12700">
            <a:solidFill>
              <a:srgbClr val="127C6F"/>
            </a:solidFill>
            <a:prstDash val="solid"/>
          </a:ln>
        </p:spPr>
      </p:sp>
      <p:pic>
        <p:nvPicPr>
          <p:cNvPr id="7" name="Image 0" descr="preencoded.png">    </p:cNvPr>
          <p:cNvPicPr>
            <a:picLocks noChangeAspect="1"/>
          </p:cNvPicPr>
          <p:nvPr/>
        </p:nvPicPr>
        <p:blipFill>
          <a:blip r:embed="rId1"/>
          <a:stretch>
            <a:fillRect/>
          </a:stretch>
        </p:blipFill>
        <p:spPr>
          <a:xfrm>
            <a:off x="566928" y="1325880"/>
            <a:ext cx="164592" cy="164592"/>
          </a:xfrm>
          <a:prstGeom prst="rect">
            <a:avLst/>
          </a:prstGeom>
        </p:spPr>
      </p:pic>
      <p:sp>
        <p:nvSpPr>
          <p:cNvPr id="8" name="Text 5"/>
          <p:cNvSpPr txBox="1"/>
          <p:nvPr/>
        </p:nvSpPr>
        <p:spPr>
          <a:xfrm>
            <a:off x="868680" y="1243584"/>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Overview</a:t>
            </a:r>
            <a:endParaRPr lang="en-US" sz="1300" dirty="0"/>
          </a:p>
        </p:txBody>
      </p:sp>
      <p:sp>
        <p:nvSpPr>
          <p:cNvPr id="9" name="Text 6"/>
          <p:cNvSpPr txBox="1"/>
          <p:nvPr/>
        </p:nvSpPr>
        <p:spPr>
          <a:xfrm>
            <a:off x="502920" y="1627632"/>
            <a:ext cx="3931920" cy="1051560"/>
          </a:xfrm>
          <a:prstGeom prst="rect">
            <a:avLst/>
          </a:prstGeom>
          <a:noFill/>
          <a:ln/>
        </p:spPr>
        <p:txBody>
          <a:bodyPr wrap="square" lIns="0" tIns="0" rIns="0" bIns="0" rtlCol="0" anchor="t"/>
          <a:lstStyle/>
          <a:p>
            <a:pPr indent="0" marL="0">
              <a:buNone/>
            </a:pPr>
            <a:r>
              <a:rPr lang="en-US" sz="1050" dirty="0">
                <a:solidFill>
                  <a:srgbClr val="1E2B2A"/>
                </a:solidFill>
                <a:latin typeface="Calibri" pitchFamily="34" charset="0"/>
                <a:ea typeface="Calibri" pitchFamily="34" charset="-122"/>
                <a:cs typeface="Calibri" pitchFamily="34" charset="-120"/>
              </a:rPr>
              <a:t>Mumbai, the commercial capital, sits in Maharashtra, one of India's top e-waste generating states. Its ecosystem mixes authorised recyclers, municipal systems and a large informal network of traders and dismantlers. The city offers both scale and lessons about coexistence.</a:t>
            </a:r>
            <a:endParaRPr lang="en-US" sz="1050" dirty="0"/>
          </a:p>
        </p:txBody>
      </p:sp>
      <p:sp>
        <p:nvSpPr>
          <p:cNvPr id="10" name="Shape 7"/>
          <p:cNvSpPr/>
          <p:nvPr/>
        </p:nvSpPr>
        <p:spPr>
          <a:xfrm>
            <a:off x="502920" y="2697480"/>
            <a:ext cx="292608" cy="292608"/>
          </a:xfrm>
          <a:prstGeom prst="ellipse">
            <a:avLst/>
          </a:prstGeom>
          <a:solidFill>
            <a:srgbClr val="127C6F"/>
          </a:solidFill>
          <a:ln w="12700">
            <a:solidFill>
              <a:srgbClr val="127C6F"/>
            </a:solidFill>
            <a:prstDash val="solid"/>
          </a:ln>
        </p:spPr>
      </p:sp>
      <p:pic>
        <p:nvPicPr>
          <p:cNvPr id="11" name="Image 1" descr="preencoded.png">    </p:cNvPr>
          <p:cNvPicPr>
            <a:picLocks noChangeAspect="1"/>
          </p:cNvPicPr>
          <p:nvPr/>
        </p:nvPicPr>
        <p:blipFill>
          <a:blip r:embed="rId2"/>
          <a:stretch>
            <a:fillRect/>
          </a:stretch>
        </p:blipFill>
        <p:spPr>
          <a:xfrm>
            <a:off x="566928" y="2761488"/>
            <a:ext cx="164592" cy="164592"/>
          </a:xfrm>
          <a:prstGeom prst="rect">
            <a:avLst/>
          </a:prstGeom>
        </p:spPr>
      </p:pic>
      <p:sp>
        <p:nvSpPr>
          <p:cNvPr id="12" name="Text 8"/>
          <p:cNvSpPr txBox="1"/>
          <p:nvPr/>
        </p:nvSpPr>
        <p:spPr>
          <a:xfrm>
            <a:off x="868680" y="267919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Strategy / Initiative</a:t>
            </a:r>
            <a:endParaRPr lang="en-US" sz="1300" dirty="0"/>
          </a:p>
        </p:txBody>
      </p:sp>
      <p:sp>
        <p:nvSpPr>
          <p:cNvPr id="13" name="Text 9"/>
          <p:cNvSpPr txBox="1"/>
          <p:nvPr/>
        </p:nvSpPr>
        <p:spPr>
          <a:xfrm>
            <a:off x="502920" y="3044952"/>
            <a:ext cx="3931920" cy="1280160"/>
          </a:xfrm>
          <a:prstGeom prst="rect">
            <a:avLst/>
          </a:prstGeom>
          <a:noFill/>
          <a:ln/>
        </p:spPr>
        <p:txBody>
          <a:bodyPr wrap="square" lIns="0" tIns="0" rIns="0" bIns="0" rtlCol="0" anchor="t"/>
          <a:lstStyle/>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Authorised collection and recycling under MPCB and E-Waste Rules.</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Bulk consumers (banks, IT, telecom) use authorised recyclers.</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MCGM (BMC) collection drives and awareness campaigns.</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Informal networks of kabadiwalas and repair/resale markets.</a:t>
            </a:r>
            <a:endParaRPr lang="en-US" sz="950" dirty="0"/>
          </a:p>
        </p:txBody>
      </p:sp>
      <p:sp>
        <p:nvSpPr>
          <p:cNvPr id="14" name="Shape 10"/>
          <p:cNvSpPr/>
          <p:nvPr/>
        </p:nvSpPr>
        <p:spPr>
          <a:xfrm>
            <a:off x="4709160" y="1143000"/>
            <a:ext cx="3474720" cy="3246120"/>
          </a:xfrm>
          <a:prstGeom prst="roundRect">
            <a:avLst>
              <a:gd name="adj" fmla="val 2254"/>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15" name="Shape 11"/>
          <p:cNvSpPr/>
          <p:nvPr/>
        </p:nvSpPr>
        <p:spPr>
          <a:xfrm>
            <a:off x="4846320" y="1261872"/>
            <a:ext cx="292608" cy="292608"/>
          </a:xfrm>
          <a:prstGeom prst="ellipse">
            <a:avLst/>
          </a:prstGeom>
          <a:solidFill>
            <a:srgbClr val="127C6F"/>
          </a:solidFill>
          <a:ln w="12700">
            <a:solidFill>
              <a:srgbClr val="127C6F"/>
            </a:solidFill>
            <a:prstDash val="solid"/>
          </a:ln>
        </p:spPr>
      </p:sp>
      <p:pic>
        <p:nvPicPr>
          <p:cNvPr id="16" name="Image 2" descr="preencoded.png">    </p:cNvPr>
          <p:cNvPicPr>
            <a:picLocks noChangeAspect="1"/>
          </p:cNvPicPr>
          <p:nvPr/>
        </p:nvPicPr>
        <p:blipFill>
          <a:blip r:embed="rId3"/>
          <a:stretch>
            <a:fillRect/>
          </a:stretch>
        </p:blipFill>
        <p:spPr>
          <a:xfrm>
            <a:off x="4910328" y="1325880"/>
            <a:ext cx="164592" cy="164592"/>
          </a:xfrm>
          <a:prstGeom prst="rect">
            <a:avLst/>
          </a:prstGeom>
        </p:spPr>
      </p:pic>
      <p:sp>
        <p:nvSpPr>
          <p:cNvPr id="17" name="Text 12"/>
          <p:cNvSpPr txBox="1"/>
          <p:nvPr/>
        </p:nvSpPr>
        <p:spPr>
          <a:xfrm>
            <a:off x="5212080" y="1243584"/>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Impact &amp; Results</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846320" y="1645920"/>
          <a:ext cx="3200400" cy="914400"/>
        </p:xfrm>
        <a:graphic>
          <a:graphicData uri="http://schemas.openxmlformats.org/drawingml/2006/table">
            <a:tbl>
              <a:tblPr/>
              <a:tblGrid>
                <a:gridCol w="1188720"/>
                <a:gridCol w="2011680"/>
              </a:tblGrid>
              <a:tr h="256032">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Indicator</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Data</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127C6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State rank</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Among the top e-waste generating states</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Formal actors</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Authorised recyclers in Mumbai region</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Informal actors</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Large collection and dismantling network</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Reuse</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Strong second-hand and repair markets</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Challenge</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Toxic exposure in informal processing</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bl>
          </a:graphicData>
        </a:graphic>
      </p:graphicFrame>
      <p:sp>
        <p:nvSpPr>
          <p:cNvPr id="19" name="Shape 13"/>
          <p:cNvSpPr/>
          <p:nvPr/>
        </p:nvSpPr>
        <p:spPr>
          <a:xfrm>
            <a:off x="8321040" y="1161288"/>
            <a:ext cx="292608" cy="292608"/>
          </a:xfrm>
          <a:prstGeom prst="ellipse">
            <a:avLst/>
          </a:prstGeom>
          <a:solidFill>
            <a:srgbClr val="127C6F"/>
          </a:solidFill>
          <a:ln w="12700">
            <a:solidFill>
              <a:srgbClr val="127C6F"/>
            </a:solidFill>
            <a:prstDash val="solid"/>
          </a:ln>
        </p:spPr>
      </p:sp>
      <p:pic>
        <p:nvPicPr>
          <p:cNvPr id="20" name="Image 3" descr="preencoded.png">    </p:cNvPr>
          <p:cNvPicPr>
            <a:picLocks noChangeAspect="1"/>
          </p:cNvPicPr>
          <p:nvPr/>
        </p:nvPicPr>
        <p:blipFill>
          <a:blip r:embed="rId4"/>
          <a:stretch>
            <a:fillRect/>
          </a:stretch>
        </p:blipFill>
        <p:spPr>
          <a:xfrm>
            <a:off x="8385048" y="1225296"/>
            <a:ext cx="164592" cy="164592"/>
          </a:xfrm>
          <a:prstGeom prst="rect">
            <a:avLst/>
          </a:prstGeom>
        </p:spPr>
      </p:pic>
      <p:sp>
        <p:nvSpPr>
          <p:cNvPr id="21" name="Text 14"/>
          <p:cNvSpPr txBox="1"/>
          <p:nvPr/>
        </p:nvSpPr>
        <p:spPr>
          <a:xfrm>
            <a:off x="8686800" y="1143000"/>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SWOT Analysis</a:t>
            </a:r>
            <a:endParaRPr lang="en-US" sz="1300" dirty="0"/>
          </a:p>
        </p:txBody>
      </p:sp>
      <p:sp>
        <p:nvSpPr>
          <p:cNvPr id="22" name="Shape 15"/>
          <p:cNvSpPr/>
          <p:nvPr/>
        </p:nvSpPr>
        <p:spPr>
          <a:xfrm>
            <a:off x="8321040" y="1554480"/>
            <a:ext cx="1719072" cy="1371600"/>
          </a:xfrm>
          <a:prstGeom prst="roundRect">
            <a:avLst>
              <a:gd name="adj" fmla="val 5333"/>
            </a:avLst>
          </a:prstGeom>
          <a:solidFill>
            <a:srgbClr val="DDF3E4"/>
          </a:solidFill>
          <a:ln w="12700">
            <a:solidFill>
              <a:srgbClr val="DDF3E4"/>
            </a:solidFill>
            <a:prstDash val="solid"/>
          </a:ln>
        </p:spPr>
      </p:sp>
      <p:sp>
        <p:nvSpPr>
          <p:cNvPr id="23" name="Text 16"/>
          <p:cNvSpPr txBox="1"/>
          <p:nvPr/>
        </p:nvSpPr>
        <p:spPr>
          <a:xfrm>
            <a:off x="8412480" y="160934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1E7A3C"/>
                </a:solidFill>
                <a:latin typeface="Calibri" pitchFamily="34" charset="0"/>
                <a:ea typeface="Calibri" pitchFamily="34" charset="-122"/>
                <a:cs typeface="Calibri" pitchFamily="34" charset="-120"/>
              </a:rPr>
              <a:t>Strengths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Large formal recycling base</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Active reuse/repair market</a:t>
            </a:r>
            <a:endParaRPr lang="en-US" sz="1100" dirty="0"/>
          </a:p>
        </p:txBody>
      </p:sp>
      <p:sp>
        <p:nvSpPr>
          <p:cNvPr id="24" name="Shape 17"/>
          <p:cNvSpPr/>
          <p:nvPr/>
        </p:nvSpPr>
        <p:spPr>
          <a:xfrm>
            <a:off x="10085832" y="1554480"/>
            <a:ext cx="1719072" cy="1371600"/>
          </a:xfrm>
          <a:prstGeom prst="roundRect">
            <a:avLst>
              <a:gd name="adj" fmla="val 5333"/>
            </a:avLst>
          </a:prstGeom>
          <a:solidFill>
            <a:srgbClr val="FBE0DE"/>
          </a:solidFill>
          <a:ln w="12700">
            <a:solidFill>
              <a:srgbClr val="FBE0DE"/>
            </a:solidFill>
            <a:prstDash val="solid"/>
          </a:ln>
        </p:spPr>
      </p:sp>
      <p:sp>
        <p:nvSpPr>
          <p:cNvPr id="25" name="Text 18"/>
          <p:cNvSpPr txBox="1"/>
          <p:nvPr/>
        </p:nvSpPr>
        <p:spPr>
          <a:xfrm>
            <a:off x="10177272" y="160934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B23B2E"/>
                </a:solidFill>
                <a:latin typeface="Calibri" pitchFamily="34" charset="0"/>
                <a:ea typeface="Calibri" pitchFamily="34" charset="-122"/>
                <a:cs typeface="Calibri" pitchFamily="34" charset="-120"/>
              </a:rPr>
              <a:t>Weaknesses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Household awareness gaps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Space constraints for facilities</a:t>
            </a:r>
            <a:endParaRPr lang="en-US" sz="1100" dirty="0"/>
          </a:p>
        </p:txBody>
      </p:sp>
      <p:sp>
        <p:nvSpPr>
          <p:cNvPr id="26" name="Shape 19"/>
          <p:cNvSpPr/>
          <p:nvPr/>
        </p:nvSpPr>
        <p:spPr>
          <a:xfrm>
            <a:off x="8321040" y="3017520"/>
            <a:ext cx="1719072" cy="1371600"/>
          </a:xfrm>
          <a:prstGeom prst="roundRect">
            <a:avLst>
              <a:gd name="adj" fmla="val 5333"/>
            </a:avLst>
          </a:prstGeom>
          <a:solidFill>
            <a:srgbClr val="DCEBFA"/>
          </a:solidFill>
          <a:ln w="12700">
            <a:solidFill>
              <a:srgbClr val="DCEBFA"/>
            </a:solidFill>
            <a:prstDash val="solid"/>
          </a:ln>
        </p:spPr>
      </p:sp>
      <p:sp>
        <p:nvSpPr>
          <p:cNvPr id="27" name="Text 20"/>
          <p:cNvSpPr txBox="1"/>
          <p:nvPr/>
        </p:nvSpPr>
        <p:spPr>
          <a:xfrm>
            <a:off x="8412480" y="307238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1F5FA8"/>
                </a:solidFill>
                <a:latin typeface="Calibri" pitchFamily="34" charset="0"/>
                <a:ea typeface="Calibri" pitchFamily="34" charset="-122"/>
                <a:cs typeface="Calibri" pitchFamily="34" charset="-120"/>
              </a:rPr>
              <a:t>Opportunities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Scale for PRO-run collection</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Digital tracking of flows</a:t>
            </a:r>
            <a:endParaRPr lang="en-US" sz="1100" dirty="0"/>
          </a:p>
        </p:txBody>
      </p:sp>
      <p:sp>
        <p:nvSpPr>
          <p:cNvPr id="28" name="Shape 21"/>
          <p:cNvSpPr/>
          <p:nvPr/>
        </p:nvSpPr>
        <p:spPr>
          <a:xfrm>
            <a:off x="10085832" y="3017520"/>
            <a:ext cx="1719072" cy="1371600"/>
          </a:xfrm>
          <a:prstGeom prst="roundRect">
            <a:avLst>
              <a:gd name="adj" fmla="val 5333"/>
            </a:avLst>
          </a:prstGeom>
          <a:solidFill>
            <a:srgbClr val="FDEBD0"/>
          </a:solidFill>
          <a:ln w="12700">
            <a:solidFill>
              <a:srgbClr val="FDEBD0"/>
            </a:solidFill>
            <a:prstDash val="solid"/>
          </a:ln>
        </p:spPr>
      </p:sp>
      <p:sp>
        <p:nvSpPr>
          <p:cNvPr id="29" name="Text 22"/>
          <p:cNvSpPr txBox="1"/>
          <p:nvPr/>
        </p:nvSpPr>
        <p:spPr>
          <a:xfrm>
            <a:off x="10177272" y="307238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B96A0A"/>
                </a:solidFill>
                <a:latin typeface="Calibri" pitchFamily="34" charset="0"/>
                <a:ea typeface="Calibri" pitchFamily="34" charset="-122"/>
                <a:cs typeface="Calibri" pitchFamily="34" charset="-120"/>
              </a:rPr>
              <a:t>Threats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Informal open burning and acid leaching</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Land pressure on recycling units</a:t>
            </a:r>
            <a:endParaRPr lang="en-US" sz="1100" dirty="0"/>
          </a:p>
        </p:txBody>
      </p:sp>
      <p:sp>
        <p:nvSpPr>
          <p:cNvPr id="30" name="Shape 23"/>
          <p:cNvSpPr/>
          <p:nvPr/>
        </p:nvSpPr>
        <p:spPr>
          <a:xfrm>
            <a:off x="365760" y="4526280"/>
            <a:ext cx="5577840" cy="1874520"/>
          </a:xfrm>
          <a:prstGeom prst="roundRect">
            <a:avLst>
              <a:gd name="adj" fmla="val 3902"/>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31" name="Shape 24"/>
          <p:cNvSpPr/>
          <p:nvPr/>
        </p:nvSpPr>
        <p:spPr>
          <a:xfrm>
            <a:off x="502920" y="4617720"/>
            <a:ext cx="292608" cy="292608"/>
          </a:xfrm>
          <a:prstGeom prst="ellipse">
            <a:avLst/>
          </a:prstGeom>
          <a:solidFill>
            <a:srgbClr val="127C6F"/>
          </a:solidFill>
          <a:ln w="12700">
            <a:solidFill>
              <a:srgbClr val="127C6F"/>
            </a:solidFill>
            <a:prstDash val="solid"/>
          </a:ln>
        </p:spPr>
      </p:sp>
      <p:pic>
        <p:nvPicPr>
          <p:cNvPr id="32" name="Image 4" descr="preencoded.png">    </p:cNvPr>
          <p:cNvPicPr>
            <a:picLocks noChangeAspect="1"/>
          </p:cNvPicPr>
          <p:nvPr/>
        </p:nvPicPr>
        <p:blipFill>
          <a:blip r:embed="rId5"/>
          <a:stretch>
            <a:fillRect/>
          </a:stretch>
        </p:blipFill>
        <p:spPr>
          <a:xfrm>
            <a:off x="566928" y="4681728"/>
            <a:ext cx="164592" cy="164592"/>
          </a:xfrm>
          <a:prstGeom prst="rect">
            <a:avLst/>
          </a:prstGeom>
        </p:spPr>
      </p:pic>
      <p:sp>
        <p:nvSpPr>
          <p:cNvPr id="33" name="Text 25"/>
          <p:cNvSpPr txBox="1"/>
          <p:nvPr/>
        </p:nvSpPr>
        <p:spPr>
          <a:xfrm>
            <a:off x="868680" y="459943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Comparison with India</a:t>
            </a:r>
            <a:endParaRPr lang="en-US" sz="130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502920" y="4983480"/>
          <a:ext cx="5303520" cy="914400"/>
        </p:xfrm>
        <a:graphic>
          <a:graphicData uri="http://schemas.openxmlformats.org/drawingml/2006/table">
            <a:tbl>
              <a:tblPr/>
              <a:tblGrid>
                <a:gridCol w="1371600"/>
                <a:gridCol w="1965960"/>
                <a:gridCol w="1965960"/>
              </a:tblGrid>
              <a:tr h="237744">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Parameter</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Mumbai</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India overall</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Formal recyclers</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Concentrated presence</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Concentrated in few states</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Reuse markets</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Strong</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Growing</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Informal share</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Large</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Majority</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Municipal role</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Drives and awareness</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Minimal</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35" name="Shape 26"/>
          <p:cNvSpPr/>
          <p:nvPr/>
        </p:nvSpPr>
        <p:spPr>
          <a:xfrm>
            <a:off x="6080760" y="4526280"/>
            <a:ext cx="5742432" cy="1874520"/>
          </a:xfrm>
          <a:prstGeom prst="roundRect">
            <a:avLst>
              <a:gd name="adj" fmla="val 3902"/>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36" name="Shape 27"/>
          <p:cNvSpPr/>
          <p:nvPr/>
        </p:nvSpPr>
        <p:spPr>
          <a:xfrm>
            <a:off x="6217920" y="4617720"/>
            <a:ext cx="292608" cy="292608"/>
          </a:xfrm>
          <a:prstGeom prst="ellipse">
            <a:avLst/>
          </a:prstGeom>
          <a:solidFill>
            <a:srgbClr val="127C6F"/>
          </a:solidFill>
          <a:ln w="12700">
            <a:solidFill>
              <a:srgbClr val="127C6F"/>
            </a:solidFill>
            <a:prstDash val="solid"/>
          </a:ln>
        </p:spPr>
      </p:sp>
      <p:pic>
        <p:nvPicPr>
          <p:cNvPr id="37" name="Image 5" descr="preencoded.png">    </p:cNvPr>
          <p:cNvPicPr>
            <a:picLocks noChangeAspect="1"/>
          </p:cNvPicPr>
          <p:nvPr/>
        </p:nvPicPr>
        <p:blipFill>
          <a:blip r:embed="rId6"/>
          <a:stretch>
            <a:fillRect/>
          </a:stretch>
        </p:blipFill>
        <p:spPr>
          <a:xfrm>
            <a:off x="6281928" y="4681728"/>
            <a:ext cx="164592" cy="164592"/>
          </a:xfrm>
          <a:prstGeom prst="rect">
            <a:avLst/>
          </a:prstGeom>
        </p:spPr>
      </p:pic>
      <p:sp>
        <p:nvSpPr>
          <p:cNvPr id="38" name="Text 28"/>
          <p:cNvSpPr txBox="1"/>
          <p:nvPr/>
        </p:nvSpPr>
        <p:spPr>
          <a:xfrm>
            <a:off x="6583680" y="459943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Recommendations</a:t>
            </a:r>
            <a:endParaRPr lang="en-US" sz="1300" dirty="0"/>
          </a:p>
        </p:txBody>
      </p:sp>
      <p:sp>
        <p:nvSpPr>
          <p:cNvPr id="39" name="Text 29"/>
          <p:cNvSpPr txBox="1"/>
          <p:nvPr/>
        </p:nvSpPr>
        <p:spPr>
          <a:xfrm>
            <a:off x="6217920" y="4983480"/>
            <a:ext cx="5486400" cy="868680"/>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Partner BMC with PROs for housing-society collection.</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Register informal dealers as authorised collectors.</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Provide safe processing zones and training.</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Create citywide e-waste helpline/app.</a:t>
            </a:r>
            <a:endParaRPr lang="en-US" sz="1000" dirty="0"/>
          </a:p>
        </p:txBody>
      </p:sp>
      <p:sp>
        <p:nvSpPr>
          <p:cNvPr id="40" name="Shape 30"/>
          <p:cNvSpPr/>
          <p:nvPr/>
        </p:nvSpPr>
        <p:spPr>
          <a:xfrm>
            <a:off x="6217920" y="5852160"/>
            <a:ext cx="5468112" cy="457200"/>
          </a:xfrm>
          <a:prstGeom prst="roundRect">
            <a:avLst>
              <a:gd name="adj" fmla="val 12000"/>
            </a:avLst>
          </a:prstGeom>
          <a:solidFill>
            <a:srgbClr val="0B3D3A"/>
          </a:solidFill>
          <a:ln w="12700">
            <a:solidFill>
              <a:srgbClr val="0B3D3A"/>
            </a:solidFill>
            <a:prstDash val="solid"/>
          </a:ln>
        </p:spPr>
      </p:sp>
      <p:sp>
        <p:nvSpPr>
          <p:cNvPr id="41" name="Text 31"/>
          <p:cNvSpPr txBox="1"/>
          <p:nvPr/>
        </p:nvSpPr>
        <p:spPr>
          <a:xfrm>
            <a:off x="6309360" y="5852160"/>
            <a:ext cx="5303520" cy="457200"/>
          </a:xfrm>
          <a:prstGeom prst="rect">
            <a:avLst/>
          </a:prstGeom>
          <a:noFill/>
          <a:ln/>
        </p:spPr>
        <p:txBody>
          <a:bodyPr wrap="square" lIns="0" tIns="0" rIns="0" bIns="0"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Mumbai's strength is its scale and existing markets.</a:t>
            </a:r>
            <a:endParaRPr lang="en-US" sz="950" dirty="0"/>
          </a:p>
        </p:txBody>
      </p:sp>
      <p:sp>
        <p:nvSpPr>
          <p:cNvPr id="42" name="Text 32"/>
          <p:cNvSpPr txBox="1"/>
          <p:nvPr/>
        </p:nvSpPr>
        <p:spPr>
          <a:xfrm>
            <a:off x="365760" y="6473952"/>
            <a:ext cx="11430000" cy="292608"/>
          </a:xfrm>
          <a:prstGeom prst="rect">
            <a:avLst/>
          </a:prstGeom>
          <a:noFill/>
          <a:ln/>
        </p:spPr>
        <p:txBody>
          <a:bodyPr wrap="square" lIns="0" tIns="0" rIns="0" bIns="0" rtlCol="0" anchor="t"/>
          <a:lstStyle/>
          <a:p>
            <a:pPr indent="0" marL="0">
              <a:buNone/>
            </a:pPr>
            <a:r>
              <a:rPr lang="en-US" sz="750" dirty="0">
                <a:solidFill>
                  <a:srgbClr val="5B6B69"/>
                </a:solidFill>
                <a:latin typeface="Calibri" pitchFamily="34" charset="0"/>
                <a:ea typeface="Calibri" pitchFamily="34" charset="-122"/>
                <a:cs typeface="Calibri" pitchFamily="34" charset="-120"/>
              </a:rPr>
              <a:t>Sources: Maharashtra Pollution Control Board – e-waste authorisations  |  MCGM/BMC – solid waste management department  |  CPCB – state-wise e-waste generation data</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F7F5"/>
        </a:solidFill>
      </p:bgPr>
    </p:bg>
    <p:spTree>
      <p:nvGrpSpPr>
        <p:cNvPr id="1" name=""/>
        <p:cNvGrpSpPr/>
        <p:nvPr/>
      </p:nvGrpSpPr>
      <p:grpSpPr>
        <a:xfrm>
          <a:off x="0" y="0"/>
          <a:ext cx="0" cy="0"/>
          <a:chOff x="0" y="0"/>
          <a:chExt cx="0" cy="0"/>
        </a:xfrm>
      </p:grpSpPr>
      <p:sp>
        <p:nvSpPr>
          <p:cNvPr id="2" name="Shape 0"/>
          <p:cNvSpPr/>
          <p:nvPr/>
        </p:nvSpPr>
        <p:spPr>
          <a:xfrm>
            <a:off x="365760" y="274320"/>
            <a:ext cx="685800" cy="685800"/>
          </a:xfrm>
          <a:prstGeom prst="ellipse">
            <a:avLst/>
          </a:prstGeom>
          <a:solidFill>
            <a:srgbClr val="0B3D3A"/>
          </a:solidFill>
          <a:ln w="12700">
            <a:solidFill>
              <a:srgbClr val="0B3D3A"/>
            </a:solidFill>
            <a:prstDash val="solid"/>
          </a:ln>
        </p:spPr>
      </p:sp>
      <p:sp>
        <p:nvSpPr>
          <p:cNvPr id="3" name="Text 1"/>
          <p:cNvSpPr txBox="1"/>
          <p:nvPr/>
        </p:nvSpPr>
        <p:spPr>
          <a:xfrm>
            <a:off x="365760" y="274320"/>
            <a:ext cx="685800" cy="685800"/>
          </a:xfrm>
          <a:prstGeom prst="rect">
            <a:avLst/>
          </a:prstGeom>
          <a:noFill/>
          <a:ln/>
        </p:spPr>
        <p:txBody>
          <a:bodyPr wrap="square" lIns="0" tIns="0" rIns="0" bIns="0" rtlCol="0" anchor="ctr"/>
          <a:lstStyle/>
          <a:p>
            <a:pPr algn="ctr" indent="0" marL="0">
              <a:buNone/>
            </a:pPr>
            <a:r>
              <a:rPr lang="en-US" sz="2400" b="1" dirty="0">
                <a:solidFill>
                  <a:srgbClr val="3DDC97"/>
                </a:solidFill>
                <a:latin typeface="Cambria" pitchFamily="34" charset="0"/>
                <a:ea typeface="Cambria" pitchFamily="34" charset="-122"/>
                <a:cs typeface="Cambria" pitchFamily="34" charset="-120"/>
              </a:rPr>
              <a:t>7</a:t>
            </a:r>
            <a:endParaRPr lang="en-US" sz="2400" dirty="0"/>
          </a:p>
        </p:txBody>
      </p:sp>
      <p:sp>
        <p:nvSpPr>
          <p:cNvPr id="4" name="Text 2"/>
          <p:cNvSpPr txBox="1"/>
          <p:nvPr/>
        </p:nvSpPr>
        <p:spPr>
          <a:xfrm>
            <a:off x="1188720" y="228600"/>
            <a:ext cx="10607040" cy="777240"/>
          </a:xfrm>
          <a:prstGeom prst="rect">
            <a:avLst/>
          </a:prstGeom>
          <a:noFill/>
          <a:ln/>
        </p:spPr>
        <p:txBody>
          <a:bodyPr wrap="square" lIns="0" tIns="0" rIns="0" bIns="0" rtlCol="0" anchor="ctr"/>
          <a:lstStyle/>
          <a:p>
            <a:pPr indent="0" marL="0">
              <a:buNone/>
            </a:pPr>
            <a:r>
              <a:rPr lang="en-US" sz="2600" b="1" dirty="0">
                <a:solidFill>
                  <a:srgbClr val="0B3D3A"/>
                </a:solidFill>
                <a:latin typeface="Cambria" pitchFamily="34" charset="0"/>
                <a:ea typeface="Cambria" pitchFamily="34" charset="-122"/>
                <a:cs typeface="Cambria" pitchFamily="34" charset="-120"/>
              </a:rPr>
              <a:t>Kerala's Clean Kerala Company</a:t>
            </a:r>
            <a:endParaRPr lang="en-US" sz="2600" dirty="0"/>
          </a:p>
        </p:txBody>
      </p:sp>
      <p:sp>
        <p:nvSpPr>
          <p:cNvPr id="5" name="Shape 3"/>
          <p:cNvSpPr/>
          <p:nvPr/>
        </p:nvSpPr>
        <p:spPr>
          <a:xfrm>
            <a:off x="365760" y="1143000"/>
            <a:ext cx="4206240" cy="3246120"/>
          </a:xfrm>
          <a:prstGeom prst="roundRect">
            <a:avLst>
              <a:gd name="adj" fmla="val 2254"/>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6" name="Shape 4"/>
          <p:cNvSpPr/>
          <p:nvPr/>
        </p:nvSpPr>
        <p:spPr>
          <a:xfrm>
            <a:off x="502920" y="1261872"/>
            <a:ext cx="292608" cy="292608"/>
          </a:xfrm>
          <a:prstGeom prst="ellipse">
            <a:avLst/>
          </a:prstGeom>
          <a:solidFill>
            <a:srgbClr val="127C6F"/>
          </a:solidFill>
          <a:ln w="12700">
            <a:solidFill>
              <a:srgbClr val="127C6F"/>
            </a:solidFill>
            <a:prstDash val="solid"/>
          </a:ln>
        </p:spPr>
      </p:sp>
      <p:pic>
        <p:nvPicPr>
          <p:cNvPr id="7" name="Image 0" descr="preencoded.png">    </p:cNvPr>
          <p:cNvPicPr>
            <a:picLocks noChangeAspect="1"/>
          </p:cNvPicPr>
          <p:nvPr/>
        </p:nvPicPr>
        <p:blipFill>
          <a:blip r:embed="rId1"/>
          <a:stretch>
            <a:fillRect/>
          </a:stretch>
        </p:blipFill>
        <p:spPr>
          <a:xfrm>
            <a:off x="566928" y="1325880"/>
            <a:ext cx="164592" cy="164592"/>
          </a:xfrm>
          <a:prstGeom prst="rect">
            <a:avLst/>
          </a:prstGeom>
        </p:spPr>
      </p:pic>
      <p:sp>
        <p:nvSpPr>
          <p:cNvPr id="8" name="Text 5"/>
          <p:cNvSpPr txBox="1"/>
          <p:nvPr/>
        </p:nvSpPr>
        <p:spPr>
          <a:xfrm>
            <a:off x="868680" y="1243584"/>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Overview</a:t>
            </a:r>
            <a:endParaRPr lang="en-US" sz="1300" dirty="0"/>
          </a:p>
        </p:txBody>
      </p:sp>
      <p:sp>
        <p:nvSpPr>
          <p:cNvPr id="9" name="Text 6"/>
          <p:cNvSpPr txBox="1"/>
          <p:nvPr/>
        </p:nvSpPr>
        <p:spPr>
          <a:xfrm>
            <a:off x="502920" y="1627632"/>
            <a:ext cx="3931920" cy="1051560"/>
          </a:xfrm>
          <a:prstGeom prst="rect">
            <a:avLst/>
          </a:prstGeom>
          <a:noFill/>
          <a:ln/>
        </p:spPr>
        <p:txBody>
          <a:bodyPr wrap="square" lIns="0" tIns="0" rIns="0" bIns="0" rtlCol="0" anchor="t"/>
          <a:lstStyle/>
          <a:p>
            <a:pPr indent="0" marL="0">
              <a:buNone/>
            </a:pPr>
            <a:r>
              <a:rPr lang="en-US" sz="1050" dirty="0">
                <a:solidFill>
                  <a:srgbClr val="1E2B2A"/>
                </a:solidFill>
                <a:latin typeface="Calibri" pitchFamily="34" charset="0"/>
                <a:ea typeface="Calibri" pitchFamily="34" charset="-122"/>
                <a:cs typeface="Calibri" pitchFamily="34" charset="-120"/>
              </a:rPr>
              <a:t>Clean Kerala Company Limited (CKCL) is a public-sector company under the Local Self-Government Department that manages non-biodegradable waste, including e-waste, by working with local bodies and Haritha Karma Sena (HKS) volunteers. It demonstrates a state-led, decentralised model of collection linked to authorised recyclers.</a:t>
            </a:r>
            <a:endParaRPr lang="en-US" sz="1050" dirty="0"/>
          </a:p>
        </p:txBody>
      </p:sp>
      <p:sp>
        <p:nvSpPr>
          <p:cNvPr id="10" name="Shape 7"/>
          <p:cNvSpPr/>
          <p:nvPr/>
        </p:nvSpPr>
        <p:spPr>
          <a:xfrm>
            <a:off x="502920" y="2697480"/>
            <a:ext cx="292608" cy="292608"/>
          </a:xfrm>
          <a:prstGeom prst="ellipse">
            <a:avLst/>
          </a:prstGeom>
          <a:solidFill>
            <a:srgbClr val="127C6F"/>
          </a:solidFill>
          <a:ln w="12700">
            <a:solidFill>
              <a:srgbClr val="127C6F"/>
            </a:solidFill>
            <a:prstDash val="solid"/>
          </a:ln>
        </p:spPr>
      </p:sp>
      <p:pic>
        <p:nvPicPr>
          <p:cNvPr id="11" name="Image 1" descr="preencoded.png">    </p:cNvPr>
          <p:cNvPicPr>
            <a:picLocks noChangeAspect="1"/>
          </p:cNvPicPr>
          <p:nvPr/>
        </p:nvPicPr>
        <p:blipFill>
          <a:blip r:embed="rId2"/>
          <a:stretch>
            <a:fillRect/>
          </a:stretch>
        </p:blipFill>
        <p:spPr>
          <a:xfrm>
            <a:off x="566928" y="2761488"/>
            <a:ext cx="164592" cy="164592"/>
          </a:xfrm>
          <a:prstGeom prst="rect">
            <a:avLst/>
          </a:prstGeom>
        </p:spPr>
      </p:pic>
      <p:sp>
        <p:nvSpPr>
          <p:cNvPr id="12" name="Text 8"/>
          <p:cNvSpPr txBox="1"/>
          <p:nvPr/>
        </p:nvSpPr>
        <p:spPr>
          <a:xfrm>
            <a:off x="868680" y="267919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Strategy / Initiative</a:t>
            </a:r>
            <a:endParaRPr lang="en-US" sz="1300" dirty="0"/>
          </a:p>
        </p:txBody>
      </p:sp>
      <p:sp>
        <p:nvSpPr>
          <p:cNvPr id="13" name="Text 9"/>
          <p:cNvSpPr txBox="1"/>
          <p:nvPr/>
        </p:nvSpPr>
        <p:spPr>
          <a:xfrm>
            <a:off x="502920" y="3044952"/>
            <a:ext cx="3931920" cy="1280160"/>
          </a:xfrm>
          <a:prstGeom prst="rect">
            <a:avLst/>
          </a:prstGeom>
          <a:noFill/>
          <a:ln/>
        </p:spPr>
        <p:txBody>
          <a:bodyPr wrap="square" lIns="0" tIns="0" rIns="0" bIns="0" rtlCol="0" anchor="t"/>
          <a:lstStyle/>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Door-to-door collection by Haritha Karma Sena with user fees.</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Material Collection Facilities (MCFs) at local-body level for sorting.</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Periodic e-waste collection campaigns handled with authorised recyclers.</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State-led coordination through LSGD, Suchitwa Mission and CKCL.</a:t>
            </a:r>
            <a:endParaRPr lang="en-US" sz="950" dirty="0"/>
          </a:p>
        </p:txBody>
      </p:sp>
      <p:sp>
        <p:nvSpPr>
          <p:cNvPr id="14" name="Shape 10"/>
          <p:cNvSpPr/>
          <p:nvPr/>
        </p:nvSpPr>
        <p:spPr>
          <a:xfrm>
            <a:off x="4709160" y="1143000"/>
            <a:ext cx="3474720" cy="3246120"/>
          </a:xfrm>
          <a:prstGeom prst="roundRect">
            <a:avLst>
              <a:gd name="adj" fmla="val 2254"/>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15" name="Shape 11"/>
          <p:cNvSpPr/>
          <p:nvPr/>
        </p:nvSpPr>
        <p:spPr>
          <a:xfrm>
            <a:off x="4846320" y="1261872"/>
            <a:ext cx="292608" cy="292608"/>
          </a:xfrm>
          <a:prstGeom prst="ellipse">
            <a:avLst/>
          </a:prstGeom>
          <a:solidFill>
            <a:srgbClr val="127C6F"/>
          </a:solidFill>
          <a:ln w="12700">
            <a:solidFill>
              <a:srgbClr val="127C6F"/>
            </a:solidFill>
            <a:prstDash val="solid"/>
          </a:ln>
        </p:spPr>
      </p:sp>
      <p:pic>
        <p:nvPicPr>
          <p:cNvPr id="16" name="Image 2" descr="preencoded.png">    </p:cNvPr>
          <p:cNvPicPr>
            <a:picLocks noChangeAspect="1"/>
          </p:cNvPicPr>
          <p:nvPr/>
        </p:nvPicPr>
        <p:blipFill>
          <a:blip r:embed="rId3"/>
          <a:stretch>
            <a:fillRect/>
          </a:stretch>
        </p:blipFill>
        <p:spPr>
          <a:xfrm>
            <a:off x="4910328" y="1325880"/>
            <a:ext cx="164592" cy="164592"/>
          </a:xfrm>
          <a:prstGeom prst="rect">
            <a:avLst/>
          </a:prstGeom>
        </p:spPr>
      </p:pic>
      <p:sp>
        <p:nvSpPr>
          <p:cNvPr id="17" name="Text 12"/>
          <p:cNvSpPr txBox="1"/>
          <p:nvPr/>
        </p:nvSpPr>
        <p:spPr>
          <a:xfrm>
            <a:off x="5212080" y="1243584"/>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Impact &amp; Results</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846320" y="1645920"/>
          <a:ext cx="3200400" cy="914400"/>
        </p:xfrm>
        <a:graphic>
          <a:graphicData uri="http://schemas.openxmlformats.org/drawingml/2006/table">
            <a:tbl>
              <a:tblPr/>
              <a:tblGrid>
                <a:gridCol w="1188720"/>
                <a:gridCol w="2011680"/>
              </a:tblGrid>
              <a:tr h="256032">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Indicator</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Data</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127C6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Model</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State-owned company + local bodies</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Workforce</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Haritha Karma Sena (women-led)</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Facilities</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MCFs in local bodies</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E-waste handling</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Campaign collections passed to authorised recyclers</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Outcome</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Higher formal handling of household e-waste</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bl>
          </a:graphicData>
        </a:graphic>
      </p:graphicFrame>
      <p:sp>
        <p:nvSpPr>
          <p:cNvPr id="19" name="Shape 13"/>
          <p:cNvSpPr/>
          <p:nvPr/>
        </p:nvSpPr>
        <p:spPr>
          <a:xfrm>
            <a:off x="8321040" y="1161288"/>
            <a:ext cx="292608" cy="292608"/>
          </a:xfrm>
          <a:prstGeom prst="ellipse">
            <a:avLst/>
          </a:prstGeom>
          <a:solidFill>
            <a:srgbClr val="127C6F"/>
          </a:solidFill>
          <a:ln w="12700">
            <a:solidFill>
              <a:srgbClr val="127C6F"/>
            </a:solidFill>
            <a:prstDash val="solid"/>
          </a:ln>
        </p:spPr>
      </p:sp>
      <p:pic>
        <p:nvPicPr>
          <p:cNvPr id="20" name="Image 3" descr="preencoded.png">    </p:cNvPr>
          <p:cNvPicPr>
            <a:picLocks noChangeAspect="1"/>
          </p:cNvPicPr>
          <p:nvPr/>
        </p:nvPicPr>
        <p:blipFill>
          <a:blip r:embed="rId4"/>
          <a:stretch>
            <a:fillRect/>
          </a:stretch>
        </p:blipFill>
        <p:spPr>
          <a:xfrm>
            <a:off x="8385048" y="1225296"/>
            <a:ext cx="164592" cy="164592"/>
          </a:xfrm>
          <a:prstGeom prst="rect">
            <a:avLst/>
          </a:prstGeom>
        </p:spPr>
      </p:pic>
      <p:sp>
        <p:nvSpPr>
          <p:cNvPr id="21" name="Text 14"/>
          <p:cNvSpPr txBox="1"/>
          <p:nvPr/>
        </p:nvSpPr>
        <p:spPr>
          <a:xfrm>
            <a:off x="8686800" y="1143000"/>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SWOT Analysis</a:t>
            </a:r>
            <a:endParaRPr lang="en-US" sz="1300" dirty="0"/>
          </a:p>
        </p:txBody>
      </p:sp>
      <p:sp>
        <p:nvSpPr>
          <p:cNvPr id="22" name="Shape 15"/>
          <p:cNvSpPr/>
          <p:nvPr/>
        </p:nvSpPr>
        <p:spPr>
          <a:xfrm>
            <a:off x="8321040" y="1554480"/>
            <a:ext cx="1719072" cy="1371600"/>
          </a:xfrm>
          <a:prstGeom prst="roundRect">
            <a:avLst>
              <a:gd name="adj" fmla="val 5333"/>
            </a:avLst>
          </a:prstGeom>
          <a:solidFill>
            <a:srgbClr val="DDF3E4"/>
          </a:solidFill>
          <a:ln w="12700">
            <a:solidFill>
              <a:srgbClr val="DDF3E4"/>
            </a:solidFill>
            <a:prstDash val="solid"/>
          </a:ln>
        </p:spPr>
      </p:sp>
      <p:sp>
        <p:nvSpPr>
          <p:cNvPr id="23" name="Text 16"/>
          <p:cNvSpPr txBox="1"/>
          <p:nvPr/>
        </p:nvSpPr>
        <p:spPr>
          <a:xfrm>
            <a:off x="8412480" y="160934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1E7A3C"/>
                </a:solidFill>
                <a:latin typeface="Calibri" pitchFamily="34" charset="0"/>
                <a:ea typeface="Calibri" pitchFamily="34" charset="-122"/>
                <a:cs typeface="Calibri" pitchFamily="34" charset="-120"/>
              </a:rPr>
              <a:t>Strengths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Public institution with local reach</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Trained workforce and fee system</a:t>
            </a:r>
            <a:endParaRPr lang="en-US" sz="1100" dirty="0"/>
          </a:p>
        </p:txBody>
      </p:sp>
      <p:sp>
        <p:nvSpPr>
          <p:cNvPr id="24" name="Shape 17"/>
          <p:cNvSpPr/>
          <p:nvPr/>
        </p:nvSpPr>
        <p:spPr>
          <a:xfrm>
            <a:off x="10085832" y="1554480"/>
            <a:ext cx="1719072" cy="1371600"/>
          </a:xfrm>
          <a:prstGeom prst="roundRect">
            <a:avLst>
              <a:gd name="adj" fmla="val 5333"/>
            </a:avLst>
          </a:prstGeom>
          <a:solidFill>
            <a:srgbClr val="FBE0DE"/>
          </a:solidFill>
          <a:ln w="12700">
            <a:solidFill>
              <a:srgbClr val="FBE0DE"/>
            </a:solidFill>
            <a:prstDash val="solid"/>
          </a:ln>
        </p:spPr>
      </p:sp>
      <p:sp>
        <p:nvSpPr>
          <p:cNvPr id="25" name="Text 18"/>
          <p:cNvSpPr txBox="1"/>
          <p:nvPr/>
        </p:nvSpPr>
        <p:spPr>
          <a:xfrm>
            <a:off x="10177272" y="160934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B23B2E"/>
                </a:solidFill>
                <a:latin typeface="Calibri" pitchFamily="34" charset="0"/>
                <a:ea typeface="Calibri" pitchFamily="34" charset="-122"/>
                <a:cs typeface="Calibri" pitchFamily="34" charset="-120"/>
              </a:rPr>
              <a:t>Weaknesses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Depends on government funding</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Limited recycler capacity within the state</a:t>
            </a:r>
            <a:endParaRPr lang="en-US" sz="1100" dirty="0"/>
          </a:p>
        </p:txBody>
      </p:sp>
      <p:sp>
        <p:nvSpPr>
          <p:cNvPr id="26" name="Shape 19"/>
          <p:cNvSpPr/>
          <p:nvPr/>
        </p:nvSpPr>
        <p:spPr>
          <a:xfrm>
            <a:off x="8321040" y="3017520"/>
            <a:ext cx="1719072" cy="1371600"/>
          </a:xfrm>
          <a:prstGeom prst="roundRect">
            <a:avLst>
              <a:gd name="adj" fmla="val 5333"/>
            </a:avLst>
          </a:prstGeom>
          <a:solidFill>
            <a:srgbClr val="DCEBFA"/>
          </a:solidFill>
          <a:ln w="12700">
            <a:solidFill>
              <a:srgbClr val="DCEBFA"/>
            </a:solidFill>
            <a:prstDash val="solid"/>
          </a:ln>
        </p:spPr>
      </p:sp>
      <p:sp>
        <p:nvSpPr>
          <p:cNvPr id="27" name="Text 20"/>
          <p:cNvSpPr txBox="1"/>
          <p:nvPr/>
        </p:nvSpPr>
        <p:spPr>
          <a:xfrm>
            <a:off x="8412480" y="307238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1F5FA8"/>
                </a:solidFill>
                <a:latin typeface="Calibri" pitchFamily="34" charset="0"/>
                <a:ea typeface="Calibri" pitchFamily="34" charset="-122"/>
                <a:cs typeface="Calibri" pitchFamily="34" charset="-120"/>
              </a:rPr>
              <a:t>Opportunities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Scale to all districts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Link with EPR producers/PROs</a:t>
            </a:r>
            <a:endParaRPr lang="en-US" sz="1100" dirty="0"/>
          </a:p>
        </p:txBody>
      </p:sp>
      <p:sp>
        <p:nvSpPr>
          <p:cNvPr id="28" name="Shape 21"/>
          <p:cNvSpPr/>
          <p:nvPr/>
        </p:nvSpPr>
        <p:spPr>
          <a:xfrm>
            <a:off x="10085832" y="3017520"/>
            <a:ext cx="1719072" cy="1371600"/>
          </a:xfrm>
          <a:prstGeom prst="roundRect">
            <a:avLst>
              <a:gd name="adj" fmla="val 5333"/>
            </a:avLst>
          </a:prstGeom>
          <a:solidFill>
            <a:srgbClr val="FDEBD0"/>
          </a:solidFill>
          <a:ln w="12700">
            <a:solidFill>
              <a:srgbClr val="FDEBD0"/>
            </a:solidFill>
            <a:prstDash val="solid"/>
          </a:ln>
        </p:spPr>
      </p:sp>
      <p:sp>
        <p:nvSpPr>
          <p:cNvPr id="29" name="Text 22"/>
          <p:cNvSpPr txBox="1"/>
          <p:nvPr/>
        </p:nvSpPr>
        <p:spPr>
          <a:xfrm>
            <a:off x="10177272" y="307238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B96A0A"/>
                </a:solidFill>
                <a:latin typeface="Calibri" pitchFamily="34" charset="0"/>
                <a:ea typeface="Calibri" pitchFamily="34" charset="-122"/>
                <a:cs typeface="Calibri" pitchFamily="34" charset="-120"/>
              </a:rPr>
              <a:t>Threats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Political or funding changes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Volume growth in electronics</a:t>
            </a:r>
            <a:endParaRPr lang="en-US" sz="1100" dirty="0"/>
          </a:p>
        </p:txBody>
      </p:sp>
      <p:sp>
        <p:nvSpPr>
          <p:cNvPr id="30" name="Shape 23"/>
          <p:cNvSpPr/>
          <p:nvPr/>
        </p:nvSpPr>
        <p:spPr>
          <a:xfrm>
            <a:off x="365760" y="4526280"/>
            <a:ext cx="5577840" cy="1874520"/>
          </a:xfrm>
          <a:prstGeom prst="roundRect">
            <a:avLst>
              <a:gd name="adj" fmla="val 3902"/>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31" name="Shape 24"/>
          <p:cNvSpPr/>
          <p:nvPr/>
        </p:nvSpPr>
        <p:spPr>
          <a:xfrm>
            <a:off x="502920" y="4617720"/>
            <a:ext cx="292608" cy="292608"/>
          </a:xfrm>
          <a:prstGeom prst="ellipse">
            <a:avLst/>
          </a:prstGeom>
          <a:solidFill>
            <a:srgbClr val="127C6F"/>
          </a:solidFill>
          <a:ln w="12700">
            <a:solidFill>
              <a:srgbClr val="127C6F"/>
            </a:solidFill>
            <a:prstDash val="solid"/>
          </a:ln>
        </p:spPr>
      </p:sp>
      <p:pic>
        <p:nvPicPr>
          <p:cNvPr id="32" name="Image 4" descr="preencoded.png">    </p:cNvPr>
          <p:cNvPicPr>
            <a:picLocks noChangeAspect="1"/>
          </p:cNvPicPr>
          <p:nvPr/>
        </p:nvPicPr>
        <p:blipFill>
          <a:blip r:embed="rId5"/>
          <a:stretch>
            <a:fillRect/>
          </a:stretch>
        </p:blipFill>
        <p:spPr>
          <a:xfrm>
            <a:off x="566928" y="4681728"/>
            <a:ext cx="164592" cy="164592"/>
          </a:xfrm>
          <a:prstGeom prst="rect">
            <a:avLst/>
          </a:prstGeom>
        </p:spPr>
      </p:pic>
      <p:sp>
        <p:nvSpPr>
          <p:cNvPr id="33" name="Text 25"/>
          <p:cNvSpPr txBox="1"/>
          <p:nvPr/>
        </p:nvSpPr>
        <p:spPr>
          <a:xfrm>
            <a:off x="868680" y="459943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Comparison with India</a:t>
            </a:r>
            <a:endParaRPr lang="en-US" sz="13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502920" y="4983480"/>
          <a:ext cx="5303520" cy="914400"/>
        </p:xfrm>
        <a:graphic>
          <a:graphicData uri="http://schemas.openxmlformats.org/drawingml/2006/table">
            <a:tbl>
              <a:tblPr/>
              <a:tblGrid>
                <a:gridCol w="1371600"/>
                <a:gridCol w="1965960"/>
                <a:gridCol w="1965960"/>
              </a:tblGrid>
              <a:tr h="237744">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Parameter</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Kerala CKCL</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India overall</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Institution</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State company + LSGD</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Fragmented</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Household collection</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Door-to-door</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Rare</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Workforce</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Formal HKS</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Informal</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Link to recyclers</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Direct</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Weak</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35" name="Shape 26"/>
          <p:cNvSpPr/>
          <p:nvPr/>
        </p:nvSpPr>
        <p:spPr>
          <a:xfrm>
            <a:off x="6080760" y="4526280"/>
            <a:ext cx="5742432" cy="1874520"/>
          </a:xfrm>
          <a:prstGeom prst="roundRect">
            <a:avLst>
              <a:gd name="adj" fmla="val 3902"/>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36" name="Shape 27"/>
          <p:cNvSpPr/>
          <p:nvPr/>
        </p:nvSpPr>
        <p:spPr>
          <a:xfrm>
            <a:off x="6217920" y="4617720"/>
            <a:ext cx="292608" cy="292608"/>
          </a:xfrm>
          <a:prstGeom prst="ellipse">
            <a:avLst/>
          </a:prstGeom>
          <a:solidFill>
            <a:srgbClr val="127C6F"/>
          </a:solidFill>
          <a:ln w="12700">
            <a:solidFill>
              <a:srgbClr val="127C6F"/>
            </a:solidFill>
            <a:prstDash val="solid"/>
          </a:ln>
        </p:spPr>
      </p:sp>
      <p:pic>
        <p:nvPicPr>
          <p:cNvPr id="37" name="Image 5" descr="preencoded.png">    </p:cNvPr>
          <p:cNvPicPr>
            <a:picLocks noChangeAspect="1"/>
          </p:cNvPicPr>
          <p:nvPr/>
        </p:nvPicPr>
        <p:blipFill>
          <a:blip r:embed="rId6"/>
          <a:stretch>
            <a:fillRect/>
          </a:stretch>
        </p:blipFill>
        <p:spPr>
          <a:xfrm>
            <a:off x="6281928" y="4681728"/>
            <a:ext cx="164592" cy="164592"/>
          </a:xfrm>
          <a:prstGeom prst="rect">
            <a:avLst/>
          </a:prstGeom>
        </p:spPr>
      </p:pic>
      <p:sp>
        <p:nvSpPr>
          <p:cNvPr id="38" name="Text 28"/>
          <p:cNvSpPr txBox="1"/>
          <p:nvPr/>
        </p:nvSpPr>
        <p:spPr>
          <a:xfrm>
            <a:off x="6583680" y="459943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Recommendations</a:t>
            </a:r>
            <a:endParaRPr lang="en-US" sz="1300" dirty="0"/>
          </a:p>
        </p:txBody>
      </p:sp>
      <p:sp>
        <p:nvSpPr>
          <p:cNvPr id="39" name="Text 29"/>
          <p:cNvSpPr txBox="1"/>
          <p:nvPr/>
        </p:nvSpPr>
        <p:spPr>
          <a:xfrm>
            <a:off x="6217920" y="4983480"/>
            <a:ext cx="5486400" cy="868680"/>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Replicate the CKCL model in other states.</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Use EPR funds to support HKS collection.</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Train workers in safe e-waste handling.</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Digitise tracking of e-waste consignments.</a:t>
            </a:r>
            <a:endParaRPr lang="en-US" sz="1000" dirty="0"/>
          </a:p>
        </p:txBody>
      </p:sp>
      <p:sp>
        <p:nvSpPr>
          <p:cNvPr id="40" name="Shape 30"/>
          <p:cNvSpPr/>
          <p:nvPr/>
        </p:nvSpPr>
        <p:spPr>
          <a:xfrm>
            <a:off x="6217920" y="5852160"/>
            <a:ext cx="5468112" cy="457200"/>
          </a:xfrm>
          <a:prstGeom prst="roundRect">
            <a:avLst>
              <a:gd name="adj" fmla="val 12000"/>
            </a:avLst>
          </a:prstGeom>
          <a:solidFill>
            <a:srgbClr val="0B3D3A"/>
          </a:solidFill>
          <a:ln w="12700">
            <a:solidFill>
              <a:srgbClr val="0B3D3A"/>
            </a:solidFill>
            <a:prstDash val="solid"/>
          </a:ln>
        </p:spPr>
      </p:sp>
      <p:sp>
        <p:nvSpPr>
          <p:cNvPr id="41" name="Text 31"/>
          <p:cNvSpPr txBox="1"/>
          <p:nvPr/>
        </p:nvSpPr>
        <p:spPr>
          <a:xfrm>
            <a:off x="6309360" y="5852160"/>
            <a:ext cx="5303520" cy="457200"/>
          </a:xfrm>
          <a:prstGeom prst="rect">
            <a:avLst/>
          </a:prstGeom>
          <a:noFill/>
          <a:ln/>
        </p:spPr>
        <p:txBody>
          <a:bodyPr wrap="square" lIns="0" tIns="0" rIns="0" bIns="0"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Kerala shows that state-led decentralised systems can bring e-waste into formal channels.</a:t>
            </a:r>
            <a:endParaRPr lang="en-US" sz="950" dirty="0"/>
          </a:p>
        </p:txBody>
      </p:sp>
      <p:sp>
        <p:nvSpPr>
          <p:cNvPr id="42" name="Text 32"/>
          <p:cNvSpPr txBox="1"/>
          <p:nvPr/>
        </p:nvSpPr>
        <p:spPr>
          <a:xfrm>
            <a:off x="365760" y="6473952"/>
            <a:ext cx="11430000" cy="292608"/>
          </a:xfrm>
          <a:prstGeom prst="rect">
            <a:avLst/>
          </a:prstGeom>
          <a:noFill/>
          <a:ln/>
        </p:spPr>
        <p:txBody>
          <a:bodyPr wrap="square" lIns="0" tIns="0" rIns="0" bIns="0" rtlCol="0" anchor="t"/>
          <a:lstStyle/>
          <a:p>
            <a:pPr indent="0" marL="0">
              <a:buNone/>
            </a:pPr>
            <a:r>
              <a:rPr lang="en-US" sz="750" dirty="0">
                <a:solidFill>
                  <a:srgbClr val="5B6B69"/>
                </a:solidFill>
                <a:latin typeface="Calibri" pitchFamily="34" charset="0"/>
                <a:ea typeface="Calibri" pitchFamily="34" charset="-122"/>
                <a:cs typeface="Calibri" pitchFamily="34" charset="-120"/>
              </a:rPr>
              <a:t>Sources: Clean Kerala Company Ltd – official website and reports  |  Suchitwa Mission, Government of Kerala  |  Kerala LSGD – Haritha Karma Sena information</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1F7F5"/>
        </a:solidFill>
      </p:bgPr>
    </p:bg>
    <p:spTree>
      <p:nvGrpSpPr>
        <p:cNvPr id="1" name=""/>
        <p:cNvGrpSpPr/>
        <p:nvPr/>
      </p:nvGrpSpPr>
      <p:grpSpPr>
        <a:xfrm>
          <a:off x="0" y="0"/>
          <a:ext cx="0" cy="0"/>
          <a:chOff x="0" y="0"/>
          <a:chExt cx="0" cy="0"/>
        </a:xfrm>
      </p:grpSpPr>
      <p:sp>
        <p:nvSpPr>
          <p:cNvPr id="2" name="Shape 0"/>
          <p:cNvSpPr/>
          <p:nvPr/>
        </p:nvSpPr>
        <p:spPr>
          <a:xfrm>
            <a:off x="365760" y="274320"/>
            <a:ext cx="685800" cy="685800"/>
          </a:xfrm>
          <a:prstGeom prst="ellipse">
            <a:avLst/>
          </a:prstGeom>
          <a:solidFill>
            <a:srgbClr val="0B3D3A"/>
          </a:solidFill>
          <a:ln w="12700">
            <a:solidFill>
              <a:srgbClr val="0B3D3A"/>
            </a:solidFill>
            <a:prstDash val="solid"/>
          </a:ln>
        </p:spPr>
      </p:sp>
      <p:sp>
        <p:nvSpPr>
          <p:cNvPr id="3" name="Text 1"/>
          <p:cNvSpPr txBox="1"/>
          <p:nvPr/>
        </p:nvSpPr>
        <p:spPr>
          <a:xfrm>
            <a:off x="365760" y="274320"/>
            <a:ext cx="685800" cy="685800"/>
          </a:xfrm>
          <a:prstGeom prst="rect">
            <a:avLst/>
          </a:prstGeom>
          <a:noFill/>
          <a:ln/>
        </p:spPr>
        <p:txBody>
          <a:bodyPr wrap="square" lIns="0" tIns="0" rIns="0" bIns="0" rtlCol="0" anchor="ctr"/>
          <a:lstStyle/>
          <a:p>
            <a:pPr algn="ctr" indent="0" marL="0">
              <a:buNone/>
            </a:pPr>
            <a:r>
              <a:rPr lang="en-US" sz="2400" b="1" dirty="0">
                <a:solidFill>
                  <a:srgbClr val="3DDC97"/>
                </a:solidFill>
                <a:latin typeface="Cambria" pitchFamily="34" charset="0"/>
                <a:ea typeface="Cambria" pitchFamily="34" charset="-122"/>
                <a:cs typeface="Cambria" pitchFamily="34" charset="-120"/>
              </a:rPr>
              <a:t>8</a:t>
            </a:r>
            <a:endParaRPr lang="en-US" sz="2400" dirty="0"/>
          </a:p>
        </p:txBody>
      </p:sp>
      <p:sp>
        <p:nvSpPr>
          <p:cNvPr id="4" name="Text 2"/>
          <p:cNvSpPr txBox="1"/>
          <p:nvPr/>
        </p:nvSpPr>
        <p:spPr>
          <a:xfrm>
            <a:off x="1188720" y="228600"/>
            <a:ext cx="10607040" cy="777240"/>
          </a:xfrm>
          <a:prstGeom prst="rect">
            <a:avLst/>
          </a:prstGeom>
          <a:noFill/>
          <a:ln/>
        </p:spPr>
        <p:txBody>
          <a:bodyPr wrap="square" lIns="0" tIns="0" rIns="0" bIns="0" rtlCol="0" anchor="ctr"/>
          <a:lstStyle/>
          <a:p>
            <a:pPr indent="0" marL="0">
              <a:buNone/>
            </a:pPr>
            <a:r>
              <a:rPr lang="en-US" sz="2600" b="1" dirty="0">
                <a:solidFill>
                  <a:srgbClr val="0B3D3A"/>
                </a:solidFill>
                <a:latin typeface="Cambria" pitchFamily="34" charset="0"/>
                <a:ea typeface="Cambria" pitchFamily="34" charset="-122"/>
                <a:cs typeface="Cambria" pitchFamily="34" charset="-120"/>
              </a:rPr>
              <a:t>Pune's SWaCH Model</a:t>
            </a:r>
            <a:endParaRPr lang="en-US" sz="2600" dirty="0"/>
          </a:p>
        </p:txBody>
      </p:sp>
      <p:sp>
        <p:nvSpPr>
          <p:cNvPr id="5" name="Shape 3"/>
          <p:cNvSpPr/>
          <p:nvPr/>
        </p:nvSpPr>
        <p:spPr>
          <a:xfrm>
            <a:off x="365760" y="1143000"/>
            <a:ext cx="4206240" cy="3246120"/>
          </a:xfrm>
          <a:prstGeom prst="roundRect">
            <a:avLst>
              <a:gd name="adj" fmla="val 2254"/>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6" name="Shape 4"/>
          <p:cNvSpPr/>
          <p:nvPr/>
        </p:nvSpPr>
        <p:spPr>
          <a:xfrm>
            <a:off x="502920" y="1261872"/>
            <a:ext cx="292608" cy="292608"/>
          </a:xfrm>
          <a:prstGeom prst="ellipse">
            <a:avLst/>
          </a:prstGeom>
          <a:solidFill>
            <a:srgbClr val="127C6F"/>
          </a:solidFill>
          <a:ln w="12700">
            <a:solidFill>
              <a:srgbClr val="127C6F"/>
            </a:solidFill>
            <a:prstDash val="solid"/>
          </a:ln>
        </p:spPr>
      </p:sp>
      <p:pic>
        <p:nvPicPr>
          <p:cNvPr id="7" name="Image 0" descr="preencoded.png">    </p:cNvPr>
          <p:cNvPicPr>
            <a:picLocks noChangeAspect="1"/>
          </p:cNvPicPr>
          <p:nvPr/>
        </p:nvPicPr>
        <p:blipFill>
          <a:blip r:embed="rId1"/>
          <a:stretch>
            <a:fillRect/>
          </a:stretch>
        </p:blipFill>
        <p:spPr>
          <a:xfrm>
            <a:off x="566928" y="1325880"/>
            <a:ext cx="164592" cy="164592"/>
          </a:xfrm>
          <a:prstGeom prst="rect">
            <a:avLst/>
          </a:prstGeom>
        </p:spPr>
      </p:pic>
      <p:sp>
        <p:nvSpPr>
          <p:cNvPr id="8" name="Text 5"/>
          <p:cNvSpPr txBox="1"/>
          <p:nvPr/>
        </p:nvSpPr>
        <p:spPr>
          <a:xfrm>
            <a:off x="868680" y="1243584"/>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Overview</a:t>
            </a:r>
            <a:endParaRPr lang="en-US" sz="1300" dirty="0"/>
          </a:p>
        </p:txBody>
      </p:sp>
      <p:sp>
        <p:nvSpPr>
          <p:cNvPr id="9" name="Text 6"/>
          <p:cNvSpPr txBox="1"/>
          <p:nvPr/>
        </p:nvSpPr>
        <p:spPr>
          <a:xfrm>
            <a:off x="502920" y="1627632"/>
            <a:ext cx="3931920" cy="1051560"/>
          </a:xfrm>
          <a:prstGeom prst="rect">
            <a:avLst/>
          </a:prstGeom>
          <a:noFill/>
          <a:ln/>
        </p:spPr>
        <p:txBody>
          <a:bodyPr wrap="square" lIns="0" tIns="0" rIns="0" bIns="0" rtlCol="0" anchor="t"/>
          <a:lstStyle/>
          <a:p>
            <a:pPr indent="0" marL="0">
              <a:buNone/>
            </a:pPr>
            <a:r>
              <a:rPr lang="en-US" sz="1050" dirty="0">
                <a:solidFill>
                  <a:srgbClr val="1E2B2A"/>
                </a:solidFill>
                <a:latin typeface="Calibri" pitchFamily="34" charset="0"/>
                <a:ea typeface="Calibri" pitchFamily="34" charset="-122"/>
                <a:cs typeface="Calibri" pitchFamily="34" charset="-120"/>
              </a:rPr>
              <a:t>SWaCH (Solid Waste Collection and Handling) is a wholly owned cooperative of waste pickers in Pune working in partnership with the Pune Municipal Corporation. It integrates informal workers into formal door-to-door collection, and improves dry-waste and e-waste diversion from landfill.</a:t>
            </a:r>
            <a:endParaRPr lang="en-US" sz="1050" dirty="0"/>
          </a:p>
        </p:txBody>
      </p:sp>
      <p:sp>
        <p:nvSpPr>
          <p:cNvPr id="10" name="Shape 7"/>
          <p:cNvSpPr/>
          <p:nvPr/>
        </p:nvSpPr>
        <p:spPr>
          <a:xfrm>
            <a:off x="502920" y="2697480"/>
            <a:ext cx="292608" cy="292608"/>
          </a:xfrm>
          <a:prstGeom prst="ellipse">
            <a:avLst/>
          </a:prstGeom>
          <a:solidFill>
            <a:srgbClr val="127C6F"/>
          </a:solidFill>
          <a:ln w="12700">
            <a:solidFill>
              <a:srgbClr val="127C6F"/>
            </a:solidFill>
            <a:prstDash val="solid"/>
          </a:ln>
        </p:spPr>
      </p:sp>
      <p:pic>
        <p:nvPicPr>
          <p:cNvPr id="11" name="Image 1" descr="preencoded.png">    </p:cNvPr>
          <p:cNvPicPr>
            <a:picLocks noChangeAspect="1"/>
          </p:cNvPicPr>
          <p:nvPr/>
        </p:nvPicPr>
        <p:blipFill>
          <a:blip r:embed="rId2"/>
          <a:stretch>
            <a:fillRect/>
          </a:stretch>
        </p:blipFill>
        <p:spPr>
          <a:xfrm>
            <a:off x="566928" y="2761488"/>
            <a:ext cx="164592" cy="164592"/>
          </a:xfrm>
          <a:prstGeom prst="rect">
            <a:avLst/>
          </a:prstGeom>
        </p:spPr>
      </p:pic>
      <p:sp>
        <p:nvSpPr>
          <p:cNvPr id="12" name="Text 8"/>
          <p:cNvSpPr txBox="1"/>
          <p:nvPr/>
        </p:nvSpPr>
        <p:spPr>
          <a:xfrm>
            <a:off x="868680" y="267919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Strategy / Initiative</a:t>
            </a:r>
            <a:endParaRPr lang="en-US" sz="1300" dirty="0"/>
          </a:p>
        </p:txBody>
      </p:sp>
      <p:sp>
        <p:nvSpPr>
          <p:cNvPr id="13" name="Text 9"/>
          <p:cNvSpPr txBox="1"/>
          <p:nvPr/>
        </p:nvSpPr>
        <p:spPr>
          <a:xfrm>
            <a:off x="502920" y="3044952"/>
            <a:ext cx="3931920" cy="1280160"/>
          </a:xfrm>
          <a:prstGeom prst="rect">
            <a:avLst/>
          </a:prstGeom>
          <a:noFill/>
          <a:ln/>
        </p:spPr>
        <p:txBody>
          <a:bodyPr wrap="square" lIns="0" tIns="0" rIns="0" bIns="0" rtlCol="0" anchor="t"/>
          <a:lstStyle/>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Waste pickers as cooperative members with ID cards and insurance.</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Household user fees plus municipal support.</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Door-to-door segregated collection and doorstep e-waste collection drives.</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Partnership with authorised recyclers for e-waste.</a:t>
            </a:r>
            <a:endParaRPr lang="en-US" sz="950" dirty="0"/>
          </a:p>
        </p:txBody>
      </p:sp>
      <p:sp>
        <p:nvSpPr>
          <p:cNvPr id="14" name="Shape 10"/>
          <p:cNvSpPr/>
          <p:nvPr/>
        </p:nvSpPr>
        <p:spPr>
          <a:xfrm>
            <a:off x="4709160" y="1143000"/>
            <a:ext cx="3474720" cy="3246120"/>
          </a:xfrm>
          <a:prstGeom prst="roundRect">
            <a:avLst>
              <a:gd name="adj" fmla="val 2254"/>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15" name="Shape 11"/>
          <p:cNvSpPr/>
          <p:nvPr/>
        </p:nvSpPr>
        <p:spPr>
          <a:xfrm>
            <a:off x="4846320" y="1261872"/>
            <a:ext cx="292608" cy="292608"/>
          </a:xfrm>
          <a:prstGeom prst="ellipse">
            <a:avLst/>
          </a:prstGeom>
          <a:solidFill>
            <a:srgbClr val="127C6F"/>
          </a:solidFill>
          <a:ln w="12700">
            <a:solidFill>
              <a:srgbClr val="127C6F"/>
            </a:solidFill>
            <a:prstDash val="solid"/>
          </a:ln>
        </p:spPr>
      </p:sp>
      <p:pic>
        <p:nvPicPr>
          <p:cNvPr id="16" name="Image 2" descr="preencoded.png">    </p:cNvPr>
          <p:cNvPicPr>
            <a:picLocks noChangeAspect="1"/>
          </p:cNvPicPr>
          <p:nvPr/>
        </p:nvPicPr>
        <p:blipFill>
          <a:blip r:embed="rId3"/>
          <a:stretch>
            <a:fillRect/>
          </a:stretch>
        </p:blipFill>
        <p:spPr>
          <a:xfrm>
            <a:off x="4910328" y="1325880"/>
            <a:ext cx="164592" cy="164592"/>
          </a:xfrm>
          <a:prstGeom prst="rect">
            <a:avLst/>
          </a:prstGeom>
        </p:spPr>
      </p:pic>
      <p:sp>
        <p:nvSpPr>
          <p:cNvPr id="17" name="Text 12"/>
          <p:cNvSpPr txBox="1"/>
          <p:nvPr/>
        </p:nvSpPr>
        <p:spPr>
          <a:xfrm>
            <a:off x="5212080" y="1243584"/>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Impact &amp; Results</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846320" y="1645920"/>
          <a:ext cx="3200400" cy="914400"/>
        </p:xfrm>
        <a:graphic>
          <a:graphicData uri="http://schemas.openxmlformats.org/drawingml/2006/table">
            <a:tbl>
              <a:tblPr/>
              <a:tblGrid>
                <a:gridCol w="1188720"/>
                <a:gridCol w="2011680"/>
              </a:tblGrid>
              <a:tr h="256032">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Indicator</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Data</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127C6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Members</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3,000+ waste pickers (approx.)</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Households served</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around one million (approx.)</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Income</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Assured fees and formal recognition</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Landfill diversion</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Large dry-waste share recycled</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Recognition</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Cited as an international best practice</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bl>
          </a:graphicData>
        </a:graphic>
      </p:graphicFrame>
      <p:sp>
        <p:nvSpPr>
          <p:cNvPr id="19" name="Shape 13"/>
          <p:cNvSpPr/>
          <p:nvPr/>
        </p:nvSpPr>
        <p:spPr>
          <a:xfrm>
            <a:off x="8321040" y="1161288"/>
            <a:ext cx="292608" cy="292608"/>
          </a:xfrm>
          <a:prstGeom prst="ellipse">
            <a:avLst/>
          </a:prstGeom>
          <a:solidFill>
            <a:srgbClr val="127C6F"/>
          </a:solidFill>
          <a:ln w="12700">
            <a:solidFill>
              <a:srgbClr val="127C6F"/>
            </a:solidFill>
            <a:prstDash val="solid"/>
          </a:ln>
        </p:spPr>
      </p:sp>
      <p:pic>
        <p:nvPicPr>
          <p:cNvPr id="20" name="Image 3" descr="preencoded.png">    </p:cNvPr>
          <p:cNvPicPr>
            <a:picLocks noChangeAspect="1"/>
          </p:cNvPicPr>
          <p:nvPr/>
        </p:nvPicPr>
        <p:blipFill>
          <a:blip r:embed="rId4"/>
          <a:stretch>
            <a:fillRect/>
          </a:stretch>
        </p:blipFill>
        <p:spPr>
          <a:xfrm>
            <a:off x="8385048" y="1225296"/>
            <a:ext cx="164592" cy="164592"/>
          </a:xfrm>
          <a:prstGeom prst="rect">
            <a:avLst/>
          </a:prstGeom>
        </p:spPr>
      </p:pic>
      <p:sp>
        <p:nvSpPr>
          <p:cNvPr id="21" name="Text 14"/>
          <p:cNvSpPr txBox="1"/>
          <p:nvPr/>
        </p:nvSpPr>
        <p:spPr>
          <a:xfrm>
            <a:off x="8686800" y="1143000"/>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SWOT Analysis</a:t>
            </a:r>
            <a:endParaRPr lang="en-US" sz="1300" dirty="0"/>
          </a:p>
        </p:txBody>
      </p:sp>
      <p:sp>
        <p:nvSpPr>
          <p:cNvPr id="22" name="Shape 15"/>
          <p:cNvSpPr/>
          <p:nvPr/>
        </p:nvSpPr>
        <p:spPr>
          <a:xfrm>
            <a:off x="8321040" y="1554480"/>
            <a:ext cx="1719072" cy="1371600"/>
          </a:xfrm>
          <a:prstGeom prst="roundRect">
            <a:avLst>
              <a:gd name="adj" fmla="val 5333"/>
            </a:avLst>
          </a:prstGeom>
          <a:solidFill>
            <a:srgbClr val="DDF3E4"/>
          </a:solidFill>
          <a:ln w="12700">
            <a:solidFill>
              <a:srgbClr val="DDF3E4"/>
            </a:solidFill>
            <a:prstDash val="solid"/>
          </a:ln>
        </p:spPr>
      </p:sp>
      <p:sp>
        <p:nvSpPr>
          <p:cNvPr id="23" name="Text 16"/>
          <p:cNvSpPr txBox="1"/>
          <p:nvPr/>
        </p:nvSpPr>
        <p:spPr>
          <a:xfrm>
            <a:off x="8412480" y="160934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1E7A3C"/>
                </a:solidFill>
                <a:latin typeface="Calibri" pitchFamily="34" charset="0"/>
                <a:ea typeface="Calibri" pitchFamily="34" charset="-122"/>
                <a:cs typeface="Calibri" pitchFamily="34" charset="-120"/>
              </a:rPr>
              <a:t>Strengths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Inclusive; formalises informal workers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Trusted by households</a:t>
            </a:r>
            <a:endParaRPr lang="en-US" sz="1100" dirty="0"/>
          </a:p>
        </p:txBody>
      </p:sp>
      <p:sp>
        <p:nvSpPr>
          <p:cNvPr id="24" name="Shape 17"/>
          <p:cNvSpPr/>
          <p:nvPr/>
        </p:nvSpPr>
        <p:spPr>
          <a:xfrm>
            <a:off x="10085832" y="1554480"/>
            <a:ext cx="1719072" cy="1371600"/>
          </a:xfrm>
          <a:prstGeom prst="roundRect">
            <a:avLst>
              <a:gd name="adj" fmla="val 5333"/>
            </a:avLst>
          </a:prstGeom>
          <a:solidFill>
            <a:srgbClr val="FBE0DE"/>
          </a:solidFill>
          <a:ln w="12700">
            <a:solidFill>
              <a:srgbClr val="FBE0DE"/>
            </a:solidFill>
            <a:prstDash val="solid"/>
          </a:ln>
        </p:spPr>
      </p:sp>
      <p:sp>
        <p:nvSpPr>
          <p:cNvPr id="25" name="Text 18"/>
          <p:cNvSpPr txBox="1"/>
          <p:nvPr/>
        </p:nvSpPr>
        <p:spPr>
          <a:xfrm>
            <a:off x="10177272" y="160934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B23B2E"/>
                </a:solidFill>
                <a:latin typeface="Calibri" pitchFamily="34" charset="0"/>
                <a:ea typeface="Calibri" pitchFamily="34" charset="-122"/>
                <a:cs typeface="Calibri" pitchFamily="34" charset="-120"/>
              </a:rPr>
              <a:t>Weaknesses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Fee compliance issues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Depends on PMC contract</a:t>
            </a:r>
            <a:endParaRPr lang="en-US" sz="1100" dirty="0"/>
          </a:p>
        </p:txBody>
      </p:sp>
      <p:sp>
        <p:nvSpPr>
          <p:cNvPr id="26" name="Shape 19"/>
          <p:cNvSpPr/>
          <p:nvPr/>
        </p:nvSpPr>
        <p:spPr>
          <a:xfrm>
            <a:off x="8321040" y="3017520"/>
            <a:ext cx="1719072" cy="1371600"/>
          </a:xfrm>
          <a:prstGeom prst="roundRect">
            <a:avLst>
              <a:gd name="adj" fmla="val 5333"/>
            </a:avLst>
          </a:prstGeom>
          <a:solidFill>
            <a:srgbClr val="DCEBFA"/>
          </a:solidFill>
          <a:ln w="12700">
            <a:solidFill>
              <a:srgbClr val="DCEBFA"/>
            </a:solidFill>
            <a:prstDash val="solid"/>
          </a:ln>
        </p:spPr>
      </p:sp>
      <p:sp>
        <p:nvSpPr>
          <p:cNvPr id="27" name="Text 20"/>
          <p:cNvSpPr txBox="1"/>
          <p:nvPr/>
        </p:nvSpPr>
        <p:spPr>
          <a:xfrm>
            <a:off x="8412480" y="307238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1F5FA8"/>
                </a:solidFill>
                <a:latin typeface="Calibri" pitchFamily="34" charset="0"/>
                <a:ea typeface="Calibri" pitchFamily="34" charset="-122"/>
                <a:cs typeface="Calibri" pitchFamily="34" charset="-120"/>
              </a:rPr>
              <a:t>Opportunities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Scale to e-waste EPR collection</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Replicate in other cities</a:t>
            </a:r>
            <a:endParaRPr lang="en-US" sz="1100" dirty="0"/>
          </a:p>
        </p:txBody>
      </p:sp>
      <p:sp>
        <p:nvSpPr>
          <p:cNvPr id="28" name="Shape 21"/>
          <p:cNvSpPr/>
          <p:nvPr/>
        </p:nvSpPr>
        <p:spPr>
          <a:xfrm>
            <a:off x="10085832" y="3017520"/>
            <a:ext cx="1719072" cy="1371600"/>
          </a:xfrm>
          <a:prstGeom prst="roundRect">
            <a:avLst>
              <a:gd name="adj" fmla="val 5333"/>
            </a:avLst>
          </a:prstGeom>
          <a:solidFill>
            <a:srgbClr val="FDEBD0"/>
          </a:solidFill>
          <a:ln w="12700">
            <a:solidFill>
              <a:srgbClr val="FDEBD0"/>
            </a:solidFill>
            <a:prstDash val="solid"/>
          </a:ln>
        </p:spPr>
      </p:sp>
      <p:sp>
        <p:nvSpPr>
          <p:cNvPr id="29" name="Text 22"/>
          <p:cNvSpPr txBox="1"/>
          <p:nvPr/>
        </p:nvSpPr>
        <p:spPr>
          <a:xfrm>
            <a:off x="10177272" y="307238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B96A0A"/>
                </a:solidFill>
                <a:latin typeface="Calibri" pitchFamily="34" charset="0"/>
                <a:ea typeface="Calibri" pitchFamily="34" charset="-122"/>
                <a:cs typeface="Calibri" pitchFamily="34" charset="-120"/>
              </a:rPr>
              <a:t>Threats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Privatisation of waste contracts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Fee collection losses</a:t>
            </a:r>
            <a:endParaRPr lang="en-US" sz="1100" dirty="0"/>
          </a:p>
        </p:txBody>
      </p:sp>
      <p:sp>
        <p:nvSpPr>
          <p:cNvPr id="30" name="Shape 23"/>
          <p:cNvSpPr/>
          <p:nvPr/>
        </p:nvSpPr>
        <p:spPr>
          <a:xfrm>
            <a:off x="365760" y="4526280"/>
            <a:ext cx="5577840" cy="1874520"/>
          </a:xfrm>
          <a:prstGeom prst="roundRect">
            <a:avLst>
              <a:gd name="adj" fmla="val 3902"/>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31" name="Shape 24"/>
          <p:cNvSpPr/>
          <p:nvPr/>
        </p:nvSpPr>
        <p:spPr>
          <a:xfrm>
            <a:off x="502920" y="4617720"/>
            <a:ext cx="292608" cy="292608"/>
          </a:xfrm>
          <a:prstGeom prst="ellipse">
            <a:avLst/>
          </a:prstGeom>
          <a:solidFill>
            <a:srgbClr val="127C6F"/>
          </a:solidFill>
          <a:ln w="12700">
            <a:solidFill>
              <a:srgbClr val="127C6F"/>
            </a:solidFill>
            <a:prstDash val="solid"/>
          </a:ln>
        </p:spPr>
      </p:sp>
      <p:pic>
        <p:nvPicPr>
          <p:cNvPr id="32" name="Image 4" descr="preencoded.png">    </p:cNvPr>
          <p:cNvPicPr>
            <a:picLocks noChangeAspect="1"/>
          </p:cNvPicPr>
          <p:nvPr/>
        </p:nvPicPr>
        <p:blipFill>
          <a:blip r:embed="rId5"/>
          <a:stretch>
            <a:fillRect/>
          </a:stretch>
        </p:blipFill>
        <p:spPr>
          <a:xfrm>
            <a:off x="566928" y="4681728"/>
            <a:ext cx="164592" cy="164592"/>
          </a:xfrm>
          <a:prstGeom prst="rect">
            <a:avLst/>
          </a:prstGeom>
        </p:spPr>
      </p:pic>
      <p:sp>
        <p:nvSpPr>
          <p:cNvPr id="33" name="Text 25"/>
          <p:cNvSpPr txBox="1"/>
          <p:nvPr/>
        </p:nvSpPr>
        <p:spPr>
          <a:xfrm>
            <a:off x="868680" y="459943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Comparison with India</a:t>
            </a:r>
            <a:endParaRPr lang="en-US" sz="130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502920" y="4983480"/>
          <a:ext cx="5303520" cy="914400"/>
        </p:xfrm>
        <a:graphic>
          <a:graphicData uri="http://schemas.openxmlformats.org/drawingml/2006/table">
            <a:tbl>
              <a:tblPr/>
              <a:tblGrid>
                <a:gridCol w="1371600"/>
                <a:gridCol w="1965960"/>
                <a:gridCol w="1965960"/>
              </a:tblGrid>
              <a:tr h="237744">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Parameter</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SWaCH Pune</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India overall</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Informal workers</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Included as cooperative</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Excluded</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Segregation</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Door-to-door</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Poor</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Income security</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Assured fees</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Irregular</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E-waste link</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Recycler partnership</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Limited</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35" name="Shape 26"/>
          <p:cNvSpPr/>
          <p:nvPr/>
        </p:nvSpPr>
        <p:spPr>
          <a:xfrm>
            <a:off x="6080760" y="4526280"/>
            <a:ext cx="5742432" cy="1874520"/>
          </a:xfrm>
          <a:prstGeom prst="roundRect">
            <a:avLst>
              <a:gd name="adj" fmla="val 3902"/>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36" name="Shape 27"/>
          <p:cNvSpPr/>
          <p:nvPr/>
        </p:nvSpPr>
        <p:spPr>
          <a:xfrm>
            <a:off x="6217920" y="4617720"/>
            <a:ext cx="292608" cy="292608"/>
          </a:xfrm>
          <a:prstGeom prst="ellipse">
            <a:avLst/>
          </a:prstGeom>
          <a:solidFill>
            <a:srgbClr val="127C6F"/>
          </a:solidFill>
          <a:ln w="12700">
            <a:solidFill>
              <a:srgbClr val="127C6F"/>
            </a:solidFill>
            <a:prstDash val="solid"/>
          </a:ln>
        </p:spPr>
      </p:sp>
      <p:pic>
        <p:nvPicPr>
          <p:cNvPr id="37" name="Image 5" descr="preencoded.png">    </p:cNvPr>
          <p:cNvPicPr>
            <a:picLocks noChangeAspect="1"/>
          </p:cNvPicPr>
          <p:nvPr/>
        </p:nvPicPr>
        <p:blipFill>
          <a:blip r:embed="rId6"/>
          <a:stretch>
            <a:fillRect/>
          </a:stretch>
        </p:blipFill>
        <p:spPr>
          <a:xfrm>
            <a:off x="6281928" y="4681728"/>
            <a:ext cx="164592" cy="164592"/>
          </a:xfrm>
          <a:prstGeom prst="rect">
            <a:avLst/>
          </a:prstGeom>
        </p:spPr>
      </p:pic>
      <p:sp>
        <p:nvSpPr>
          <p:cNvPr id="38" name="Text 28"/>
          <p:cNvSpPr txBox="1"/>
          <p:nvPr/>
        </p:nvSpPr>
        <p:spPr>
          <a:xfrm>
            <a:off x="6583680" y="459943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Recommendations</a:t>
            </a:r>
            <a:endParaRPr lang="en-US" sz="1300" dirty="0"/>
          </a:p>
        </p:txBody>
      </p:sp>
      <p:sp>
        <p:nvSpPr>
          <p:cNvPr id="39" name="Text 29"/>
          <p:cNvSpPr txBox="1"/>
          <p:nvPr/>
        </p:nvSpPr>
        <p:spPr>
          <a:xfrm>
            <a:off x="6217920" y="4983480"/>
            <a:ext cx="5486400" cy="868680"/>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Recognise waste-picker cooperatives as EPR collection agents.</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Ensure municipal contracts renew on time.</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Add training on hazardous e-waste.</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Replicate in other municipal corporations.</a:t>
            </a:r>
            <a:endParaRPr lang="en-US" sz="1000" dirty="0"/>
          </a:p>
        </p:txBody>
      </p:sp>
      <p:sp>
        <p:nvSpPr>
          <p:cNvPr id="40" name="Shape 30"/>
          <p:cNvSpPr/>
          <p:nvPr/>
        </p:nvSpPr>
        <p:spPr>
          <a:xfrm>
            <a:off x="6217920" y="5852160"/>
            <a:ext cx="5468112" cy="457200"/>
          </a:xfrm>
          <a:prstGeom prst="roundRect">
            <a:avLst>
              <a:gd name="adj" fmla="val 12000"/>
            </a:avLst>
          </a:prstGeom>
          <a:solidFill>
            <a:srgbClr val="0B3D3A"/>
          </a:solidFill>
          <a:ln w="12700">
            <a:solidFill>
              <a:srgbClr val="0B3D3A"/>
            </a:solidFill>
            <a:prstDash val="solid"/>
          </a:ln>
        </p:spPr>
      </p:sp>
      <p:sp>
        <p:nvSpPr>
          <p:cNvPr id="41" name="Text 31"/>
          <p:cNvSpPr txBox="1"/>
          <p:nvPr/>
        </p:nvSpPr>
        <p:spPr>
          <a:xfrm>
            <a:off x="6309360" y="5852160"/>
            <a:ext cx="5303520" cy="457200"/>
          </a:xfrm>
          <a:prstGeom prst="rect">
            <a:avLst/>
          </a:prstGeom>
          <a:noFill/>
          <a:ln/>
        </p:spPr>
        <p:txBody>
          <a:bodyPr wrap="square" lIns="0" tIns="0" rIns="0" bIns="0"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SWaCH proves that formalising, not replacing, waste pickers works.</a:t>
            </a:r>
            <a:endParaRPr lang="en-US" sz="950" dirty="0"/>
          </a:p>
        </p:txBody>
      </p:sp>
      <p:sp>
        <p:nvSpPr>
          <p:cNvPr id="42" name="Text 32"/>
          <p:cNvSpPr txBox="1"/>
          <p:nvPr/>
        </p:nvSpPr>
        <p:spPr>
          <a:xfrm>
            <a:off x="365760" y="6473952"/>
            <a:ext cx="11430000" cy="292608"/>
          </a:xfrm>
          <a:prstGeom prst="rect">
            <a:avLst/>
          </a:prstGeom>
          <a:noFill/>
          <a:ln/>
        </p:spPr>
        <p:txBody>
          <a:bodyPr wrap="square" lIns="0" tIns="0" rIns="0" bIns="0" rtlCol="0" anchor="t"/>
          <a:lstStyle/>
          <a:p>
            <a:pPr indent="0" marL="0">
              <a:buNone/>
            </a:pPr>
            <a:r>
              <a:rPr lang="en-US" sz="750" dirty="0">
                <a:solidFill>
                  <a:srgbClr val="5B6B69"/>
                </a:solidFill>
                <a:latin typeface="Calibri" pitchFamily="34" charset="0"/>
                <a:ea typeface="Calibri" pitchFamily="34" charset="-122"/>
                <a:cs typeface="Calibri" pitchFamily="34" charset="-120"/>
              </a:rPr>
              <a:t>Sources: SWaCH Seva Sahakari Sanstha – official information  |  KKPKP – background and reports  |  Pune Municipal Corporation – Solid Waste Department</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1F7F5"/>
        </a:solidFill>
      </p:bgPr>
    </p:bg>
    <p:spTree>
      <p:nvGrpSpPr>
        <p:cNvPr id="1" name=""/>
        <p:cNvGrpSpPr/>
        <p:nvPr/>
      </p:nvGrpSpPr>
      <p:grpSpPr>
        <a:xfrm>
          <a:off x="0" y="0"/>
          <a:ext cx="0" cy="0"/>
          <a:chOff x="0" y="0"/>
          <a:chExt cx="0" cy="0"/>
        </a:xfrm>
      </p:grpSpPr>
      <p:sp>
        <p:nvSpPr>
          <p:cNvPr id="2" name="Shape 0"/>
          <p:cNvSpPr/>
          <p:nvPr/>
        </p:nvSpPr>
        <p:spPr>
          <a:xfrm>
            <a:off x="365760" y="274320"/>
            <a:ext cx="685800" cy="685800"/>
          </a:xfrm>
          <a:prstGeom prst="ellipse">
            <a:avLst/>
          </a:prstGeom>
          <a:solidFill>
            <a:srgbClr val="0B3D3A"/>
          </a:solidFill>
          <a:ln w="12700">
            <a:solidFill>
              <a:srgbClr val="0B3D3A"/>
            </a:solidFill>
            <a:prstDash val="solid"/>
          </a:ln>
        </p:spPr>
      </p:sp>
      <p:sp>
        <p:nvSpPr>
          <p:cNvPr id="3" name="Text 1"/>
          <p:cNvSpPr txBox="1"/>
          <p:nvPr/>
        </p:nvSpPr>
        <p:spPr>
          <a:xfrm>
            <a:off x="365760" y="274320"/>
            <a:ext cx="685800" cy="685800"/>
          </a:xfrm>
          <a:prstGeom prst="rect">
            <a:avLst/>
          </a:prstGeom>
          <a:noFill/>
          <a:ln/>
        </p:spPr>
        <p:txBody>
          <a:bodyPr wrap="square" lIns="0" tIns="0" rIns="0" bIns="0" rtlCol="0" anchor="ctr"/>
          <a:lstStyle/>
          <a:p>
            <a:pPr algn="ctr" indent="0" marL="0">
              <a:buNone/>
            </a:pPr>
            <a:r>
              <a:rPr lang="en-US" sz="2400" b="1" dirty="0">
                <a:solidFill>
                  <a:srgbClr val="3DDC97"/>
                </a:solidFill>
                <a:latin typeface="Cambria" pitchFamily="34" charset="0"/>
                <a:ea typeface="Cambria" pitchFamily="34" charset="-122"/>
                <a:cs typeface="Cambria" pitchFamily="34" charset="-120"/>
              </a:rPr>
              <a:t>9</a:t>
            </a:r>
            <a:endParaRPr lang="en-US" sz="2400" dirty="0"/>
          </a:p>
        </p:txBody>
      </p:sp>
      <p:sp>
        <p:nvSpPr>
          <p:cNvPr id="4" name="Text 2"/>
          <p:cNvSpPr txBox="1"/>
          <p:nvPr/>
        </p:nvSpPr>
        <p:spPr>
          <a:xfrm>
            <a:off x="1188720" y="228600"/>
            <a:ext cx="10607040" cy="777240"/>
          </a:xfrm>
          <a:prstGeom prst="rect">
            <a:avLst/>
          </a:prstGeom>
          <a:noFill/>
          <a:ln/>
        </p:spPr>
        <p:txBody>
          <a:bodyPr wrap="square" lIns="0" tIns="0" rIns="0" bIns="0" rtlCol="0" anchor="ctr"/>
          <a:lstStyle/>
          <a:p>
            <a:pPr indent="0" marL="0">
              <a:buNone/>
            </a:pPr>
            <a:r>
              <a:rPr lang="en-US" sz="2600" b="1" dirty="0">
                <a:solidFill>
                  <a:srgbClr val="0B3D3A"/>
                </a:solidFill>
                <a:latin typeface="Cambria" pitchFamily="34" charset="0"/>
                <a:ea typeface="Cambria" pitchFamily="34" charset="-122"/>
                <a:cs typeface="Cambria" pitchFamily="34" charset="-120"/>
              </a:rPr>
              <a:t>Dharavi Recycling Ecosystem</a:t>
            </a:r>
            <a:endParaRPr lang="en-US" sz="2600" dirty="0"/>
          </a:p>
        </p:txBody>
      </p:sp>
      <p:sp>
        <p:nvSpPr>
          <p:cNvPr id="5" name="Shape 3"/>
          <p:cNvSpPr/>
          <p:nvPr/>
        </p:nvSpPr>
        <p:spPr>
          <a:xfrm>
            <a:off x="365760" y="1143000"/>
            <a:ext cx="4206240" cy="3246120"/>
          </a:xfrm>
          <a:prstGeom prst="roundRect">
            <a:avLst>
              <a:gd name="adj" fmla="val 2254"/>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6" name="Shape 4"/>
          <p:cNvSpPr/>
          <p:nvPr/>
        </p:nvSpPr>
        <p:spPr>
          <a:xfrm>
            <a:off x="502920" y="1261872"/>
            <a:ext cx="292608" cy="292608"/>
          </a:xfrm>
          <a:prstGeom prst="ellipse">
            <a:avLst/>
          </a:prstGeom>
          <a:solidFill>
            <a:srgbClr val="127C6F"/>
          </a:solidFill>
          <a:ln w="12700">
            <a:solidFill>
              <a:srgbClr val="127C6F"/>
            </a:solidFill>
            <a:prstDash val="solid"/>
          </a:ln>
        </p:spPr>
      </p:sp>
      <p:pic>
        <p:nvPicPr>
          <p:cNvPr id="7" name="Image 0" descr="preencoded.png">    </p:cNvPr>
          <p:cNvPicPr>
            <a:picLocks noChangeAspect="1"/>
          </p:cNvPicPr>
          <p:nvPr/>
        </p:nvPicPr>
        <p:blipFill>
          <a:blip r:embed="rId1"/>
          <a:stretch>
            <a:fillRect/>
          </a:stretch>
        </p:blipFill>
        <p:spPr>
          <a:xfrm>
            <a:off x="566928" y="1325880"/>
            <a:ext cx="164592" cy="164592"/>
          </a:xfrm>
          <a:prstGeom prst="rect">
            <a:avLst/>
          </a:prstGeom>
        </p:spPr>
      </p:pic>
      <p:sp>
        <p:nvSpPr>
          <p:cNvPr id="8" name="Text 5"/>
          <p:cNvSpPr txBox="1"/>
          <p:nvPr/>
        </p:nvSpPr>
        <p:spPr>
          <a:xfrm>
            <a:off x="868680" y="1243584"/>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Overview</a:t>
            </a:r>
            <a:endParaRPr lang="en-US" sz="1300" dirty="0"/>
          </a:p>
        </p:txBody>
      </p:sp>
      <p:sp>
        <p:nvSpPr>
          <p:cNvPr id="9" name="Text 6"/>
          <p:cNvSpPr txBox="1"/>
          <p:nvPr/>
        </p:nvSpPr>
        <p:spPr>
          <a:xfrm>
            <a:off x="502920" y="1627632"/>
            <a:ext cx="3931920" cy="1051560"/>
          </a:xfrm>
          <a:prstGeom prst="rect">
            <a:avLst/>
          </a:prstGeom>
          <a:noFill/>
          <a:ln/>
        </p:spPr>
        <p:txBody>
          <a:bodyPr wrap="square" lIns="0" tIns="0" rIns="0" bIns="0" rtlCol="0" anchor="t"/>
          <a:lstStyle/>
          <a:p>
            <a:pPr indent="0" marL="0">
              <a:buNone/>
            </a:pPr>
            <a:r>
              <a:rPr lang="en-US" sz="1050" dirty="0">
                <a:solidFill>
                  <a:srgbClr val="1E2B2A"/>
                </a:solidFill>
                <a:latin typeface="Calibri" pitchFamily="34" charset="0"/>
                <a:ea typeface="Calibri" pitchFamily="34" charset="-122"/>
                <a:cs typeface="Calibri" pitchFamily="34" charset="-120"/>
              </a:rPr>
              <a:t>Dharavi in Mumbai is one of Asia's largest informal recycling clusters. Thousands of small units sort, clean, shred and reprocess plastic, metals, paper and electronics, employing a very large workforce. It offers an example of the economic power of the informal sector, and the health and safety costs that come with it.</a:t>
            </a:r>
            <a:endParaRPr lang="en-US" sz="1050" dirty="0"/>
          </a:p>
        </p:txBody>
      </p:sp>
      <p:sp>
        <p:nvSpPr>
          <p:cNvPr id="10" name="Shape 7"/>
          <p:cNvSpPr/>
          <p:nvPr/>
        </p:nvSpPr>
        <p:spPr>
          <a:xfrm>
            <a:off x="502920" y="2697480"/>
            <a:ext cx="292608" cy="292608"/>
          </a:xfrm>
          <a:prstGeom prst="ellipse">
            <a:avLst/>
          </a:prstGeom>
          <a:solidFill>
            <a:srgbClr val="127C6F"/>
          </a:solidFill>
          <a:ln w="12700">
            <a:solidFill>
              <a:srgbClr val="127C6F"/>
            </a:solidFill>
            <a:prstDash val="solid"/>
          </a:ln>
        </p:spPr>
      </p:sp>
      <p:pic>
        <p:nvPicPr>
          <p:cNvPr id="11" name="Image 1" descr="preencoded.png">    </p:cNvPr>
          <p:cNvPicPr>
            <a:picLocks noChangeAspect="1"/>
          </p:cNvPicPr>
          <p:nvPr/>
        </p:nvPicPr>
        <p:blipFill>
          <a:blip r:embed="rId2"/>
          <a:stretch>
            <a:fillRect/>
          </a:stretch>
        </p:blipFill>
        <p:spPr>
          <a:xfrm>
            <a:off x="566928" y="2761488"/>
            <a:ext cx="164592" cy="164592"/>
          </a:xfrm>
          <a:prstGeom prst="rect">
            <a:avLst/>
          </a:prstGeom>
        </p:spPr>
      </p:pic>
      <p:sp>
        <p:nvSpPr>
          <p:cNvPr id="12" name="Text 8"/>
          <p:cNvSpPr txBox="1"/>
          <p:nvPr/>
        </p:nvSpPr>
        <p:spPr>
          <a:xfrm>
            <a:off x="868680" y="267919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Strategy / Initiative</a:t>
            </a:r>
            <a:endParaRPr lang="en-US" sz="1300" dirty="0"/>
          </a:p>
        </p:txBody>
      </p:sp>
      <p:sp>
        <p:nvSpPr>
          <p:cNvPr id="13" name="Text 9"/>
          <p:cNvSpPr txBox="1"/>
          <p:nvPr/>
        </p:nvSpPr>
        <p:spPr>
          <a:xfrm>
            <a:off x="502920" y="3044952"/>
            <a:ext cx="3931920" cy="1280160"/>
          </a:xfrm>
          <a:prstGeom prst="rect">
            <a:avLst/>
          </a:prstGeom>
          <a:noFill/>
          <a:ln/>
        </p:spPr>
        <p:txBody>
          <a:bodyPr wrap="square" lIns="0" tIns="0" rIns="0" bIns="0" rtlCol="0" anchor="t"/>
          <a:lstStyle/>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Bottom-up value chain from collectors to sorters, shredders and manufacturers.</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Very high reuse of plastic and metals at low cost.</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Informal dismantling of electronics and metal recovery.</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Ongoing redevelopment plans affect the cluster.</a:t>
            </a:r>
            <a:endParaRPr lang="en-US" sz="950" dirty="0"/>
          </a:p>
        </p:txBody>
      </p:sp>
      <p:sp>
        <p:nvSpPr>
          <p:cNvPr id="14" name="Shape 10"/>
          <p:cNvSpPr/>
          <p:nvPr/>
        </p:nvSpPr>
        <p:spPr>
          <a:xfrm>
            <a:off x="4709160" y="1143000"/>
            <a:ext cx="3474720" cy="3246120"/>
          </a:xfrm>
          <a:prstGeom prst="roundRect">
            <a:avLst>
              <a:gd name="adj" fmla="val 2254"/>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15" name="Shape 11"/>
          <p:cNvSpPr/>
          <p:nvPr/>
        </p:nvSpPr>
        <p:spPr>
          <a:xfrm>
            <a:off x="4846320" y="1261872"/>
            <a:ext cx="292608" cy="292608"/>
          </a:xfrm>
          <a:prstGeom prst="ellipse">
            <a:avLst/>
          </a:prstGeom>
          <a:solidFill>
            <a:srgbClr val="127C6F"/>
          </a:solidFill>
          <a:ln w="12700">
            <a:solidFill>
              <a:srgbClr val="127C6F"/>
            </a:solidFill>
            <a:prstDash val="solid"/>
          </a:ln>
        </p:spPr>
      </p:sp>
      <p:pic>
        <p:nvPicPr>
          <p:cNvPr id="16" name="Image 2" descr="preencoded.png">    </p:cNvPr>
          <p:cNvPicPr>
            <a:picLocks noChangeAspect="1"/>
          </p:cNvPicPr>
          <p:nvPr/>
        </p:nvPicPr>
        <p:blipFill>
          <a:blip r:embed="rId3"/>
          <a:stretch>
            <a:fillRect/>
          </a:stretch>
        </p:blipFill>
        <p:spPr>
          <a:xfrm>
            <a:off x="4910328" y="1325880"/>
            <a:ext cx="164592" cy="164592"/>
          </a:xfrm>
          <a:prstGeom prst="rect">
            <a:avLst/>
          </a:prstGeom>
        </p:spPr>
      </p:pic>
      <p:sp>
        <p:nvSpPr>
          <p:cNvPr id="17" name="Text 12"/>
          <p:cNvSpPr txBox="1"/>
          <p:nvPr/>
        </p:nvSpPr>
        <p:spPr>
          <a:xfrm>
            <a:off x="5212080" y="1243584"/>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Impact &amp; Results</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846320" y="1645920"/>
          <a:ext cx="3200400" cy="914400"/>
        </p:xfrm>
        <a:graphic>
          <a:graphicData uri="http://schemas.openxmlformats.org/drawingml/2006/table">
            <a:tbl>
              <a:tblPr/>
              <a:tblGrid>
                <a:gridCol w="1188720"/>
                <a:gridCol w="2011680"/>
              </a:tblGrid>
              <a:tr h="256032">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Indicator</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Data</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127C6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Area</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approx. 2 sq km</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Population</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around 1 million (approx.)</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Small units</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thousands (estimates vary)</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Turnover</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commonly cited around USD 1 billion/yr</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Plastic recycling</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large share of Mumbai's plastic (commonly cited)</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bl>
          </a:graphicData>
        </a:graphic>
      </p:graphicFrame>
      <p:sp>
        <p:nvSpPr>
          <p:cNvPr id="19" name="Shape 13"/>
          <p:cNvSpPr/>
          <p:nvPr/>
        </p:nvSpPr>
        <p:spPr>
          <a:xfrm>
            <a:off x="8321040" y="1161288"/>
            <a:ext cx="292608" cy="292608"/>
          </a:xfrm>
          <a:prstGeom prst="ellipse">
            <a:avLst/>
          </a:prstGeom>
          <a:solidFill>
            <a:srgbClr val="127C6F"/>
          </a:solidFill>
          <a:ln w="12700">
            <a:solidFill>
              <a:srgbClr val="127C6F"/>
            </a:solidFill>
            <a:prstDash val="solid"/>
          </a:ln>
        </p:spPr>
      </p:sp>
      <p:pic>
        <p:nvPicPr>
          <p:cNvPr id="20" name="Image 3" descr="preencoded.png">    </p:cNvPr>
          <p:cNvPicPr>
            <a:picLocks noChangeAspect="1"/>
          </p:cNvPicPr>
          <p:nvPr/>
        </p:nvPicPr>
        <p:blipFill>
          <a:blip r:embed="rId4"/>
          <a:stretch>
            <a:fillRect/>
          </a:stretch>
        </p:blipFill>
        <p:spPr>
          <a:xfrm>
            <a:off x="8385048" y="1225296"/>
            <a:ext cx="164592" cy="164592"/>
          </a:xfrm>
          <a:prstGeom prst="rect">
            <a:avLst/>
          </a:prstGeom>
        </p:spPr>
      </p:pic>
      <p:sp>
        <p:nvSpPr>
          <p:cNvPr id="21" name="Text 14"/>
          <p:cNvSpPr txBox="1"/>
          <p:nvPr/>
        </p:nvSpPr>
        <p:spPr>
          <a:xfrm>
            <a:off x="8686800" y="1143000"/>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SWOT Analysis</a:t>
            </a:r>
            <a:endParaRPr lang="en-US" sz="1300" dirty="0"/>
          </a:p>
        </p:txBody>
      </p:sp>
      <p:sp>
        <p:nvSpPr>
          <p:cNvPr id="22" name="Shape 15"/>
          <p:cNvSpPr/>
          <p:nvPr/>
        </p:nvSpPr>
        <p:spPr>
          <a:xfrm>
            <a:off x="8321040" y="1554480"/>
            <a:ext cx="1719072" cy="1371600"/>
          </a:xfrm>
          <a:prstGeom prst="roundRect">
            <a:avLst>
              <a:gd name="adj" fmla="val 5333"/>
            </a:avLst>
          </a:prstGeom>
          <a:solidFill>
            <a:srgbClr val="DDF3E4"/>
          </a:solidFill>
          <a:ln w="12700">
            <a:solidFill>
              <a:srgbClr val="DDF3E4"/>
            </a:solidFill>
            <a:prstDash val="solid"/>
          </a:ln>
        </p:spPr>
      </p:sp>
      <p:sp>
        <p:nvSpPr>
          <p:cNvPr id="23" name="Text 16"/>
          <p:cNvSpPr txBox="1"/>
          <p:nvPr/>
        </p:nvSpPr>
        <p:spPr>
          <a:xfrm>
            <a:off x="8412480" y="160934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1E7A3C"/>
                </a:solidFill>
                <a:latin typeface="Calibri" pitchFamily="34" charset="0"/>
                <a:ea typeface="Calibri" pitchFamily="34" charset="-122"/>
                <a:cs typeface="Calibri" pitchFamily="34" charset="-120"/>
              </a:rPr>
              <a:t>Strengths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High recovery and low cost</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Huge employment base</a:t>
            </a:r>
            <a:endParaRPr lang="en-US" sz="1100" dirty="0"/>
          </a:p>
        </p:txBody>
      </p:sp>
      <p:sp>
        <p:nvSpPr>
          <p:cNvPr id="24" name="Shape 17"/>
          <p:cNvSpPr/>
          <p:nvPr/>
        </p:nvSpPr>
        <p:spPr>
          <a:xfrm>
            <a:off x="10085832" y="1554480"/>
            <a:ext cx="1719072" cy="1371600"/>
          </a:xfrm>
          <a:prstGeom prst="roundRect">
            <a:avLst>
              <a:gd name="adj" fmla="val 5333"/>
            </a:avLst>
          </a:prstGeom>
          <a:solidFill>
            <a:srgbClr val="FBE0DE"/>
          </a:solidFill>
          <a:ln w="12700">
            <a:solidFill>
              <a:srgbClr val="FBE0DE"/>
            </a:solidFill>
            <a:prstDash val="solid"/>
          </a:ln>
        </p:spPr>
      </p:sp>
      <p:sp>
        <p:nvSpPr>
          <p:cNvPr id="25" name="Text 18"/>
          <p:cNvSpPr txBox="1"/>
          <p:nvPr/>
        </p:nvSpPr>
        <p:spPr>
          <a:xfrm>
            <a:off x="10177272" y="160934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B23B2E"/>
                </a:solidFill>
                <a:latin typeface="Calibri" pitchFamily="34" charset="0"/>
                <a:ea typeface="Calibri" pitchFamily="34" charset="-122"/>
                <a:cs typeface="Calibri" pitchFamily="34" charset="-120"/>
              </a:rPr>
              <a:t>Weaknesses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Unsafe working conditions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No regulation or tracking</a:t>
            </a:r>
            <a:endParaRPr lang="en-US" sz="1100" dirty="0"/>
          </a:p>
        </p:txBody>
      </p:sp>
      <p:sp>
        <p:nvSpPr>
          <p:cNvPr id="26" name="Shape 19"/>
          <p:cNvSpPr/>
          <p:nvPr/>
        </p:nvSpPr>
        <p:spPr>
          <a:xfrm>
            <a:off x="8321040" y="3017520"/>
            <a:ext cx="1719072" cy="1371600"/>
          </a:xfrm>
          <a:prstGeom prst="roundRect">
            <a:avLst>
              <a:gd name="adj" fmla="val 5333"/>
            </a:avLst>
          </a:prstGeom>
          <a:solidFill>
            <a:srgbClr val="DCEBFA"/>
          </a:solidFill>
          <a:ln w="12700">
            <a:solidFill>
              <a:srgbClr val="DCEBFA"/>
            </a:solidFill>
            <a:prstDash val="solid"/>
          </a:ln>
        </p:spPr>
      </p:sp>
      <p:sp>
        <p:nvSpPr>
          <p:cNvPr id="27" name="Text 20"/>
          <p:cNvSpPr txBox="1"/>
          <p:nvPr/>
        </p:nvSpPr>
        <p:spPr>
          <a:xfrm>
            <a:off x="8412480" y="307238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1F5FA8"/>
                </a:solidFill>
                <a:latin typeface="Calibri" pitchFamily="34" charset="0"/>
                <a:ea typeface="Calibri" pitchFamily="34" charset="-122"/>
                <a:cs typeface="Calibri" pitchFamily="34" charset="-120"/>
              </a:rPr>
              <a:t>Opportunities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Formalise via PRO partnership</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Upskill workers for safe processing</a:t>
            </a:r>
            <a:endParaRPr lang="en-US" sz="1100" dirty="0"/>
          </a:p>
        </p:txBody>
      </p:sp>
      <p:sp>
        <p:nvSpPr>
          <p:cNvPr id="28" name="Shape 21"/>
          <p:cNvSpPr/>
          <p:nvPr/>
        </p:nvSpPr>
        <p:spPr>
          <a:xfrm>
            <a:off x="10085832" y="3017520"/>
            <a:ext cx="1719072" cy="1371600"/>
          </a:xfrm>
          <a:prstGeom prst="roundRect">
            <a:avLst>
              <a:gd name="adj" fmla="val 5333"/>
            </a:avLst>
          </a:prstGeom>
          <a:solidFill>
            <a:srgbClr val="FDEBD0"/>
          </a:solidFill>
          <a:ln w="12700">
            <a:solidFill>
              <a:srgbClr val="FDEBD0"/>
            </a:solidFill>
            <a:prstDash val="solid"/>
          </a:ln>
        </p:spPr>
      </p:sp>
      <p:sp>
        <p:nvSpPr>
          <p:cNvPr id="29" name="Text 22"/>
          <p:cNvSpPr txBox="1"/>
          <p:nvPr/>
        </p:nvSpPr>
        <p:spPr>
          <a:xfrm>
            <a:off x="10177272" y="307238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B96A0A"/>
                </a:solidFill>
                <a:latin typeface="Calibri" pitchFamily="34" charset="0"/>
                <a:ea typeface="Calibri" pitchFamily="34" charset="-122"/>
                <a:cs typeface="Calibri" pitchFamily="34" charset="-120"/>
              </a:rPr>
              <a:t>Threats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Redevelopment displaces units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Toxic exposure and pollution</a:t>
            </a:r>
            <a:endParaRPr lang="en-US" sz="1100" dirty="0"/>
          </a:p>
        </p:txBody>
      </p:sp>
      <p:sp>
        <p:nvSpPr>
          <p:cNvPr id="30" name="Shape 23"/>
          <p:cNvSpPr/>
          <p:nvPr/>
        </p:nvSpPr>
        <p:spPr>
          <a:xfrm>
            <a:off x="365760" y="4526280"/>
            <a:ext cx="5577840" cy="1874520"/>
          </a:xfrm>
          <a:prstGeom prst="roundRect">
            <a:avLst>
              <a:gd name="adj" fmla="val 3902"/>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31" name="Shape 24"/>
          <p:cNvSpPr/>
          <p:nvPr/>
        </p:nvSpPr>
        <p:spPr>
          <a:xfrm>
            <a:off x="502920" y="4617720"/>
            <a:ext cx="292608" cy="292608"/>
          </a:xfrm>
          <a:prstGeom prst="ellipse">
            <a:avLst/>
          </a:prstGeom>
          <a:solidFill>
            <a:srgbClr val="127C6F"/>
          </a:solidFill>
          <a:ln w="12700">
            <a:solidFill>
              <a:srgbClr val="127C6F"/>
            </a:solidFill>
            <a:prstDash val="solid"/>
          </a:ln>
        </p:spPr>
      </p:sp>
      <p:pic>
        <p:nvPicPr>
          <p:cNvPr id="32" name="Image 4" descr="preencoded.png">    </p:cNvPr>
          <p:cNvPicPr>
            <a:picLocks noChangeAspect="1"/>
          </p:cNvPicPr>
          <p:nvPr/>
        </p:nvPicPr>
        <p:blipFill>
          <a:blip r:embed="rId5"/>
          <a:stretch>
            <a:fillRect/>
          </a:stretch>
        </p:blipFill>
        <p:spPr>
          <a:xfrm>
            <a:off x="566928" y="4681728"/>
            <a:ext cx="164592" cy="164592"/>
          </a:xfrm>
          <a:prstGeom prst="rect">
            <a:avLst/>
          </a:prstGeom>
        </p:spPr>
      </p:pic>
      <p:sp>
        <p:nvSpPr>
          <p:cNvPr id="33" name="Text 25"/>
          <p:cNvSpPr txBox="1"/>
          <p:nvPr/>
        </p:nvSpPr>
        <p:spPr>
          <a:xfrm>
            <a:off x="868680" y="459943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Comparison with India</a:t>
            </a:r>
            <a:endParaRPr lang="en-US" sz="1300" dirty="0"/>
          </a:p>
        </p:txBody>
      </p:sp>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502920" y="4983480"/>
          <a:ext cx="5303520" cy="914400"/>
        </p:xfrm>
        <a:graphic>
          <a:graphicData uri="http://schemas.openxmlformats.org/drawingml/2006/table">
            <a:tbl>
              <a:tblPr/>
              <a:tblGrid>
                <a:gridCol w="1371600"/>
                <a:gridCol w="1965960"/>
                <a:gridCol w="1965960"/>
              </a:tblGrid>
              <a:tr h="237744">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Parameter</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Dharavi</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Formal system</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Cost</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Very low</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Higher</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Safety</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Poor</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Regulated</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Traceability</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None</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Certificate based</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Employment</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Very high</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Lower</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35" name="Shape 26"/>
          <p:cNvSpPr/>
          <p:nvPr/>
        </p:nvSpPr>
        <p:spPr>
          <a:xfrm>
            <a:off x="6080760" y="4526280"/>
            <a:ext cx="5742432" cy="1874520"/>
          </a:xfrm>
          <a:prstGeom prst="roundRect">
            <a:avLst>
              <a:gd name="adj" fmla="val 3902"/>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36" name="Shape 27"/>
          <p:cNvSpPr/>
          <p:nvPr/>
        </p:nvSpPr>
        <p:spPr>
          <a:xfrm>
            <a:off x="6217920" y="4617720"/>
            <a:ext cx="292608" cy="292608"/>
          </a:xfrm>
          <a:prstGeom prst="ellipse">
            <a:avLst/>
          </a:prstGeom>
          <a:solidFill>
            <a:srgbClr val="127C6F"/>
          </a:solidFill>
          <a:ln w="12700">
            <a:solidFill>
              <a:srgbClr val="127C6F"/>
            </a:solidFill>
            <a:prstDash val="solid"/>
          </a:ln>
        </p:spPr>
      </p:sp>
      <p:pic>
        <p:nvPicPr>
          <p:cNvPr id="37" name="Image 5" descr="preencoded.png">    </p:cNvPr>
          <p:cNvPicPr>
            <a:picLocks noChangeAspect="1"/>
          </p:cNvPicPr>
          <p:nvPr/>
        </p:nvPicPr>
        <p:blipFill>
          <a:blip r:embed="rId6"/>
          <a:stretch>
            <a:fillRect/>
          </a:stretch>
        </p:blipFill>
        <p:spPr>
          <a:xfrm>
            <a:off x="6281928" y="4681728"/>
            <a:ext cx="164592" cy="164592"/>
          </a:xfrm>
          <a:prstGeom prst="rect">
            <a:avLst/>
          </a:prstGeom>
        </p:spPr>
      </p:pic>
      <p:sp>
        <p:nvSpPr>
          <p:cNvPr id="38" name="Text 28"/>
          <p:cNvSpPr txBox="1"/>
          <p:nvPr/>
        </p:nvSpPr>
        <p:spPr>
          <a:xfrm>
            <a:off x="6583680" y="459943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Recommendations</a:t>
            </a:r>
            <a:endParaRPr lang="en-US" sz="1300" dirty="0"/>
          </a:p>
        </p:txBody>
      </p:sp>
      <p:sp>
        <p:nvSpPr>
          <p:cNvPr id="39" name="Text 29"/>
          <p:cNvSpPr txBox="1"/>
          <p:nvPr/>
        </p:nvSpPr>
        <p:spPr>
          <a:xfrm>
            <a:off x="6217920" y="4983480"/>
            <a:ext cx="5486400" cy="868680"/>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Register units under EPR-linked collection.</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Provide safer equipment and protective gear.</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Protect livelihoods during redevelopment.</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Offer training and finance for formalisation.</a:t>
            </a:r>
            <a:endParaRPr lang="en-US" sz="1000" dirty="0"/>
          </a:p>
        </p:txBody>
      </p:sp>
      <p:sp>
        <p:nvSpPr>
          <p:cNvPr id="40" name="Shape 30"/>
          <p:cNvSpPr/>
          <p:nvPr/>
        </p:nvSpPr>
        <p:spPr>
          <a:xfrm>
            <a:off x="6217920" y="5852160"/>
            <a:ext cx="5468112" cy="457200"/>
          </a:xfrm>
          <a:prstGeom prst="roundRect">
            <a:avLst>
              <a:gd name="adj" fmla="val 12000"/>
            </a:avLst>
          </a:prstGeom>
          <a:solidFill>
            <a:srgbClr val="0B3D3A"/>
          </a:solidFill>
          <a:ln w="12700">
            <a:solidFill>
              <a:srgbClr val="0B3D3A"/>
            </a:solidFill>
            <a:prstDash val="solid"/>
          </a:ln>
        </p:spPr>
      </p:sp>
      <p:sp>
        <p:nvSpPr>
          <p:cNvPr id="41" name="Text 31"/>
          <p:cNvSpPr txBox="1"/>
          <p:nvPr/>
        </p:nvSpPr>
        <p:spPr>
          <a:xfrm>
            <a:off x="6309360" y="5852160"/>
            <a:ext cx="5303520" cy="457200"/>
          </a:xfrm>
          <a:prstGeom prst="rect">
            <a:avLst/>
          </a:prstGeom>
          <a:noFill/>
          <a:ln/>
        </p:spPr>
        <p:txBody>
          <a:bodyPr wrap="square" lIns="0" tIns="0" rIns="0" bIns="0"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Dharavi shows both the potential and risk of informal recycling.</a:t>
            </a:r>
            <a:endParaRPr lang="en-US" sz="950" dirty="0"/>
          </a:p>
        </p:txBody>
      </p:sp>
      <p:sp>
        <p:nvSpPr>
          <p:cNvPr id="42" name="Text 32"/>
          <p:cNvSpPr txBox="1"/>
          <p:nvPr/>
        </p:nvSpPr>
        <p:spPr>
          <a:xfrm>
            <a:off x="365760" y="6473952"/>
            <a:ext cx="11430000" cy="292608"/>
          </a:xfrm>
          <a:prstGeom prst="rect">
            <a:avLst/>
          </a:prstGeom>
          <a:noFill/>
          <a:ln/>
        </p:spPr>
        <p:txBody>
          <a:bodyPr wrap="square" lIns="0" tIns="0" rIns="0" bIns="0" rtlCol="0" anchor="t"/>
          <a:lstStyle/>
          <a:p>
            <a:pPr indent="0" marL="0">
              <a:buNone/>
            </a:pPr>
            <a:r>
              <a:rPr lang="en-US" sz="750" dirty="0">
                <a:solidFill>
                  <a:srgbClr val="5B6B69"/>
                </a:solidFill>
                <a:latin typeface="Calibri" pitchFamily="34" charset="0"/>
                <a:ea typeface="Calibri" pitchFamily="34" charset="-122"/>
                <a:cs typeface="Calibri" pitchFamily="34" charset="-120"/>
              </a:rPr>
              <a:t>Sources: Reports and studies on Dharavi's recycling economy (e.g. academic and NGO studies)  |  Dharavi Redevelopment Project Authority – public information  |  CPCB – informal sector e-waste discussion</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1F7F5"/>
        </a:solidFill>
      </p:bgPr>
    </p:bg>
    <p:spTree>
      <p:nvGrpSpPr>
        <p:cNvPr id="1" name=""/>
        <p:cNvGrpSpPr/>
        <p:nvPr/>
      </p:nvGrpSpPr>
      <p:grpSpPr>
        <a:xfrm>
          <a:off x="0" y="0"/>
          <a:ext cx="0" cy="0"/>
          <a:chOff x="0" y="0"/>
          <a:chExt cx="0" cy="0"/>
        </a:xfrm>
      </p:grpSpPr>
      <p:sp>
        <p:nvSpPr>
          <p:cNvPr id="2" name="Shape 0"/>
          <p:cNvSpPr/>
          <p:nvPr/>
        </p:nvSpPr>
        <p:spPr>
          <a:xfrm>
            <a:off x="365760" y="274320"/>
            <a:ext cx="685800" cy="685800"/>
          </a:xfrm>
          <a:prstGeom prst="ellipse">
            <a:avLst/>
          </a:prstGeom>
          <a:solidFill>
            <a:srgbClr val="0B3D3A"/>
          </a:solidFill>
          <a:ln w="12700">
            <a:solidFill>
              <a:srgbClr val="0B3D3A"/>
            </a:solidFill>
            <a:prstDash val="solid"/>
          </a:ln>
        </p:spPr>
      </p:sp>
      <p:sp>
        <p:nvSpPr>
          <p:cNvPr id="3" name="Text 1"/>
          <p:cNvSpPr txBox="1"/>
          <p:nvPr/>
        </p:nvSpPr>
        <p:spPr>
          <a:xfrm>
            <a:off x="365760" y="274320"/>
            <a:ext cx="685800" cy="685800"/>
          </a:xfrm>
          <a:prstGeom prst="rect">
            <a:avLst/>
          </a:prstGeom>
          <a:noFill/>
          <a:ln/>
        </p:spPr>
        <p:txBody>
          <a:bodyPr wrap="square" lIns="0" tIns="0" rIns="0" bIns="0" rtlCol="0" anchor="ctr"/>
          <a:lstStyle/>
          <a:p>
            <a:pPr algn="ctr" indent="0" marL="0">
              <a:buNone/>
            </a:pPr>
            <a:r>
              <a:rPr lang="en-US" sz="2400" b="1" dirty="0">
                <a:solidFill>
                  <a:srgbClr val="3DDC97"/>
                </a:solidFill>
                <a:latin typeface="Cambria" pitchFamily="34" charset="0"/>
                <a:ea typeface="Cambria" pitchFamily="34" charset="-122"/>
                <a:cs typeface="Cambria" pitchFamily="34" charset="-120"/>
              </a:rPr>
              <a:t>10</a:t>
            </a:r>
            <a:endParaRPr lang="en-US" sz="2400" dirty="0"/>
          </a:p>
        </p:txBody>
      </p:sp>
      <p:sp>
        <p:nvSpPr>
          <p:cNvPr id="4" name="Text 2"/>
          <p:cNvSpPr txBox="1"/>
          <p:nvPr/>
        </p:nvSpPr>
        <p:spPr>
          <a:xfrm>
            <a:off x="1188720" y="228600"/>
            <a:ext cx="10607040" cy="777240"/>
          </a:xfrm>
          <a:prstGeom prst="rect">
            <a:avLst/>
          </a:prstGeom>
          <a:noFill/>
          <a:ln/>
        </p:spPr>
        <p:txBody>
          <a:bodyPr wrap="square" lIns="0" tIns="0" rIns="0" bIns="0" rtlCol="0" anchor="ctr"/>
          <a:lstStyle/>
          <a:p>
            <a:pPr indent="0" marL="0">
              <a:buNone/>
            </a:pPr>
            <a:r>
              <a:rPr lang="en-US" sz="2600" b="1" dirty="0">
                <a:solidFill>
                  <a:srgbClr val="0B3D3A"/>
                </a:solidFill>
                <a:latin typeface="Cambria" pitchFamily="34" charset="0"/>
                <a:ea typeface="Cambria" pitchFamily="34" charset="-122"/>
                <a:cs typeface="Cambria" pitchFamily="34" charset="-120"/>
              </a:rPr>
              <a:t>Dell's Circular Economy Strategy</a:t>
            </a:r>
            <a:endParaRPr lang="en-US" sz="2600" dirty="0"/>
          </a:p>
        </p:txBody>
      </p:sp>
      <p:sp>
        <p:nvSpPr>
          <p:cNvPr id="5" name="Shape 3"/>
          <p:cNvSpPr/>
          <p:nvPr/>
        </p:nvSpPr>
        <p:spPr>
          <a:xfrm>
            <a:off x="365760" y="1143000"/>
            <a:ext cx="4206240" cy="3246120"/>
          </a:xfrm>
          <a:prstGeom prst="roundRect">
            <a:avLst>
              <a:gd name="adj" fmla="val 2254"/>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6" name="Shape 4"/>
          <p:cNvSpPr/>
          <p:nvPr/>
        </p:nvSpPr>
        <p:spPr>
          <a:xfrm>
            <a:off x="502920" y="1261872"/>
            <a:ext cx="292608" cy="292608"/>
          </a:xfrm>
          <a:prstGeom prst="ellipse">
            <a:avLst/>
          </a:prstGeom>
          <a:solidFill>
            <a:srgbClr val="127C6F"/>
          </a:solidFill>
          <a:ln w="12700">
            <a:solidFill>
              <a:srgbClr val="127C6F"/>
            </a:solidFill>
            <a:prstDash val="solid"/>
          </a:ln>
        </p:spPr>
      </p:sp>
      <p:pic>
        <p:nvPicPr>
          <p:cNvPr id="7" name="Image 0" descr="preencoded.png">    </p:cNvPr>
          <p:cNvPicPr>
            <a:picLocks noChangeAspect="1"/>
          </p:cNvPicPr>
          <p:nvPr/>
        </p:nvPicPr>
        <p:blipFill>
          <a:blip r:embed="rId1"/>
          <a:stretch>
            <a:fillRect/>
          </a:stretch>
        </p:blipFill>
        <p:spPr>
          <a:xfrm>
            <a:off x="566928" y="1325880"/>
            <a:ext cx="164592" cy="164592"/>
          </a:xfrm>
          <a:prstGeom prst="rect">
            <a:avLst/>
          </a:prstGeom>
        </p:spPr>
      </p:pic>
      <p:sp>
        <p:nvSpPr>
          <p:cNvPr id="8" name="Text 5"/>
          <p:cNvSpPr txBox="1"/>
          <p:nvPr/>
        </p:nvSpPr>
        <p:spPr>
          <a:xfrm>
            <a:off x="868680" y="1243584"/>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Overview</a:t>
            </a:r>
            <a:endParaRPr lang="en-US" sz="1300" dirty="0"/>
          </a:p>
        </p:txBody>
      </p:sp>
      <p:sp>
        <p:nvSpPr>
          <p:cNvPr id="9" name="Text 6"/>
          <p:cNvSpPr txBox="1"/>
          <p:nvPr/>
        </p:nvSpPr>
        <p:spPr>
          <a:xfrm>
            <a:off x="502920" y="1627632"/>
            <a:ext cx="3931920" cy="1051560"/>
          </a:xfrm>
          <a:prstGeom prst="rect">
            <a:avLst/>
          </a:prstGeom>
          <a:noFill/>
          <a:ln/>
        </p:spPr>
        <p:txBody>
          <a:bodyPr wrap="square" lIns="0" tIns="0" rIns="0" bIns="0" rtlCol="0" anchor="t"/>
          <a:lstStyle/>
          <a:p>
            <a:pPr indent="0" marL="0">
              <a:buNone/>
            </a:pPr>
            <a:r>
              <a:rPr lang="en-US" sz="1050" dirty="0">
                <a:solidFill>
                  <a:srgbClr val="1E2B2A"/>
                </a:solidFill>
                <a:latin typeface="Calibri" pitchFamily="34" charset="0"/>
                <a:ea typeface="Calibri" pitchFamily="34" charset="-122"/>
                <a:cs typeface="Calibri" pitchFamily="34" charset="-120"/>
              </a:rPr>
              <a:t>Dell uses take-back, closed-loop materials and design changes to keep resources in use. It reuses recycled plastics, gold and carbon fibre in new products and has set 2030 targets for recycled content and packaging. The case shows how producers can deliver EPR beyond compliance.</a:t>
            </a:r>
            <a:endParaRPr lang="en-US" sz="1050" dirty="0"/>
          </a:p>
        </p:txBody>
      </p:sp>
      <p:sp>
        <p:nvSpPr>
          <p:cNvPr id="10" name="Shape 7"/>
          <p:cNvSpPr/>
          <p:nvPr/>
        </p:nvSpPr>
        <p:spPr>
          <a:xfrm>
            <a:off x="502920" y="2697480"/>
            <a:ext cx="292608" cy="292608"/>
          </a:xfrm>
          <a:prstGeom prst="ellipse">
            <a:avLst/>
          </a:prstGeom>
          <a:solidFill>
            <a:srgbClr val="127C6F"/>
          </a:solidFill>
          <a:ln w="12700">
            <a:solidFill>
              <a:srgbClr val="127C6F"/>
            </a:solidFill>
            <a:prstDash val="solid"/>
          </a:ln>
        </p:spPr>
      </p:sp>
      <p:pic>
        <p:nvPicPr>
          <p:cNvPr id="11" name="Image 1" descr="preencoded.png">    </p:cNvPr>
          <p:cNvPicPr>
            <a:picLocks noChangeAspect="1"/>
          </p:cNvPicPr>
          <p:nvPr/>
        </p:nvPicPr>
        <p:blipFill>
          <a:blip r:embed="rId2"/>
          <a:stretch>
            <a:fillRect/>
          </a:stretch>
        </p:blipFill>
        <p:spPr>
          <a:xfrm>
            <a:off x="566928" y="2761488"/>
            <a:ext cx="164592" cy="164592"/>
          </a:xfrm>
          <a:prstGeom prst="rect">
            <a:avLst/>
          </a:prstGeom>
        </p:spPr>
      </p:pic>
      <p:sp>
        <p:nvSpPr>
          <p:cNvPr id="12" name="Text 8"/>
          <p:cNvSpPr txBox="1"/>
          <p:nvPr/>
        </p:nvSpPr>
        <p:spPr>
          <a:xfrm>
            <a:off x="868680" y="267919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Strategy / Initiative</a:t>
            </a:r>
            <a:endParaRPr lang="en-US" sz="1300" dirty="0"/>
          </a:p>
        </p:txBody>
      </p:sp>
      <p:sp>
        <p:nvSpPr>
          <p:cNvPr id="13" name="Text 9"/>
          <p:cNvSpPr txBox="1"/>
          <p:nvPr/>
        </p:nvSpPr>
        <p:spPr>
          <a:xfrm>
            <a:off x="502920" y="3044952"/>
            <a:ext cx="3931920" cy="1280160"/>
          </a:xfrm>
          <a:prstGeom prst="rect">
            <a:avLst/>
          </a:prstGeom>
          <a:noFill/>
          <a:ln/>
        </p:spPr>
        <p:txBody>
          <a:bodyPr wrap="square" lIns="0" tIns="0" rIns="0" bIns="0" rtlCol="0" anchor="t"/>
          <a:lstStyle/>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Free take-back and mail-back programmes for used electronics.</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Closed-loop plastics from returned electronics used in new products (from about 2014).</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Recycled gold recovered from motherboards used in new devices (from about 2017).</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2030 goals: recycle or reuse one product for each sold; 100% recycled/renewable packaging; 50%+ recycled/renewable content in products.</a:t>
            </a:r>
            <a:endParaRPr lang="en-US" sz="950" dirty="0"/>
          </a:p>
        </p:txBody>
      </p:sp>
      <p:sp>
        <p:nvSpPr>
          <p:cNvPr id="14" name="Shape 10"/>
          <p:cNvSpPr/>
          <p:nvPr/>
        </p:nvSpPr>
        <p:spPr>
          <a:xfrm>
            <a:off x="4709160" y="1143000"/>
            <a:ext cx="3474720" cy="3246120"/>
          </a:xfrm>
          <a:prstGeom prst="roundRect">
            <a:avLst>
              <a:gd name="adj" fmla="val 2254"/>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15" name="Shape 11"/>
          <p:cNvSpPr/>
          <p:nvPr/>
        </p:nvSpPr>
        <p:spPr>
          <a:xfrm>
            <a:off x="4846320" y="1261872"/>
            <a:ext cx="292608" cy="292608"/>
          </a:xfrm>
          <a:prstGeom prst="ellipse">
            <a:avLst/>
          </a:prstGeom>
          <a:solidFill>
            <a:srgbClr val="127C6F"/>
          </a:solidFill>
          <a:ln w="12700">
            <a:solidFill>
              <a:srgbClr val="127C6F"/>
            </a:solidFill>
            <a:prstDash val="solid"/>
          </a:ln>
        </p:spPr>
      </p:sp>
      <p:pic>
        <p:nvPicPr>
          <p:cNvPr id="16" name="Image 2" descr="preencoded.png">    </p:cNvPr>
          <p:cNvPicPr>
            <a:picLocks noChangeAspect="1"/>
          </p:cNvPicPr>
          <p:nvPr/>
        </p:nvPicPr>
        <p:blipFill>
          <a:blip r:embed="rId3"/>
          <a:stretch>
            <a:fillRect/>
          </a:stretch>
        </p:blipFill>
        <p:spPr>
          <a:xfrm>
            <a:off x="4910328" y="1325880"/>
            <a:ext cx="164592" cy="164592"/>
          </a:xfrm>
          <a:prstGeom prst="rect">
            <a:avLst/>
          </a:prstGeom>
        </p:spPr>
      </p:pic>
      <p:sp>
        <p:nvSpPr>
          <p:cNvPr id="17" name="Text 12"/>
          <p:cNvSpPr txBox="1"/>
          <p:nvPr/>
        </p:nvSpPr>
        <p:spPr>
          <a:xfrm>
            <a:off x="5212080" y="1243584"/>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Impact &amp; Results</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846320" y="1645920"/>
          <a:ext cx="3200400" cy="914400"/>
        </p:xfrm>
        <a:graphic>
          <a:graphicData uri="http://schemas.openxmlformats.org/drawingml/2006/table">
            <a:tbl>
              <a:tblPr/>
              <a:tblGrid>
                <a:gridCol w="1188720"/>
                <a:gridCol w="2011680"/>
              </a:tblGrid>
              <a:tr h="256032">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Indicator</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Data</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127C6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Electronics recovered</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over 2 billion lb since 2007 (company report)</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Closed-loop plastics</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in use since about 2014</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Recycled gold</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first used about 2017</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2030 product content goal</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over 50% recycled/renewable</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2030 packaging goal</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100% recycled/renewable</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bl>
          </a:graphicData>
        </a:graphic>
      </p:graphicFrame>
      <p:sp>
        <p:nvSpPr>
          <p:cNvPr id="19" name="Shape 13"/>
          <p:cNvSpPr/>
          <p:nvPr/>
        </p:nvSpPr>
        <p:spPr>
          <a:xfrm>
            <a:off x="8321040" y="1161288"/>
            <a:ext cx="292608" cy="292608"/>
          </a:xfrm>
          <a:prstGeom prst="ellipse">
            <a:avLst/>
          </a:prstGeom>
          <a:solidFill>
            <a:srgbClr val="127C6F"/>
          </a:solidFill>
          <a:ln w="12700">
            <a:solidFill>
              <a:srgbClr val="127C6F"/>
            </a:solidFill>
            <a:prstDash val="solid"/>
          </a:ln>
        </p:spPr>
      </p:sp>
      <p:pic>
        <p:nvPicPr>
          <p:cNvPr id="20" name="Image 3" descr="preencoded.png">    </p:cNvPr>
          <p:cNvPicPr>
            <a:picLocks noChangeAspect="1"/>
          </p:cNvPicPr>
          <p:nvPr/>
        </p:nvPicPr>
        <p:blipFill>
          <a:blip r:embed="rId4"/>
          <a:stretch>
            <a:fillRect/>
          </a:stretch>
        </p:blipFill>
        <p:spPr>
          <a:xfrm>
            <a:off x="8385048" y="1225296"/>
            <a:ext cx="164592" cy="164592"/>
          </a:xfrm>
          <a:prstGeom prst="rect">
            <a:avLst/>
          </a:prstGeom>
        </p:spPr>
      </p:pic>
      <p:sp>
        <p:nvSpPr>
          <p:cNvPr id="21" name="Text 14"/>
          <p:cNvSpPr txBox="1"/>
          <p:nvPr/>
        </p:nvSpPr>
        <p:spPr>
          <a:xfrm>
            <a:off x="8686800" y="1143000"/>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SWOT Analysis</a:t>
            </a:r>
            <a:endParaRPr lang="en-US" sz="1300" dirty="0"/>
          </a:p>
        </p:txBody>
      </p:sp>
      <p:sp>
        <p:nvSpPr>
          <p:cNvPr id="22" name="Shape 15"/>
          <p:cNvSpPr/>
          <p:nvPr/>
        </p:nvSpPr>
        <p:spPr>
          <a:xfrm>
            <a:off x="8321040" y="1554480"/>
            <a:ext cx="1719072" cy="1371600"/>
          </a:xfrm>
          <a:prstGeom prst="roundRect">
            <a:avLst>
              <a:gd name="adj" fmla="val 5333"/>
            </a:avLst>
          </a:prstGeom>
          <a:solidFill>
            <a:srgbClr val="DDF3E4"/>
          </a:solidFill>
          <a:ln w="12700">
            <a:solidFill>
              <a:srgbClr val="DDF3E4"/>
            </a:solidFill>
            <a:prstDash val="solid"/>
          </a:ln>
        </p:spPr>
      </p:sp>
      <p:sp>
        <p:nvSpPr>
          <p:cNvPr id="23" name="Text 16"/>
          <p:cNvSpPr txBox="1"/>
          <p:nvPr/>
        </p:nvSpPr>
        <p:spPr>
          <a:xfrm>
            <a:off x="8412480" y="160934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1E7A3C"/>
                </a:solidFill>
                <a:latin typeface="Calibri" pitchFamily="34" charset="0"/>
                <a:ea typeface="Calibri" pitchFamily="34" charset="-122"/>
                <a:cs typeface="Calibri" pitchFamily="34" charset="-120"/>
              </a:rPr>
              <a:t>Strengths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Scale and take-back reach</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Closed-loop material innovation</a:t>
            </a:r>
            <a:endParaRPr lang="en-US" sz="1100" dirty="0"/>
          </a:p>
        </p:txBody>
      </p:sp>
      <p:sp>
        <p:nvSpPr>
          <p:cNvPr id="24" name="Shape 17"/>
          <p:cNvSpPr/>
          <p:nvPr/>
        </p:nvSpPr>
        <p:spPr>
          <a:xfrm>
            <a:off x="10085832" y="1554480"/>
            <a:ext cx="1719072" cy="1371600"/>
          </a:xfrm>
          <a:prstGeom prst="roundRect">
            <a:avLst>
              <a:gd name="adj" fmla="val 5333"/>
            </a:avLst>
          </a:prstGeom>
          <a:solidFill>
            <a:srgbClr val="FBE0DE"/>
          </a:solidFill>
          <a:ln w="12700">
            <a:solidFill>
              <a:srgbClr val="FBE0DE"/>
            </a:solidFill>
            <a:prstDash val="solid"/>
          </a:ln>
        </p:spPr>
      </p:sp>
      <p:sp>
        <p:nvSpPr>
          <p:cNvPr id="25" name="Text 18"/>
          <p:cNvSpPr txBox="1"/>
          <p:nvPr/>
        </p:nvSpPr>
        <p:spPr>
          <a:xfrm>
            <a:off x="10177272" y="160934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B23B2E"/>
                </a:solidFill>
                <a:latin typeface="Calibri" pitchFamily="34" charset="0"/>
                <a:ea typeface="Calibri" pitchFamily="34" charset="-122"/>
                <a:cs typeface="Calibri" pitchFamily="34" charset="-120"/>
              </a:rPr>
              <a:t>Weaknesses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Company-reported data</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Limited repairability of some models</a:t>
            </a:r>
            <a:endParaRPr lang="en-US" sz="1100" dirty="0"/>
          </a:p>
        </p:txBody>
      </p:sp>
      <p:sp>
        <p:nvSpPr>
          <p:cNvPr id="26" name="Shape 19"/>
          <p:cNvSpPr/>
          <p:nvPr/>
        </p:nvSpPr>
        <p:spPr>
          <a:xfrm>
            <a:off x="8321040" y="3017520"/>
            <a:ext cx="1719072" cy="1371600"/>
          </a:xfrm>
          <a:prstGeom prst="roundRect">
            <a:avLst>
              <a:gd name="adj" fmla="val 5333"/>
            </a:avLst>
          </a:prstGeom>
          <a:solidFill>
            <a:srgbClr val="DCEBFA"/>
          </a:solidFill>
          <a:ln w="12700">
            <a:solidFill>
              <a:srgbClr val="DCEBFA"/>
            </a:solidFill>
            <a:prstDash val="solid"/>
          </a:ln>
        </p:spPr>
      </p:sp>
      <p:sp>
        <p:nvSpPr>
          <p:cNvPr id="27" name="Text 20"/>
          <p:cNvSpPr txBox="1"/>
          <p:nvPr/>
        </p:nvSpPr>
        <p:spPr>
          <a:xfrm>
            <a:off x="8412480" y="307238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1F5FA8"/>
                </a:solidFill>
                <a:latin typeface="Calibri" pitchFamily="34" charset="0"/>
                <a:ea typeface="Calibri" pitchFamily="34" charset="-122"/>
                <a:cs typeface="Calibri" pitchFamily="34" charset="-120"/>
              </a:rPr>
              <a:t>Opportunities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Sell Product-as-a-Service and refurbished devices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Higher recycled content</a:t>
            </a:r>
            <a:endParaRPr lang="en-US" sz="1100" dirty="0"/>
          </a:p>
        </p:txBody>
      </p:sp>
      <p:sp>
        <p:nvSpPr>
          <p:cNvPr id="28" name="Shape 21"/>
          <p:cNvSpPr/>
          <p:nvPr/>
        </p:nvSpPr>
        <p:spPr>
          <a:xfrm>
            <a:off x="10085832" y="3017520"/>
            <a:ext cx="1719072" cy="1371600"/>
          </a:xfrm>
          <a:prstGeom prst="roundRect">
            <a:avLst>
              <a:gd name="adj" fmla="val 5333"/>
            </a:avLst>
          </a:prstGeom>
          <a:solidFill>
            <a:srgbClr val="FDEBD0"/>
          </a:solidFill>
          <a:ln w="12700">
            <a:solidFill>
              <a:srgbClr val="FDEBD0"/>
            </a:solidFill>
            <a:prstDash val="solid"/>
          </a:ln>
        </p:spPr>
      </p:sp>
      <p:sp>
        <p:nvSpPr>
          <p:cNvPr id="29" name="Text 22"/>
          <p:cNvSpPr txBox="1"/>
          <p:nvPr/>
        </p:nvSpPr>
        <p:spPr>
          <a:xfrm>
            <a:off x="10177272" y="307238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B96A0A"/>
                </a:solidFill>
                <a:latin typeface="Calibri" pitchFamily="34" charset="0"/>
                <a:ea typeface="Calibri" pitchFamily="34" charset="-122"/>
                <a:cs typeface="Calibri" pitchFamily="34" charset="-120"/>
              </a:rPr>
              <a:t>Threats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Recycled material cost and supply</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Regulatory and consumer scrutiny</a:t>
            </a:r>
            <a:endParaRPr lang="en-US" sz="1100" dirty="0"/>
          </a:p>
        </p:txBody>
      </p:sp>
      <p:sp>
        <p:nvSpPr>
          <p:cNvPr id="30" name="Shape 23"/>
          <p:cNvSpPr/>
          <p:nvPr/>
        </p:nvSpPr>
        <p:spPr>
          <a:xfrm>
            <a:off x="365760" y="4526280"/>
            <a:ext cx="5577840" cy="1874520"/>
          </a:xfrm>
          <a:prstGeom prst="roundRect">
            <a:avLst>
              <a:gd name="adj" fmla="val 3902"/>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31" name="Shape 24"/>
          <p:cNvSpPr/>
          <p:nvPr/>
        </p:nvSpPr>
        <p:spPr>
          <a:xfrm>
            <a:off x="502920" y="4617720"/>
            <a:ext cx="292608" cy="292608"/>
          </a:xfrm>
          <a:prstGeom prst="ellipse">
            <a:avLst/>
          </a:prstGeom>
          <a:solidFill>
            <a:srgbClr val="127C6F"/>
          </a:solidFill>
          <a:ln w="12700">
            <a:solidFill>
              <a:srgbClr val="127C6F"/>
            </a:solidFill>
            <a:prstDash val="solid"/>
          </a:ln>
        </p:spPr>
      </p:sp>
      <p:pic>
        <p:nvPicPr>
          <p:cNvPr id="32" name="Image 4" descr="preencoded.png">    </p:cNvPr>
          <p:cNvPicPr>
            <a:picLocks noChangeAspect="1"/>
          </p:cNvPicPr>
          <p:nvPr/>
        </p:nvPicPr>
        <p:blipFill>
          <a:blip r:embed="rId5"/>
          <a:stretch>
            <a:fillRect/>
          </a:stretch>
        </p:blipFill>
        <p:spPr>
          <a:xfrm>
            <a:off x="566928" y="4681728"/>
            <a:ext cx="164592" cy="164592"/>
          </a:xfrm>
          <a:prstGeom prst="rect">
            <a:avLst/>
          </a:prstGeom>
        </p:spPr>
      </p:pic>
      <p:sp>
        <p:nvSpPr>
          <p:cNvPr id="33" name="Text 25"/>
          <p:cNvSpPr txBox="1"/>
          <p:nvPr/>
        </p:nvSpPr>
        <p:spPr>
          <a:xfrm>
            <a:off x="868680" y="459943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Comparison with India</a:t>
            </a:r>
            <a:endParaRPr lang="en-US" sz="130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502920" y="4983480"/>
          <a:ext cx="5303520" cy="914400"/>
        </p:xfrm>
        <a:graphic>
          <a:graphicData uri="http://schemas.openxmlformats.org/drawingml/2006/table">
            <a:tbl>
              <a:tblPr/>
              <a:tblGrid>
                <a:gridCol w="1371600"/>
                <a:gridCol w="1965960"/>
                <a:gridCol w="1965960"/>
              </a:tblGrid>
              <a:tr h="237744">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Parameter</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Dell (global)</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Typical Indian producer</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Take-back</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Global free programmes</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Mainly EPR minimum</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Recycled content</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Targets and closed loop</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Little disclosure</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Design</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Circular design goals</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Limited</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Reporting</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Annual ESG report</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Portal returns</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35" name="Shape 26"/>
          <p:cNvSpPr/>
          <p:nvPr/>
        </p:nvSpPr>
        <p:spPr>
          <a:xfrm>
            <a:off x="6080760" y="4526280"/>
            <a:ext cx="5742432" cy="1874520"/>
          </a:xfrm>
          <a:prstGeom prst="roundRect">
            <a:avLst>
              <a:gd name="adj" fmla="val 3902"/>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36" name="Shape 27"/>
          <p:cNvSpPr/>
          <p:nvPr/>
        </p:nvSpPr>
        <p:spPr>
          <a:xfrm>
            <a:off x="6217920" y="4617720"/>
            <a:ext cx="292608" cy="292608"/>
          </a:xfrm>
          <a:prstGeom prst="ellipse">
            <a:avLst/>
          </a:prstGeom>
          <a:solidFill>
            <a:srgbClr val="127C6F"/>
          </a:solidFill>
          <a:ln w="12700">
            <a:solidFill>
              <a:srgbClr val="127C6F"/>
            </a:solidFill>
            <a:prstDash val="solid"/>
          </a:ln>
        </p:spPr>
      </p:sp>
      <p:pic>
        <p:nvPicPr>
          <p:cNvPr id="37" name="Image 5" descr="preencoded.png">    </p:cNvPr>
          <p:cNvPicPr>
            <a:picLocks noChangeAspect="1"/>
          </p:cNvPicPr>
          <p:nvPr/>
        </p:nvPicPr>
        <p:blipFill>
          <a:blip r:embed="rId6"/>
          <a:stretch>
            <a:fillRect/>
          </a:stretch>
        </p:blipFill>
        <p:spPr>
          <a:xfrm>
            <a:off x="6281928" y="4681728"/>
            <a:ext cx="164592" cy="164592"/>
          </a:xfrm>
          <a:prstGeom prst="rect">
            <a:avLst/>
          </a:prstGeom>
        </p:spPr>
      </p:pic>
      <p:sp>
        <p:nvSpPr>
          <p:cNvPr id="38" name="Text 28"/>
          <p:cNvSpPr txBox="1"/>
          <p:nvPr/>
        </p:nvSpPr>
        <p:spPr>
          <a:xfrm>
            <a:off x="6583680" y="459943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Recommendations</a:t>
            </a:r>
            <a:endParaRPr lang="en-US" sz="1300" dirty="0"/>
          </a:p>
        </p:txBody>
      </p:sp>
      <p:sp>
        <p:nvSpPr>
          <p:cNvPr id="39" name="Text 29"/>
          <p:cNvSpPr txBox="1"/>
          <p:nvPr/>
        </p:nvSpPr>
        <p:spPr>
          <a:xfrm>
            <a:off x="6217920" y="4983480"/>
            <a:ext cx="5486400" cy="868680"/>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Require producers to disclose recycled content and take-back data.</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Encourage design for repair and upgrade.</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Incentivise refurbished-device markets.</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Partner producers with SWaCH-like collectors.</a:t>
            </a:r>
            <a:endParaRPr lang="en-US" sz="1000" dirty="0"/>
          </a:p>
        </p:txBody>
      </p:sp>
      <p:sp>
        <p:nvSpPr>
          <p:cNvPr id="40" name="Shape 30"/>
          <p:cNvSpPr/>
          <p:nvPr/>
        </p:nvSpPr>
        <p:spPr>
          <a:xfrm>
            <a:off x="6217920" y="5852160"/>
            <a:ext cx="5468112" cy="457200"/>
          </a:xfrm>
          <a:prstGeom prst="roundRect">
            <a:avLst>
              <a:gd name="adj" fmla="val 12000"/>
            </a:avLst>
          </a:prstGeom>
          <a:solidFill>
            <a:srgbClr val="0B3D3A"/>
          </a:solidFill>
          <a:ln w="12700">
            <a:solidFill>
              <a:srgbClr val="0B3D3A"/>
            </a:solidFill>
            <a:prstDash val="solid"/>
          </a:ln>
        </p:spPr>
      </p:sp>
      <p:sp>
        <p:nvSpPr>
          <p:cNvPr id="41" name="Text 31"/>
          <p:cNvSpPr txBox="1"/>
          <p:nvPr/>
        </p:nvSpPr>
        <p:spPr>
          <a:xfrm>
            <a:off x="6309360" y="5852160"/>
            <a:ext cx="5303520" cy="457200"/>
          </a:xfrm>
          <a:prstGeom prst="rect">
            <a:avLst/>
          </a:prstGeom>
          <a:noFill/>
          <a:ln/>
        </p:spPr>
        <p:txBody>
          <a:bodyPr wrap="square" lIns="0" tIns="0" rIns="0" bIns="0"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Dell demonstrates that circularity can be a business strategy.</a:t>
            </a:r>
            <a:endParaRPr lang="en-US" sz="950" dirty="0"/>
          </a:p>
        </p:txBody>
      </p:sp>
      <p:sp>
        <p:nvSpPr>
          <p:cNvPr id="42" name="Text 32"/>
          <p:cNvSpPr txBox="1"/>
          <p:nvPr/>
        </p:nvSpPr>
        <p:spPr>
          <a:xfrm>
            <a:off x="365760" y="6473952"/>
            <a:ext cx="11430000" cy="292608"/>
          </a:xfrm>
          <a:prstGeom prst="rect">
            <a:avLst/>
          </a:prstGeom>
          <a:noFill/>
          <a:ln/>
        </p:spPr>
        <p:txBody>
          <a:bodyPr wrap="square" lIns="0" tIns="0" rIns="0" bIns="0" rtlCol="0" anchor="t"/>
          <a:lstStyle/>
          <a:p>
            <a:pPr indent="0" marL="0">
              <a:buNone/>
            </a:pPr>
            <a:r>
              <a:rPr lang="en-US" sz="750" dirty="0">
                <a:solidFill>
                  <a:srgbClr val="5B6B69"/>
                </a:solidFill>
                <a:latin typeface="Calibri" pitchFamily="34" charset="0"/>
                <a:ea typeface="Calibri" pitchFamily="34" charset="-122"/>
                <a:cs typeface="Calibri" pitchFamily="34" charset="-120"/>
              </a:rPr>
              <a:t>Sources: Dell Technologies – Legacy of Good / ESG Report  |  Dell Reconnect with Goodwill – programme information  |  Ellen MacArthur Foundation – circular economy resources</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17A232B3FA31C48ADAF29702DE3C893" ma:contentTypeVersion="12" ma:contentTypeDescription="Create a new document." ma:contentTypeScope="" ma:versionID="9733aeacb51a31fd2347aff2540d3a50">
  <xsd:schema xmlns:xsd="http://www.w3.org/2001/XMLSchema" xmlns:xs="http://www.w3.org/2001/XMLSchema" xmlns:p="http://schemas.microsoft.com/office/2006/metadata/properties" xmlns:ns2="dd5b6b3d-3d39-4526-b8e4-79d21e1438f0" xmlns:ns3="44678d20-5b6e-4792-b133-ca784477d689" targetNamespace="http://schemas.microsoft.com/office/2006/metadata/properties" ma:root="true" ma:fieldsID="37926f2f1ae8b3f68e3dbd3dffff8aa9" ns2:_="" ns3:_="">
    <xsd:import namespace="dd5b6b3d-3d39-4526-b8e4-79d21e1438f0"/>
    <xsd:import namespace="44678d20-5b6e-4792-b133-ca784477d689"/>
    <xsd:element name="properties">
      <xsd:complexType>
        <xsd:sequence>
          <xsd:element name="documentManagement">
            <xsd:complexType>
              <xsd:all>
                <xsd:element ref="ns2:ReferenceId" minOccurs="0"/>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d5b6b3d-3d39-4526-b8e4-79d21e1438f0" elementFormDefault="qualified">
    <xsd:import namespace="http://schemas.microsoft.com/office/2006/documentManagement/types"/>
    <xsd:import namespace="http://schemas.microsoft.com/office/infopath/2007/PartnerControls"/>
    <xsd:element name="ReferenceId" ma:index="8" nillable="true" ma:displayName="ReferenceId" ma:indexed="true" ma:internalName="ReferenceId">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65c09e8c-4242-4efc-8aa0-958213fa9c5a"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44678d20-5b6e-4792-b133-ca784477d689"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ae8ad495-3829-482e-ad1b-cf0f2662c940}" ma:internalName="TaxCatchAll" ma:showField="CatchAllData" ma:web="44678d20-5b6e-4792-b133-ca784477d68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dd5b6b3d-3d39-4526-b8e4-79d21e1438f0">
      <Terms xmlns="http://schemas.microsoft.com/office/infopath/2007/PartnerControls"/>
    </lcf76f155ced4ddcb4097134ff3c332f>
    <TaxCatchAll xmlns="44678d20-5b6e-4792-b133-ca784477d689" xsi:nil="true"/>
    <ReferenceId xmlns="dd5b6b3d-3d39-4526-b8e4-79d21e1438f0" xsi:nil="true"/>
  </documentManagement>
</p:properties>
</file>

<file path=customXml/itemProps1.xml><?xml version="1.0" encoding="utf-8"?>
<ds:datastoreItem xmlns:ds="http://schemas.openxmlformats.org/officeDocument/2006/customXml" ds:itemID="{DA87D9B7-8D63-4AB9-8CC2-A8B14DC17045}"/>
</file>

<file path=customXml/itemProps2.xml><?xml version="1.0" encoding="utf-8"?>
<ds:datastoreItem xmlns:ds="http://schemas.openxmlformats.org/officeDocument/2006/customXml" ds:itemID="{EF5078D3-C964-49DD-B855-0C1DB2D53CA8}"/>
</file>

<file path=customXml/itemProps3.xml><?xml version="1.0" encoding="utf-8"?>
<ds:datastoreItem xmlns:ds="http://schemas.openxmlformats.org/officeDocument/2006/customXml" ds:itemID="{BBD6F19D-4178-444D-872A-DAA5F4DEB3BC}"/>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E-Waste Case Studies</dc:title>
  <dc:subject>PptxGenJS Presentation</dc:subject>
  <dc:creator>PptxGenJS</dc:creator>
  <cp:lastModifiedBy>PptxGenJS</cp:lastModifiedBy>
  <cp:revision>1</cp:revision>
  <dcterms:created xsi:type="dcterms:W3CDTF">2026-09-29T06:49:22Z</dcterms:created>
  <dcterms:modified xsi:type="dcterms:W3CDTF">2026-09-29T06:49:22Z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0x010100B17A232B3FA31C48ADAF29702DE3C893</vt:lpwstr>
  </property>
</Properties>
</file>